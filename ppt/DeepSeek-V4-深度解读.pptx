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7" Type="http://schemas.openxmlformats.org/officeDocument/2006/relationships/viewProps" Target="viewProps.xml"/><Relationship Id="rId76" Type="http://schemas.openxmlformats.org/officeDocument/2006/relationships/tableStyles" Target="tableStyles.xml"/><Relationship Id="rId75" Type="http://schemas.openxmlformats.org/officeDocument/2006/relationships/presProps" Target="presProps.xml"/><Relationship Id="rId74" Type="http://schemas.openxmlformats.org/officeDocument/2006/relationships/slide" Target="slides/slide73.xml"/><Relationship Id="rId73" Type="http://schemas.openxmlformats.org/officeDocument/2006/relationships/slide" Target="slides/slide72.xml"/><Relationship Id="rId72" Type="http://schemas.openxmlformats.org/officeDocument/2006/relationships/slide" Target="slides/slide71.xml"/><Relationship Id="rId71" Type="http://schemas.openxmlformats.org/officeDocument/2006/relationships/slide" Target="slides/slide70.xml"/><Relationship Id="rId70" Type="http://schemas.openxmlformats.org/officeDocument/2006/relationships/slide" Target="slides/slide69.xml"/><Relationship Id="rId7" Type="http://schemas.openxmlformats.org/officeDocument/2006/relationships/slide" Target="slides/slide6.xml"/><Relationship Id="rId69" Type="http://schemas.openxmlformats.org/officeDocument/2006/relationships/slide" Target="slides/slide68.xml"/><Relationship Id="rId68" Type="http://schemas.openxmlformats.org/officeDocument/2006/relationships/slide" Target="slides/slide67.xml"/><Relationship Id="rId67" Type="http://schemas.openxmlformats.org/officeDocument/2006/relationships/slide" Target="slides/slide66.xml"/><Relationship Id="rId66" Type="http://schemas.openxmlformats.org/officeDocument/2006/relationships/slide" Target="slides/slide65.xml"/><Relationship Id="rId65" Type="http://schemas.openxmlformats.org/officeDocument/2006/relationships/slide" Target="slides/slide64.xml"/><Relationship Id="rId64" Type="http://schemas.openxmlformats.org/officeDocument/2006/relationships/slide" Target="slides/slide63.xml"/><Relationship Id="rId63" Type="http://schemas.openxmlformats.org/officeDocument/2006/relationships/slide" Target="slides/slide62.xml"/><Relationship Id="rId62" Type="http://schemas.openxmlformats.org/officeDocument/2006/relationships/slide" Target="slides/slide61.xml"/><Relationship Id="rId61" Type="http://schemas.openxmlformats.org/officeDocument/2006/relationships/slide" Target="slides/slide60.xml"/><Relationship Id="rId60" Type="http://schemas.openxmlformats.org/officeDocument/2006/relationships/slide" Target="slides/slide59.xml"/><Relationship Id="rId6" Type="http://schemas.openxmlformats.org/officeDocument/2006/relationships/slide" Target="slides/slide5.xml"/><Relationship Id="rId59" Type="http://schemas.openxmlformats.org/officeDocument/2006/relationships/slide" Target="slides/slide58.xml"/><Relationship Id="rId58" Type="http://schemas.openxmlformats.org/officeDocument/2006/relationships/slide" Target="slides/slide57.xml"/><Relationship Id="rId57" Type="http://schemas.openxmlformats.org/officeDocument/2006/relationships/slide" Target="slides/slide56.xml"/><Relationship Id="rId56" Type="http://schemas.openxmlformats.org/officeDocument/2006/relationships/slide" Target="slides/slide55.xml"/><Relationship Id="rId55" Type="http://schemas.openxmlformats.org/officeDocument/2006/relationships/slide" Target="slides/slide54.xml"/><Relationship Id="rId54" Type="http://schemas.openxmlformats.org/officeDocument/2006/relationships/slide" Target="slides/slide53.xml"/><Relationship Id="rId53" Type="http://schemas.openxmlformats.org/officeDocument/2006/relationships/slide" Target="slides/slide52.xml"/><Relationship Id="rId52" Type="http://schemas.openxmlformats.org/officeDocument/2006/relationships/slide" Target="slides/slide51.xml"/><Relationship Id="rId51" Type="http://schemas.openxmlformats.org/officeDocument/2006/relationships/slide" Target="slides/slide50.xml"/><Relationship Id="rId50" Type="http://schemas.openxmlformats.org/officeDocument/2006/relationships/slide" Target="slides/slide49.xml"/><Relationship Id="rId5" Type="http://schemas.openxmlformats.org/officeDocument/2006/relationships/slide" Target="slides/slide4.xml"/><Relationship Id="rId49" Type="http://schemas.openxmlformats.org/officeDocument/2006/relationships/slide" Target="slides/slide48.xml"/><Relationship Id="rId48" Type="http://schemas.openxmlformats.org/officeDocument/2006/relationships/slide" Target="slides/slide47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png"/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png"/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jpeg"/><Relationship Id="rId8" Type="http://schemas.openxmlformats.org/officeDocument/2006/relationships/image" Target="../media/image37.jpeg"/><Relationship Id="rId7" Type="http://schemas.openxmlformats.org/officeDocument/2006/relationships/image" Target="../media/image36.jpe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5.png"/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0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5.png"/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5.png"/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jpeg"/><Relationship Id="rId8" Type="http://schemas.openxmlformats.org/officeDocument/2006/relationships/image" Target="../media/image55.png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7" Type="http://schemas.openxmlformats.org/officeDocument/2006/relationships/image" Target="../media/image61.png"/><Relationship Id="rId6" Type="http://schemas.openxmlformats.org/officeDocument/2006/relationships/image" Target="../media/image5.png"/><Relationship Id="rId5" Type="http://schemas.openxmlformats.org/officeDocument/2006/relationships/image" Target="../media/image60.jpe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5.png"/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71.png"/><Relationship Id="rId6" Type="http://schemas.openxmlformats.org/officeDocument/2006/relationships/image" Target="../media/image70.png"/><Relationship Id="rId5" Type="http://schemas.openxmlformats.org/officeDocument/2006/relationships/image" Target="../media/image5.png"/><Relationship Id="rId4" Type="http://schemas.openxmlformats.org/officeDocument/2006/relationships/image" Target="../media/image69.png"/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5.png"/><Relationship Id="rId4" Type="http://schemas.openxmlformats.org/officeDocument/2006/relationships/image" Target="../media/image76.png"/><Relationship Id="rId3" Type="http://schemas.openxmlformats.org/officeDocument/2006/relationships/image" Target="../media/image75.jpe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image" Target="../media/image83.png"/><Relationship Id="rId5" Type="http://schemas.openxmlformats.org/officeDocument/2006/relationships/image" Target="../media/image5.png"/><Relationship Id="rId4" Type="http://schemas.openxmlformats.org/officeDocument/2006/relationships/image" Target="../media/image82.png"/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89.png"/><Relationship Id="rId7" Type="http://schemas.openxmlformats.org/officeDocument/2006/relationships/image" Target="../media/image88.png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jpeg"/><Relationship Id="rId11" Type="http://schemas.openxmlformats.org/officeDocument/2006/relationships/image" Target="../media/image92.png"/><Relationship Id="rId10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png"/><Relationship Id="rId8" Type="http://schemas.openxmlformats.org/officeDocument/2006/relationships/image" Target="../media/image98.png"/><Relationship Id="rId7" Type="http://schemas.openxmlformats.org/officeDocument/2006/relationships/image" Target="../media/image97.png"/><Relationship Id="rId6" Type="http://schemas.openxmlformats.org/officeDocument/2006/relationships/image" Target="../media/image96.png"/><Relationship Id="rId5" Type="http://schemas.openxmlformats.org/officeDocument/2006/relationships/image" Target="../media/image5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4.png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5.png"/><Relationship Id="rId3" Type="http://schemas.openxmlformats.org/officeDocument/2006/relationships/image" Target="../media/image101.pn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jpeg"/><Relationship Id="rId7" Type="http://schemas.openxmlformats.org/officeDocument/2006/relationships/image" Target="../media/image109.jpeg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5.png"/><Relationship Id="rId3" Type="http://schemas.openxmlformats.org/officeDocument/2006/relationships/image" Target="../media/image106.pn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7" Type="http://schemas.openxmlformats.org/officeDocument/2006/relationships/image" Target="../media/image5.png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jpeg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5.png"/><Relationship Id="rId3" Type="http://schemas.openxmlformats.org/officeDocument/2006/relationships/image" Target="../media/image118.jpe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image" Target="../media/image125.png"/><Relationship Id="rId5" Type="http://schemas.openxmlformats.org/officeDocument/2006/relationships/image" Target="../media/image5.png"/><Relationship Id="rId4" Type="http://schemas.openxmlformats.org/officeDocument/2006/relationships/image" Target="../media/image124.png"/><Relationship Id="rId3" Type="http://schemas.openxmlformats.org/officeDocument/2006/relationships/image" Target="../media/image123.jpe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2.png"/><Relationship Id="rId8" Type="http://schemas.openxmlformats.org/officeDocument/2006/relationships/image" Target="../media/image5.png"/><Relationship Id="rId7" Type="http://schemas.openxmlformats.org/officeDocument/2006/relationships/image" Target="../media/image131.png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Relationship Id="rId3" Type="http://schemas.openxmlformats.org/officeDocument/2006/relationships/image" Target="../media/image127.jpeg"/><Relationship Id="rId2" Type="http://schemas.openxmlformats.org/officeDocument/2006/relationships/image" Target="../media/image126.png"/><Relationship Id="rId11" Type="http://schemas.openxmlformats.org/officeDocument/2006/relationships/image" Target="../media/image134.png"/><Relationship Id="rId10" Type="http://schemas.openxmlformats.org/officeDocument/2006/relationships/image" Target="../media/image13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7" Type="http://schemas.openxmlformats.org/officeDocument/2006/relationships/image" Target="../media/image139.png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5.png"/><Relationship Id="rId3" Type="http://schemas.openxmlformats.org/officeDocument/2006/relationships/image" Target="../media/image136.jpe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7" Type="http://schemas.openxmlformats.org/officeDocument/2006/relationships/image" Target="../media/image145.png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5.png"/><Relationship Id="rId3" Type="http://schemas.openxmlformats.org/officeDocument/2006/relationships/image" Target="../media/image142.jpe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51.png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5.png"/><Relationship Id="rId3" Type="http://schemas.openxmlformats.org/officeDocument/2006/relationships/image" Target="../media/image148.jpe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4.png"/><Relationship Id="rId4" Type="http://schemas.openxmlformats.org/officeDocument/2006/relationships/image" Target="../media/image153.png"/><Relationship Id="rId3" Type="http://schemas.openxmlformats.org/officeDocument/2006/relationships/image" Target="../media/image5.png"/><Relationship Id="rId2" Type="http://schemas.openxmlformats.org/officeDocument/2006/relationships/image" Target="../media/image15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1.png"/><Relationship Id="rId8" Type="http://schemas.openxmlformats.org/officeDocument/2006/relationships/image" Target="../media/image5.png"/><Relationship Id="rId7" Type="http://schemas.openxmlformats.org/officeDocument/2006/relationships/image" Target="../media/image160.png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jpeg"/><Relationship Id="rId3" Type="http://schemas.openxmlformats.org/officeDocument/2006/relationships/image" Target="../media/image156.jpeg"/><Relationship Id="rId2" Type="http://schemas.openxmlformats.org/officeDocument/2006/relationships/image" Target="../media/image155.png"/><Relationship Id="rId11" Type="http://schemas.openxmlformats.org/officeDocument/2006/relationships/image" Target="../media/image163.png"/><Relationship Id="rId10" Type="http://schemas.openxmlformats.org/officeDocument/2006/relationships/image" Target="../media/image16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png"/><Relationship Id="rId8" Type="http://schemas.openxmlformats.org/officeDocument/2006/relationships/image" Target="../media/image168.png"/><Relationship Id="rId7" Type="http://schemas.openxmlformats.org/officeDocument/2006/relationships/image" Target="../media/image167.png"/><Relationship Id="rId6" Type="http://schemas.openxmlformats.org/officeDocument/2006/relationships/image" Target="../media/image166.png"/><Relationship Id="rId5" Type="http://schemas.openxmlformats.org/officeDocument/2006/relationships/image" Target="../media/image5.png"/><Relationship Id="rId4" Type="http://schemas.openxmlformats.org/officeDocument/2006/relationships/image" Target="../media/image165.jpeg"/><Relationship Id="rId3" Type="http://schemas.openxmlformats.org/officeDocument/2006/relationships/hyperlink" Target="T.ieee_fsqrt" TargetMode="External"/><Relationship Id="rId2" Type="http://schemas.openxmlformats.org/officeDocument/2006/relationships/image" Target="../media/image164.jpeg"/><Relationship Id="rId10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png"/><Relationship Id="rId8" Type="http://schemas.openxmlformats.org/officeDocument/2006/relationships/image" Target="../media/image176.png"/><Relationship Id="rId7" Type="http://schemas.openxmlformats.org/officeDocument/2006/relationships/image" Target="../media/image175.png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Relationship Id="rId3" Type="http://schemas.openxmlformats.org/officeDocument/2006/relationships/image" Target="../media/image5.png"/><Relationship Id="rId2" Type="http://schemas.openxmlformats.org/officeDocument/2006/relationships/image" Target="../media/image17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0.png"/><Relationship Id="rId4" Type="http://schemas.openxmlformats.org/officeDocument/2006/relationships/image" Target="../media/image179.png"/><Relationship Id="rId3" Type="http://schemas.openxmlformats.org/officeDocument/2006/relationships/image" Target="../media/image5.png"/><Relationship Id="rId2" Type="http://schemas.openxmlformats.org/officeDocument/2006/relationships/image" Target="../media/image178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7.png"/><Relationship Id="rId8" Type="http://schemas.openxmlformats.org/officeDocument/2006/relationships/image" Target="../media/image186.png"/><Relationship Id="rId7" Type="http://schemas.openxmlformats.org/officeDocument/2006/relationships/image" Target="../media/image185.png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5.png"/><Relationship Id="rId3" Type="http://schemas.openxmlformats.org/officeDocument/2006/relationships/image" Target="../media/image182.png"/><Relationship Id="rId2" Type="http://schemas.openxmlformats.org/officeDocument/2006/relationships/image" Target="../media/image181.jpeg"/><Relationship Id="rId11" Type="http://schemas.openxmlformats.org/officeDocument/2006/relationships/image" Target="../media/image189.png"/><Relationship Id="rId10" Type="http://schemas.openxmlformats.org/officeDocument/2006/relationships/image" Target="../media/image18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92.png"/><Relationship Id="rId4" Type="http://schemas.openxmlformats.org/officeDocument/2006/relationships/image" Target="../media/image191.png"/><Relationship Id="rId3" Type="http://schemas.openxmlformats.org/officeDocument/2006/relationships/image" Target="../media/image5.png"/><Relationship Id="rId2" Type="http://schemas.openxmlformats.org/officeDocument/2006/relationships/image" Target="../media/image190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7" Type="http://schemas.openxmlformats.org/officeDocument/2006/relationships/image" Target="../media/image197.png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94.png"/><Relationship Id="rId3" Type="http://schemas.openxmlformats.org/officeDocument/2006/relationships/image" Target="../media/image5.png"/><Relationship Id="rId2" Type="http://schemas.openxmlformats.org/officeDocument/2006/relationships/image" Target="../media/image193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3.png"/><Relationship Id="rId6" Type="http://schemas.openxmlformats.org/officeDocument/2006/relationships/image" Target="../media/image202.png"/><Relationship Id="rId5" Type="http://schemas.openxmlformats.org/officeDocument/2006/relationships/image" Target="../media/image5.png"/><Relationship Id="rId4" Type="http://schemas.openxmlformats.org/officeDocument/2006/relationships/image" Target="../media/image201.jpeg"/><Relationship Id="rId3" Type="http://schemas.openxmlformats.org/officeDocument/2006/relationships/image" Target="../media/image200.jpe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image" Target="../media/image206.png"/><Relationship Id="rId4" Type="http://schemas.openxmlformats.org/officeDocument/2006/relationships/image" Target="../media/image205.png"/><Relationship Id="rId3" Type="http://schemas.openxmlformats.org/officeDocument/2006/relationships/image" Target="../media/image5.png"/><Relationship Id="rId2" Type="http://schemas.openxmlformats.org/officeDocument/2006/relationships/image" Target="../media/image204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7" Type="http://schemas.openxmlformats.org/officeDocument/2006/relationships/image" Target="../media/image211.png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Relationship Id="rId3" Type="http://schemas.openxmlformats.org/officeDocument/2006/relationships/image" Target="../media/image5.png"/><Relationship Id="rId2" Type="http://schemas.openxmlformats.org/officeDocument/2006/relationships/image" Target="../media/image207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7" Type="http://schemas.openxmlformats.org/officeDocument/2006/relationships/image" Target="../media/image217.png"/><Relationship Id="rId6" Type="http://schemas.openxmlformats.org/officeDocument/2006/relationships/image" Target="../media/image216.png"/><Relationship Id="rId5" Type="http://schemas.openxmlformats.org/officeDocument/2006/relationships/image" Target="../media/image5.png"/><Relationship Id="rId4" Type="http://schemas.openxmlformats.org/officeDocument/2006/relationships/image" Target="../media/image215.png"/><Relationship Id="rId3" Type="http://schemas.openxmlformats.org/officeDocument/2006/relationships/image" Target="../media/image214.png"/><Relationship Id="rId2" Type="http://schemas.openxmlformats.org/officeDocument/2006/relationships/image" Target="../media/image213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3.png"/><Relationship Id="rId6" Type="http://schemas.openxmlformats.org/officeDocument/2006/relationships/image" Target="../media/image222.png"/><Relationship Id="rId5" Type="http://schemas.openxmlformats.org/officeDocument/2006/relationships/image" Target="../media/image221.png"/><Relationship Id="rId4" Type="http://schemas.openxmlformats.org/officeDocument/2006/relationships/image" Target="../media/image220.png"/><Relationship Id="rId3" Type="http://schemas.openxmlformats.org/officeDocument/2006/relationships/image" Target="../media/image5.png"/><Relationship Id="rId2" Type="http://schemas.openxmlformats.org/officeDocument/2006/relationships/image" Target="../media/image219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image" Target="../media/image226.png"/><Relationship Id="rId4" Type="http://schemas.openxmlformats.org/officeDocument/2006/relationships/image" Target="../media/image225.png"/><Relationship Id="rId3" Type="http://schemas.openxmlformats.org/officeDocument/2006/relationships/image" Target="../media/image5.png"/><Relationship Id="rId2" Type="http://schemas.openxmlformats.org/officeDocument/2006/relationships/image" Target="../media/image22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4" Type="http://schemas.openxmlformats.org/officeDocument/2006/relationships/image" Target="../media/image228.png"/><Relationship Id="rId3" Type="http://schemas.openxmlformats.org/officeDocument/2006/relationships/image" Target="../media/image5.png"/><Relationship Id="rId2" Type="http://schemas.openxmlformats.org/officeDocument/2006/relationships/image" Target="../media/image227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Relationship Id="rId3" Type="http://schemas.openxmlformats.org/officeDocument/2006/relationships/image" Target="../media/image5.png"/><Relationship Id="rId2" Type="http://schemas.openxmlformats.org/officeDocument/2006/relationships/image" Target="../media/image231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39.jpeg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png"/><Relationship Id="rId3" Type="http://schemas.openxmlformats.org/officeDocument/2006/relationships/image" Target="../media/image5.png"/><Relationship Id="rId2" Type="http://schemas.openxmlformats.org/officeDocument/2006/relationships/image" Target="../media/image235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241.png"/><Relationship Id="rId3" Type="http://schemas.openxmlformats.org/officeDocument/2006/relationships/image" Target="../media/image5.png"/><Relationship Id="rId2" Type="http://schemas.openxmlformats.org/officeDocument/2006/relationships/image" Target="../media/image240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image" Target="../media/image248.png"/><Relationship Id="rId6" Type="http://schemas.openxmlformats.org/officeDocument/2006/relationships/image" Target="../media/image247.png"/><Relationship Id="rId5" Type="http://schemas.openxmlformats.org/officeDocument/2006/relationships/image" Target="../media/image246.png"/><Relationship Id="rId4" Type="http://schemas.openxmlformats.org/officeDocument/2006/relationships/image" Target="../media/image5.png"/><Relationship Id="rId3" Type="http://schemas.openxmlformats.org/officeDocument/2006/relationships/image" Target="../media/image245.jpe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6.jpeg"/><Relationship Id="rId8" Type="http://schemas.openxmlformats.org/officeDocument/2006/relationships/image" Target="../media/image255.png"/><Relationship Id="rId7" Type="http://schemas.openxmlformats.org/officeDocument/2006/relationships/image" Target="../media/image254.png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Relationship Id="rId3" Type="http://schemas.openxmlformats.org/officeDocument/2006/relationships/image" Target="../media/image250.png"/><Relationship Id="rId2" Type="http://schemas.openxmlformats.org/officeDocument/2006/relationships/image" Target="../media/image249.png"/><Relationship Id="rId15" Type="http://schemas.openxmlformats.org/officeDocument/2006/relationships/image" Target="../media/image261.png"/><Relationship Id="rId14" Type="http://schemas.openxmlformats.org/officeDocument/2006/relationships/image" Target="../media/image260.png"/><Relationship Id="rId13" Type="http://schemas.openxmlformats.org/officeDocument/2006/relationships/image" Target="../media/image5.png"/><Relationship Id="rId12" Type="http://schemas.openxmlformats.org/officeDocument/2006/relationships/image" Target="../media/image259.png"/><Relationship Id="rId11" Type="http://schemas.openxmlformats.org/officeDocument/2006/relationships/image" Target="../media/image258.png"/><Relationship Id="rId10" Type="http://schemas.openxmlformats.org/officeDocument/2006/relationships/image" Target="../media/image25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8.jpeg"/><Relationship Id="rId8" Type="http://schemas.openxmlformats.org/officeDocument/2006/relationships/image" Target="../media/image267.jpeg"/><Relationship Id="rId7" Type="http://schemas.openxmlformats.org/officeDocument/2006/relationships/image" Target="../media/image266.jpeg"/><Relationship Id="rId6" Type="http://schemas.openxmlformats.org/officeDocument/2006/relationships/image" Target="../media/image265.png"/><Relationship Id="rId5" Type="http://schemas.openxmlformats.org/officeDocument/2006/relationships/image" Target="../media/image264.png"/><Relationship Id="rId4" Type="http://schemas.openxmlformats.org/officeDocument/2006/relationships/image" Target="../media/image263.png"/><Relationship Id="rId3" Type="http://schemas.openxmlformats.org/officeDocument/2006/relationships/image" Target="../media/image5.png"/><Relationship Id="rId2" Type="http://schemas.openxmlformats.org/officeDocument/2006/relationships/image" Target="../media/image262.jpeg"/><Relationship Id="rId10" Type="http://schemas.openxmlformats.org/officeDocument/2006/relationships/image" Target="../media/image269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71.png"/><Relationship Id="rId3" Type="http://schemas.openxmlformats.org/officeDocument/2006/relationships/image" Target="../media/image27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8.png"/><Relationship Id="rId8" Type="http://schemas.openxmlformats.org/officeDocument/2006/relationships/image" Target="../media/image277.png"/><Relationship Id="rId7" Type="http://schemas.openxmlformats.org/officeDocument/2006/relationships/image" Target="../media/image276.png"/><Relationship Id="rId6" Type="http://schemas.openxmlformats.org/officeDocument/2006/relationships/image" Target="../media/image5.png"/><Relationship Id="rId5" Type="http://schemas.openxmlformats.org/officeDocument/2006/relationships/image" Target="../media/image275.png"/><Relationship Id="rId4" Type="http://schemas.openxmlformats.org/officeDocument/2006/relationships/image" Target="../media/image274.png"/><Relationship Id="rId3" Type="http://schemas.openxmlformats.org/officeDocument/2006/relationships/image" Target="../media/image273.png"/><Relationship Id="rId2" Type="http://schemas.openxmlformats.org/officeDocument/2006/relationships/image" Target="../media/image272.jpeg"/><Relationship Id="rId10" Type="http://schemas.openxmlformats.org/officeDocument/2006/relationships/image" Target="../media/image279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84.png"/><Relationship Id="rId6" Type="http://schemas.openxmlformats.org/officeDocument/2006/relationships/image" Target="../media/image283.png"/><Relationship Id="rId5" Type="http://schemas.openxmlformats.org/officeDocument/2006/relationships/image" Target="../media/image282.png"/><Relationship Id="rId4" Type="http://schemas.openxmlformats.org/officeDocument/2006/relationships/image" Target="../media/image281.png"/><Relationship Id="rId3" Type="http://schemas.openxmlformats.org/officeDocument/2006/relationships/image" Target="../media/image5.png"/><Relationship Id="rId2" Type="http://schemas.openxmlformats.org/officeDocument/2006/relationships/image" Target="../media/image280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87.png"/><Relationship Id="rId4" Type="http://schemas.openxmlformats.org/officeDocument/2006/relationships/image" Target="../media/image286.png"/><Relationship Id="rId3" Type="http://schemas.openxmlformats.org/officeDocument/2006/relationships/image" Target="../media/image5.png"/><Relationship Id="rId2" Type="http://schemas.openxmlformats.org/officeDocument/2006/relationships/image" Target="../media/image28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4.jpeg"/><Relationship Id="rId8" Type="http://schemas.openxmlformats.org/officeDocument/2006/relationships/image" Target="../media/image293.png"/><Relationship Id="rId7" Type="http://schemas.openxmlformats.org/officeDocument/2006/relationships/image" Target="../media/image292.png"/><Relationship Id="rId6" Type="http://schemas.openxmlformats.org/officeDocument/2006/relationships/image" Target="../media/image5.png"/><Relationship Id="rId5" Type="http://schemas.openxmlformats.org/officeDocument/2006/relationships/image" Target="../media/image291.png"/><Relationship Id="rId4" Type="http://schemas.openxmlformats.org/officeDocument/2006/relationships/image" Target="../media/image290.png"/><Relationship Id="rId3" Type="http://schemas.openxmlformats.org/officeDocument/2006/relationships/image" Target="../media/image289.png"/><Relationship Id="rId2" Type="http://schemas.openxmlformats.org/officeDocument/2006/relationships/image" Target="../media/image288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2.png"/><Relationship Id="rId8" Type="http://schemas.openxmlformats.org/officeDocument/2006/relationships/image" Target="../media/image301.png"/><Relationship Id="rId7" Type="http://schemas.openxmlformats.org/officeDocument/2006/relationships/image" Target="../media/image300.jpeg"/><Relationship Id="rId6" Type="http://schemas.openxmlformats.org/officeDocument/2006/relationships/image" Target="../media/image299.png"/><Relationship Id="rId5" Type="http://schemas.openxmlformats.org/officeDocument/2006/relationships/image" Target="../media/image298.png"/><Relationship Id="rId4" Type="http://schemas.openxmlformats.org/officeDocument/2006/relationships/image" Target="../media/image297.png"/><Relationship Id="rId3" Type="http://schemas.openxmlformats.org/officeDocument/2006/relationships/image" Target="../media/image296.png"/><Relationship Id="rId2" Type="http://schemas.openxmlformats.org/officeDocument/2006/relationships/image" Target="../media/image295.png"/><Relationship Id="rId12" Type="http://schemas.openxmlformats.org/officeDocument/2006/relationships/image" Target="../media/image304.png"/><Relationship Id="rId11" Type="http://schemas.openxmlformats.org/officeDocument/2006/relationships/image" Target="../media/image303.png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1.png"/><Relationship Id="rId8" Type="http://schemas.openxmlformats.org/officeDocument/2006/relationships/image" Target="../media/image310.png"/><Relationship Id="rId7" Type="http://schemas.openxmlformats.org/officeDocument/2006/relationships/image" Target="../media/image5.png"/><Relationship Id="rId6" Type="http://schemas.openxmlformats.org/officeDocument/2006/relationships/image" Target="../media/image309.png"/><Relationship Id="rId5" Type="http://schemas.openxmlformats.org/officeDocument/2006/relationships/image" Target="../media/image308.jpeg"/><Relationship Id="rId4" Type="http://schemas.openxmlformats.org/officeDocument/2006/relationships/image" Target="../media/image307.jpeg"/><Relationship Id="rId3" Type="http://schemas.openxmlformats.org/officeDocument/2006/relationships/image" Target="../media/image306.jpeg"/><Relationship Id="rId2" Type="http://schemas.openxmlformats.org/officeDocument/2006/relationships/image" Target="../media/image305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8.png"/><Relationship Id="rId8" Type="http://schemas.openxmlformats.org/officeDocument/2006/relationships/image" Target="../media/image317.png"/><Relationship Id="rId7" Type="http://schemas.openxmlformats.org/officeDocument/2006/relationships/image" Target="../media/image316.png"/><Relationship Id="rId6" Type="http://schemas.openxmlformats.org/officeDocument/2006/relationships/image" Target="../media/image315.png"/><Relationship Id="rId5" Type="http://schemas.openxmlformats.org/officeDocument/2006/relationships/image" Target="../media/image314.png"/><Relationship Id="rId4" Type="http://schemas.openxmlformats.org/officeDocument/2006/relationships/image" Target="../media/image5.png"/><Relationship Id="rId3" Type="http://schemas.openxmlformats.org/officeDocument/2006/relationships/image" Target="../media/image313.png"/><Relationship Id="rId2" Type="http://schemas.openxmlformats.org/officeDocument/2006/relationships/image" Target="../media/image312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image" Target="../media/image322.png"/><Relationship Id="rId5" Type="http://schemas.openxmlformats.org/officeDocument/2006/relationships/image" Target="../media/image321.png"/><Relationship Id="rId4" Type="http://schemas.openxmlformats.org/officeDocument/2006/relationships/image" Target="../media/image320.png"/><Relationship Id="rId3" Type="http://schemas.openxmlformats.org/officeDocument/2006/relationships/image" Target="../media/image5.png"/><Relationship Id="rId2" Type="http://schemas.openxmlformats.org/officeDocument/2006/relationships/image" Target="../media/image319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7" Type="http://schemas.openxmlformats.org/officeDocument/2006/relationships/image" Target="../media/image327.png"/><Relationship Id="rId6" Type="http://schemas.openxmlformats.org/officeDocument/2006/relationships/image" Target="../media/image326.png"/><Relationship Id="rId5" Type="http://schemas.openxmlformats.org/officeDocument/2006/relationships/image" Target="../media/image325.png"/><Relationship Id="rId4" Type="http://schemas.openxmlformats.org/officeDocument/2006/relationships/image" Target="../media/image5.png"/><Relationship Id="rId3" Type="http://schemas.openxmlformats.org/officeDocument/2006/relationships/image" Target="../media/image324.jpeg"/><Relationship Id="rId2" Type="http://schemas.openxmlformats.org/officeDocument/2006/relationships/image" Target="../media/image32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31.png"/><Relationship Id="rId4" Type="http://schemas.openxmlformats.org/officeDocument/2006/relationships/image" Target="../media/image330.png"/><Relationship Id="rId3" Type="http://schemas.openxmlformats.org/officeDocument/2006/relationships/image" Target="../media/image5.png"/><Relationship Id="rId2" Type="http://schemas.openxmlformats.org/officeDocument/2006/relationships/image" Target="../media/image329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image" Target="../media/image335.png"/><Relationship Id="rId5" Type="http://schemas.openxmlformats.org/officeDocument/2006/relationships/image" Target="../media/image334.png"/><Relationship Id="rId4" Type="http://schemas.openxmlformats.org/officeDocument/2006/relationships/image" Target="../media/image333.png"/><Relationship Id="rId3" Type="http://schemas.openxmlformats.org/officeDocument/2006/relationships/image" Target="../media/image5.png"/><Relationship Id="rId2" Type="http://schemas.openxmlformats.org/officeDocument/2006/relationships/image" Target="../media/image332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7" Type="http://schemas.openxmlformats.org/officeDocument/2006/relationships/image" Target="../media/image340.png"/><Relationship Id="rId6" Type="http://schemas.openxmlformats.org/officeDocument/2006/relationships/image" Target="../media/image339.png"/><Relationship Id="rId5" Type="http://schemas.openxmlformats.org/officeDocument/2006/relationships/image" Target="../media/image338.png"/><Relationship Id="rId4" Type="http://schemas.openxmlformats.org/officeDocument/2006/relationships/image" Target="../media/image5.png"/><Relationship Id="rId3" Type="http://schemas.openxmlformats.org/officeDocument/2006/relationships/image" Target="../media/image337.png"/><Relationship Id="rId2" Type="http://schemas.openxmlformats.org/officeDocument/2006/relationships/image" Target="../media/image336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7" Type="http://schemas.openxmlformats.org/officeDocument/2006/relationships/image" Target="../media/image344.jpeg"/><Relationship Id="rId6" Type="http://schemas.openxmlformats.org/officeDocument/2006/relationships/image" Target="../media/image343.png"/><Relationship Id="rId5" Type="http://schemas.openxmlformats.org/officeDocument/2006/relationships/image" Target="../media/image342.png"/><Relationship Id="rId4" Type="http://schemas.openxmlformats.org/officeDocument/2006/relationships/image" Target="../media/image5.png"/><Relationship Id="rId3" Type="http://schemas.openxmlformats.org/officeDocument/2006/relationships/image" Target="../media/image341.jpeg"/><Relationship Id="rId2" Type="http://schemas.openxmlformats.org/officeDocument/2006/relationships/hyperlink" Target="chat.xxx.com" TargetMode="Externa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image" Target="../media/image347.png"/><Relationship Id="rId4" Type="http://schemas.openxmlformats.org/officeDocument/2006/relationships/image" Target="../media/image346.png"/><Relationship Id="rId3" Type="http://schemas.openxmlformats.org/officeDocument/2006/relationships/image" Target="../media/image5.png"/><Relationship Id="rId2" Type="http://schemas.openxmlformats.org/officeDocument/2006/relationships/image" Target="../media/image345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4.png"/><Relationship Id="rId8" Type="http://schemas.openxmlformats.org/officeDocument/2006/relationships/image" Target="../media/image353.png"/><Relationship Id="rId7" Type="http://schemas.openxmlformats.org/officeDocument/2006/relationships/image" Target="../media/image5.png"/><Relationship Id="rId6" Type="http://schemas.openxmlformats.org/officeDocument/2006/relationships/image" Target="../media/image352.png"/><Relationship Id="rId5" Type="http://schemas.openxmlformats.org/officeDocument/2006/relationships/image" Target="../media/image351.jpeg"/><Relationship Id="rId4" Type="http://schemas.openxmlformats.org/officeDocument/2006/relationships/image" Target="../media/image350.jpeg"/><Relationship Id="rId3" Type="http://schemas.openxmlformats.org/officeDocument/2006/relationships/image" Target="../media/image349.jpeg"/><Relationship Id="rId2" Type="http://schemas.openxmlformats.org/officeDocument/2006/relationships/image" Target="../media/image348.jpeg"/><Relationship Id="rId12" Type="http://schemas.openxmlformats.org/officeDocument/2006/relationships/image" Target="../media/image357.png"/><Relationship Id="rId11" Type="http://schemas.openxmlformats.org/officeDocument/2006/relationships/image" Target="../media/image356.png"/><Relationship Id="rId10" Type="http://schemas.openxmlformats.org/officeDocument/2006/relationships/image" Target="../media/image355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4.png"/><Relationship Id="rId8" Type="http://schemas.openxmlformats.org/officeDocument/2006/relationships/image" Target="../media/image363.png"/><Relationship Id="rId7" Type="http://schemas.openxmlformats.org/officeDocument/2006/relationships/image" Target="../media/image362.png"/><Relationship Id="rId6" Type="http://schemas.openxmlformats.org/officeDocument/2006/relationships/image" Target="../media/image361.png"/><Relationship Id="rId5" Type="http://schemas.openxmlformats.org/officeDocument/2006/relationships/image" Target="../media/image360.png"/><Relationship Id="rId4" Type="http://schemas.openxmlformats.org/officeDocument/2006/relationships/image" Target="../media/image5.png"/><Relationship Id="rId3" Type="http://schemas.openxmlformats.org/officeDocument/2006/relationships/image" Target="../media/image359.jpeg"/><Relationship Id="rId2" Type="http://schemas.openxmlformats.org/officeDocument/2006/relationships/image" Target="../media/image358.png"/><Relationship Id="rId11" Type="http://schemas.openxmlformats.org/officeDocument/2006/relationships/image" Target="../media/image366.png"/><Relationship Id="rId10" Type="http://schemas.openxmlformats.org/officeDocument/2006/relationships/image" Target="../media/image365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image" Target="../media/image370.png"/><Relationship Id="rId5" Type="http://schemas.openxmlformats.org/officeDocument/2006/relationships/image" Target="../media/image369.png"/><Relationship Id="rId4" Type="http://schemas.openxmlformats.org/officeDocument/2006/relationships/image" Target="../media/image368.png"/><Relationship Id="rId3" Type="http://schemas.openxmlformats.org/officeDocument/2006/relationships/image" Target="../media/image5.png"/><Relationship Id="rId2" Type="http://schemas.openxmlformats.org/officeDocument/2006/relationships/image" Target="../media/image367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image" Target="../media/image373.png"/><Relationship Id="rId4" Type="http://schemas.openxmlformats.org/officeDocument/2006/relationships/image" Target="../media/image372.png"/><Relationship Id="rId3" Type="http://schemas.openxmlformats.org/officeDocument/2006/relationships/image" Target="../media/image5.png"/><Relationship Id="rId2" Type="http://schemas.openxmlformats.org/officeDocument/2006/relationships/image" Target="../media/image371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77.jpeg"/><Relationship Id="rId4" Type="http://schemas.openxmlformats.org/officeDocument/2006/relationships/image" Target="../media/image376.png"/><Relationship Id="rId3" Type="http://schemas.openxmlformats.org/officeDocument/2006/relationships/image" Target="../media/image375.jpeg"/><Relationship Id="rId2" Type="http://schemas.openxmlformats.org/officeDocument/2006/relationships/image" Target="../media/image374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1.png"/><Relationship Id="rId5" Type="http://schemas.openxmlformats.org/officeDocument/2006/relationships/image" Target="../media/image380.png"/><Relationship Id="rId4" Type="http://schemas.openxmlformats.org/officeDocument/2006/relationships/image" Target="../media/image5.png"/><Relationship Id="rId3" Type="http://schemas.openxmlformats.org/officeDocument/2006/relationships/image" Target="../media/image379.png"/><Relationship Id="rId2" Type="http://schemas.openxmlformats.org/officeDocument/2006/relationships/image" Target="../media/image378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5.png"/><Relationship Id="rId5" Type="http://schemas.openxmlformats.org/officeDocument/2006/relationships/image" Target="../media/image384.png"/><Relationship Id="rId4" Type="http://schemas.openxmlformats.org/officeDocument/2006/relationships/image" Target="../media/image5.png"/><Relationship Id="rId3" Type="http://schemas.openxmlformats.org/officeDocument/2006/relationships/image" Target="../media/image383.png"/><Relationship Id="rId2" Type="http://schemas.openxmlformats.org/officeDocument/2006/relationships/image" Target="../media/image38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919209" y="2852243"/>
            <a:ext cx="6427470" cy="4588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91004" algn="l" rtl="0" eaLnBrk="0">
              <a:lnSpc>
                <a:spcPts val="1252"/>
              </a:lnSpc>
              <a:tabLst>
                <a:tab pos="1927860" algn="l"/>
              </a:tabLst>
            </a:pPr>
            <a:r>
              <a:rPr sz="10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0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1000" kern="0" spc="1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000" kern="0" spc="1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10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0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000" kern="0" spc="1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000" kern="0" spc="1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0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000" kern="0" spc="1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000" kern="0" spc="1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0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10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000" kern="0" spc="1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000" kern="0" spc="1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000" kern="0" spc="1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0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000" kern="0" spc="10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000" kern="0" spc="1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         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18794" algn="l" rtl="0" eaLnBrk="0">
              <a:lnSpc>
                <a:spcPct val="86000"/>
              </a:lnSpc>
              <a:spcBef>
                <a:spcPts val="695"/>
              </a:spcBef>
              <a:tabLst/>
            </a:pPr>
            <a:r>
              <a:rPr sz="2200" i="1" kern="0" spc="-4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DeepSeek-V4</a:t>
            </a:r>
            <a:r>
              <a:rPr sz="2200" i="1" kern="0" spc="34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300" i="1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预览版</a:t>
            </a:r>
            <a:r>
              <a:rPr sz="2300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200" i="1" kern="0" spc="-5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2200" i="1" kern="0" spc="27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300" i="1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论文与发布深度解读</a:t>
            </a:r>
            <a:endParaRPr sz="23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0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000" kern="0" spc="1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baseline="-19533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   T   PA</a:t>
            </a:r>
            <a:r>
              <a:rPr sz="10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 A</a:t>
            </a:r>
            <a:r>
              <a:rPr sz="10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0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 T</a:t>
            </a:r>
            <a:r>
              <a:rPr sz="10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0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 S       </a:t>
            </a:r>
            <a:r>
              <a:rPr sz="1000" kern="0" spc="-2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000" kern="0" spc="-2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</a:t>
            </a:r>
            <a:r>
              <a:rPr sz="10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M   C O</a:t>
            </a:r>
            <a:r>
              <a:rPr sz="10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 T</a:t>
            </a:r>
            <a:r>
              <a:rPr sz="10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 X T       </a:t>
            </a:r>
            <a:r>
              <a:rPr sz="1000" kern="0" spc="-3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000" kern="0" spc="-3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10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0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0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   W</a:t>
            </a:r>
            <a:r>
              <a:rPr sz="10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0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 G</a:t>
            </a:r>
            <a:r>
              <a:rPr sz="10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 T S       </a:t>
            </a:r>
            <a:r>
              <a:rPr sz="1000" kern="0" spc="-3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000" kern="0" spc="-3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10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 4   QAT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86733" y="2953791"/>
            <a:ext cx="571500" cy="952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38975" y="2953791"/>
            <a:ext cx="571500" cy="9525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4982296" y="3247720"/>
            <a:ext cx="8428355" cy="2813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23085" indent="-1810385" algn="l" rtl="0" eaLnBrk="0">
              <a:lnSpc>
                <a:spcPct val="94000"/>
              </a:lnSpc>
              <a:tabLst/>
            </a:pPr>
            <a:r>
              <a:rPr sz="9600" b="1" kern="0" spc="-3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迈入</a:t>
            </a:r>
            <a:r>
              <a:rPr sz="9800" b="1" i="1" kern="0" spc="-3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百万上下文</a:t>
            </a:r>
            <a:r>
              <a:rPr sz="9600" b="1" kern="0" spc="-2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普惠时代</a:t>
            </a:r>
            <a:endParaRPr sz="96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3641006" y="9501727"/>
            <a:ext cx="351917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49"/>
              </a:lnSpc>
              <a:tabLst/>
            </a:pPr>
            <a:r>
              <a:rPr sz="1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Produced</a:t>
            </a:r>
            <a:r>
              <a:rPr sz="1100" i="1" kern="0" spc="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by</a:t>
            </a:r>
            <a:r>
              <a:rPr sz="1100" i="1" kern="0" spc="17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100" i="1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花叔</a:t>
            </a:r>
            <a:r>
              <a:rPr sz="1100" kern="0" spc="-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i="1" kern="0" spc="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1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based</a:t>
            </a:r>
            <a:r>
              <a:rPr sz="1100" i="1" kern="0" spc="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on</a:t>
            </a:r>
            <a:r>
              <a:rPr sz="1100" i="1" kern="0" spc="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</a:t>
            </a:r>
            <a:r>
              <a:rPr sz="1100" i="1" kern="0" spc="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-V4</a:t>
            </a:r>
            <a:r>
              <a:rPr sz="1100" i="1" kern="0" spc="7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Tech</a:t>
            </a:r>
            <a:r>
              <a:rPr sz="1100" i="1" kern="0" spc="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Report</a:t>
            </a:r>
            <a:endParaRPr sz="1100" dirty="0">
              <a:latin typeface="Georgia"/>
              <a:ea typeface="Georgia"/>
              <a:cs typeface="Georgia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571500"/>
            <a:ext cx="1438275" cy="304800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14788561" y="640943"/>
            <a:ext cx="233489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1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 - V 4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138967" y="9547276"/>
            <a:ext cx="954405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52"/>
              </a:lnSpc>
              <a:tabLst/>
            </a:pPr>
            <a:r>
              <a:rPr sz="10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0 0</a:t>
            </a:r>
            <a:r>
              <a:rPr sz="10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0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COV E R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2523466" y="9547276"/>
            <a:ext cx="945514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2"/>
              </a:lnSpc>
              <a:tabLst/>
            </a:pPr>
            <a:r>
              <a:rPr sz="10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0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0 2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10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.0</a:t>
            </a:r>
            <a:r>
              <a:rPr sz="10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0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0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0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2270305" y="9547276"/>
            <a:ext cx="66675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2"/>
              </a:lnSpc>
              <a:tabLst/>
            </a:pPr>
            <a:r>
              <a:rPr sz="10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endParaRPr sz="1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1143000" y="2952750"/>
          <a:ext cx="16002000" cy="1980565"/>
        </p:xfrm>
        <a:graphic>
          <a:graphicData uri="http://schemas.openxmlformats.org/drawingml/2006/table">
            <a:tbl>
              <a:tblPr/>
              <a:tblGrid>
                <a:gridCol w="3996055"/>
                <a:gridCol w="4000500"/>
                <a:gridCol w="4000500"/>
                <a:gridCol w="4004945"/>
              </a:tblGrid>
              <a:tr h="5200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 O D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 O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AT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 U T N A</a:t>
                      </a:r>
                      <a:r>
                        <a:rPr sz="9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2 0 2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 AT I V E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C O N T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X T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 L A S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  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 中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价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735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7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5100" b="1" kern="0" spc="-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3206</a:t>
                      </a:r>
                      <a:endParaRPr sz="5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" algn="l" rtl="0" eaLnBrk="0">
                        <a:lnSpc>
                          <a:spcPts val="3506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5100" b="1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120</a:t>
                      </a:r>
                      <a:r>
                        <a:rPr sz="2100" b="1" kern="0" spc="-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/120</a:t>
                      </a:r>
                      <a:endParaRPr sz="2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7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" algn="l" rtl="0" eaLnBrk="0">
                        <a:lnSpc>
                          <a:spcPts val="3455"/>
                        </a:lnSpc>
                        <a:tabLst/>
                      </a:pPr>
                      <a:r>
                        <a:rPr sz="5100" b="1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2100" b="1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r>
                        <a:rPr sz="2100" b="1" kern="0" spc="-1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100" b="1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tokens</a:t>
                      </a:r>
                      <a:endParaRPr sz="2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830" algn="l" rtl="0" eaLnBrk="0">
                        <a:lnSpc>
                          <a:spcPts val="3506"/>
                        </a:lnSpc>
                        <a:tabLst/>
                      </a:pPr>
                      <a:r>
                        <a:rPr sz="5100" b="1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0.2</a:t>
                      </a:r>
                      <a:r>
                        <a:rPr sz="2100" b="1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2100" b="1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/M</a:t>
                      </a:r>
                      <a:endParaRPr sz="2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245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ts val="125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V4-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竞赛编程分数，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" algn="l" rtl="0" eaLnBrk="0">
                        <a:lnSpc>
                          <a:spcPts val="125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超过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GPT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-5.4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与全球人类选手第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23 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名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形怯化数学满分，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25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超过所有已知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ts val="125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Flash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原生支持，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ts val="125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cache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只剩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  <a:r>
                        <a:rPr sz="10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</a:t>
                      </a:r>
                      <a:r>
                        <a:rPr sz="10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2%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" algn="l" rtl="0" eaLnBrk="0">
                        <a:lnSpc>
                          <a:spcPts val="1252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V4-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Flash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输入价，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同性能开源中几乎最便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宜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1143000" y="5616626"/>
          <a:ext cx="7983854" cy="2745740"/>
        </p:xfrm>
        <a:graphic>
          <a:graphicData uri="http://schemas.openxmlformats.org/drawingml/2006/table">
            <a:tbl>
              <a:tblPr/>
              <a:tblGrid>
                <a:gridCol w="3176905"/>
                <a:gridCol w="3404870"/>
                <a:gridCol w="1402080"/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28520" algn="l" rtl="0" eaLnBrk="0">
                        <a:lnSpc>
                          <a:spcPts val="1252"/>
                        </a:lnSpc>
                        <a:tabLst/>
                      </a:pPr>
                      <a:r>
                        <a:rPr sz="10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V4-Pro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>
                        <a:lnSpc>
                          <a:spcPts val="1252"/>
                        </a:lnSpc>
                        <a:tabLst/>
                      </a:pPr>
                      <a:r>
                        <a:rPr sz="10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V4-Flash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总参数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6945" algn="l" rtl="0" eaLnBrk="0">
                        <a:lnSpc>
                          <a:spcPct val="7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1.6 T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284</a:t>
                      </a:r>
                      <a:r>
                        <a:rPr sz="1200" b="1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2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ts val="125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3647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49</a:t>
                      </a:r>
                      <a:r>
                        <a:rPr sz="12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13</a:t>
                      </a:r>
                      <a:r>
                        <a:rPr sz="1200" b="1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200" b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" algn="l" rtl="0" eaLnBrk="0">
                        <a:lnSpc>
                          <a:spcPts val="125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Transformer</a:t>
                      </a:r>
                      <a:r>
                        <a:rPr sz="1000" kern="0" spc="1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1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层数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8715" algn="l" rtl="0" eaLnBrk="0">
                        <a:lnSpc>
                          <a:spcPct val="7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61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89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43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MoE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路由专家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108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384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256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" algn="l" rtl="0" eaLnBrk="0">
                        <a:lnSpc>
                          <a:spcPts val="125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88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33 T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32 T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原生上下文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24100" algn="l" rtl="0" eaLnBrk="0">
                        <a:lnSpc>
                          <a:spcPct val="7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1200" b="1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200" b="1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12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200" b="1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box 26"/>
          <p:cNvSpPr/>
          <p:nvPr/>
        </p:nvSpPr>
        <p:spPr>
          <a:xfrm>
            <a:off x="1130300" y="1383893"/>
            <a:ext cx="9917430" cy="100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页 看 懂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208"/>
              </a:lnSpc>
              <a:spcBef>
                <a:spcPts val="1"/>
              </a:spcBef>
              <a:tabLst/>
            </a:pPr>
            <a:r>
              <a:rPr sz="42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两款模型</a:t>
            </a:r>
            <a:r>
              <a:rPr sz="4200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200" b="1" kern="0" spc="-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42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一套架构</a:t>
            </a:r>
            <a:r>
              <a:rPr sz="4200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200" b="1" kern="0" spc="-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4200" b="1" kern="0" spc="7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300" b="1" i="1" kern="0" spc="-1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四个值得记住</a:t>
            </a:r>
            <a:r>
              <a:rPr sz="4300" b="1" i="1" kern="0" spc="-1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的数字</a:t>
            </a:r>
            <a:endParaRPr sz="43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9886950" y="5895975"/>
          <a:ext cx="7257414" cy="895350"/>
        </p:xfrm>
        <a:graphic>
          <a:graphicData uri="http://schemas.openxmlformats.org/drawingml/2006/table">
            <a:tbl>
              <a:tblPr/>
              <a:tblGrid>
                <a:gridCol w="2708275"/>
                <a:gridCol w="2689225"/>
                <a:gridCol w="1296035"/>
                <a:gridCol w="563880"/>
              </a:tblGrid>
              <a:tr h="4527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" algn="l" rtl="0" eaLnBrk="0">
                        <a:lnSpc>
                          <a:spcPts val="125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deepseek-v4-pro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93545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11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9460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12</a:t>
                      </a:r>
                      <a:r>
                        <a:rPr sz="11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24</a:t>
                      </a:r>
                      <a:r>
                        <a:rPr sz="11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5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" algn="l" rtl="0" eaLnBrk="0">
                        <a:lnSpc>
                          <a:spcPts val="125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deepseek-v4-</a:t>
                      </a:r>
                      <a:r>
                        <a:rPr sz="10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flash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527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0.2</a:t>
                      </a:r>
                      <a:r>
                        <a:rPr sz="11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963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11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9000"/>
                        </a:lnSpc>
                        <a:tabLst/>
                      </a:pPr>
                      <a:r>
                        <a:rPr sz="11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</a:t>
                      </a:r>
                      <a:r>
                        <a:rPr sz="11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box 32"/>
          <p:cNvSpPr/>
          <p:nvPr/>
        </p:nvSpPr>
        <p:spPr>
          <a:xfrm>
            <a:off x="9879030" y="5145811"/>
            <a:ext cx="7279005" cy="626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 P I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价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格</a:t>
            </a:r>
            <a:r>
              <a:rPr sz="900" kern="0" spc="-1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 人 民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币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/   M   T O K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 S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输入（缓存命中）</a:t>
            </a:r>
            <a:r>
              <a:rPr sz="9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</a:t>
            </a:r>
            <a:r>
              <a:rPr sz="9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输入（未</a:t>
            </a:r>
            <a:r>
              <a:rPr sz="9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命中）             输出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9897623" y="6927444"/>
            <a:ext cx="697611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000" i="1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官方原话：受限于高端算力</a:t>
            </a:r>
            <a:r>
              <a:rPr sz="1000" kern="0" spc="-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0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目前</a:t>
            </a:r>
            <a:r>
              <a:rPr sz="1000" kern="0" spc="-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900" kern="0" spc="1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i="1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的服务吞吐十分有限，</a:t>
            </a:r>
            <a:r>
              <a:rPr sz="1000" kern="0" spc="-2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预计下半年昇腾</a:t>
            </a:r>
            <a:r>
              <a:rPr sz="10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950</a:t>
            </a:r>
            <a:r>
              <a:rPr sz="900" kern="0" spc="1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i="1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超节点批量上市后，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900" kern="0" spc="1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i="1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的价格会大幅下调。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15877394" y="517118"/>
            <a:ext cx="125920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0 1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 N E - P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AG E R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1881827" y="9651594"/>
            <a:ext cx="12153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·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AGER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16635971" y="9651594"/>
            <a:ext cx="50546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0 1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7 2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133843" y="5160556"/>
            <a:ext cx="554990" cy="141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900" kern="0" spc="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模型规格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4"/>
          <p:cNvSpPr/>
          <p:nvPr/>
        </p:nvSpPr>
        <p:spPr>
          <a:xfrm>
            <a:off x="1130300" y="1479143"/>
            <a:ext cx="14228445" cy="5962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定 位 反 题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ct val="86000"/>
              </a:lnSpc>
              <a:spcBef>
                <a:spcPts val="995"/>
              </a:spcBef>
              <a:tabLst/>
            </a:pPr>
            <a:r>
              <a:rPr sz="3300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这不是一个冲破天花板的</a:t>
            </a:r>
            <a:r>
              <a:rPr sz="3300" strike="sngStrike" kern="0" spc="-10" dirty="0">
                <a:solidFill>
                  <a:srgbClr val="66666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世界最佳模型</a:t>
            </a:r>
            <a:r>
              <a:rPr sz="33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的发布，</a:t>
            </a:r>
            <a:endParaRPr sz="33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765"/>
              </a:lnSpc>
              <a:spcBef>
                <a:spcPts val="1420"/>
              </a:spcBef>
              <a:tabLst/>
            </a:pPr>
            <a:r>
              <a:rPr sz="4600" b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而是</a:t>
            </a:r>
            <a:r>
              <a:rPr sz="4700" b="1" i="1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让普通人用上</a:t>
            </a:r>
            <a:r>
              <a:rPr sz="4700" kern="0" spc="-8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600" b="1" i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1M </a:t>
            </a:r>
            <a:r>
              <a:rPr sz="4700" b="1" i="1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超长上下文</a:t>
            </a:r>
            <a:r>
              <a:rPr sz="4600" b="1" i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Agent</a:t>
            </a:r>
            <a:r>
              <a:rPr sz="4600" b="1" i="1" kern="0" spc="-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700" b="1" i="1" kern="0" spc="-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模型</a:t>
            </a:r>
            <a:r>
              <a:rPr sz="4600" b="1" kern="0" spc="-8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的发布。</a:t>
            </a:r>
            <a:endParaRPr sz="4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ts val="1521"/>
              </a:lnSpc>
              <a:spcBef>
                <a:spcPts val="362"/>
              </a:spcBef>
              <a:tabLst/>
            </a:pP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说人话：</a:t>
            </a:r>
            <a:r>
              <a:rPr sz="12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前沿能力的赛道上</a:t>
            </a:r>
            <a:r>
              <a:rPr sz="12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200" kern="0" spc="-2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Claude</a:t>
            </a: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Opus</a:t>
            </a: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4.7 </a:t>
            </a: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和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GPT</a:t>
            </a: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-5.5 </a:t>
            </a: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已经跑在前面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；</a:t>
            </a:r>
            <a:r>
              <a:rPr sz="1200" kern="0" spc="-1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没想追上去</a:t>
            </a:r>
            <a:r>
              <a:rPr sz="12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2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它选择的是把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200" kern="0" spc="-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上下文</a:t>
            </a:r>
            <a:r>
              <a:rPr sz="1200" kern="0" spc="-1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2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工具链和开源权重</a:t>
            </a:r>
            <a:r>
              <a:rPr sz="12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做到人人用得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marL="17145" algn="l" rtl="0" eaLnBrk="0">
              <a:lnSpc>
                <a:spcPts val="2074"/>
              </a:lnSpc>
              <a:tabLst/>
            </a:pPr>
            <a:r>
              <a:rPr sz="12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起</a:t>
            </a:r>
            <a:r>
              <a:rPr sz="12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——</a:t>
            </a:r>
            <a:r>
              <a:rPr sz="12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普惠</a:t>
            </a:r>
            <a:r>
              <a:rPr sz="12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200" kern="0" spc="-2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比单点领先更</a:t>
            </a:r>
            <a:r>
              <a:rPr sz="12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稀缺。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 H</a:t>
            </a:r>
            <a:r>
              <a:rPr sz="9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   F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 O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 T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l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   2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graphicFrame>
        <p:nvGraphicFramePr>
          <p:cNvPr id="58" name="table 58"/>
          <p:cNvGraphicFramePr>
            <a:graphicFrameLocks noGrp="1"/>
          </p:cNvGraphicFramePr>
          <p:nvPr/>
        </p:nvGraphicFramePr>
        <p:xfrm>
          <a:off x="2260449" y="7968386"/>
          <a:ext cx="15927070" cy="557529"/>
        </p:xfrm>
        <a:graphic>
          <a:graphicData uri="http://schemas.openxmlformats.org/drawingml/2006/table">
            <a:tbl>
              <a:tblPr/>
              <a:tblGrid>
                <a:gridCol w="2722880"/>
                <a:gridCol w="3300730"/>
                <a:gridCol w="3990339"/>
                <a:gridCol w="3401059"/>
                <a:gridCol w="2512060"/>
              </a:tblGrid>
              <a:tr h="557530">
                <a:tc>
                  <a:txBody>
                    <a:bodyPr/>
                    <a:lstStyle/>
                    <a:p>
                      <a:pPr marL="43243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spcBef>
                          <a:spcPts val="692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Claude</a:t>
                      </a:r>
                      <a:r>
                        <a:rPr sz="13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3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Opus</a:t>
                      </a:r>
                      <a:r>
                        <a:rPr sz="13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4.6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530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8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论文对标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584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36715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6035" algn="l" rtl="0" eaLnBrk="0">
                        <a:lnSpc>
                          <a:spcPct val="78000"/>
                        </a:lnSpc>
                        <a:spcBef>
                          <a:spcPts val="758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GPT</a:t>
                      </a:r>
                      <a:r>
                        <a:rPr sz="1300" b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-5.4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3002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8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论文对标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584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61099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0 2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1</a:t>
                      </a:r>
                      <a:r>
                        <a:rPr sz="900" kern="0" spc="1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9210" algn="l" rtl="0" eaLnBrk="0">
                        <a:lnSpc>
                          <a:spcPct val="86000"/>
                        </a:lnSpc>
                        <a:spcBef>
                          <a:spcPts val="692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Claude</a:t>
                      </a:r>
                      <a:r>
                        <a:rPr sz="13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3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Opus</a:t>
                      </a:r>
                      <a:r>
                        <a:rPr sz="13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4.7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8147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已是新</a:t>
                      </a:r>
                      <a:r>
                        <a:rPr sz="800" kern="0" spc="1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SOTA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584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27825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0 2</a:t>
                      </a:r>
                      <a:r>
                        <a:rPr sz="900" kern="0" spc="-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4610" algn="l" rtl="0" eaLnBrk="0">
                        <a:lnSpc>
                          <a:spcPct val="78000"/>
                        </a:lnSpc>
                        <a:spcBef>
                          <a:spcPts val="758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GPT</a:t>
                      </a:r>
                      <a:r>
                        <a:rPr sz="1300" b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-5.5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874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800" kern="0" spc="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已是新</a:t>
                      </a:r>
                      <a:r>
                        <a:rPr sz="800" kern="0" spc="1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SOTA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584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53479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692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DeepSeek</a:t>
                      </a:r>
                      <a:r>
                        <a:rPr sz="1300" b="1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-V4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9910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今天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584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7658100"/>
            <a:ext cx="17145000" cy="22860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15733326" y="517118"/>
            <a:ext cx="140271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0 2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 O S IT I O N I N G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881827" y="9651594"/>
            <a:ext cx="133159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·  POSITIONING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16618707" y="9651594"/>
            <a:ext cx="52260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table 78"/>
          <p:cNvGraphicFramePr>
            <a:graphicFrameLocks noGrp="1"/>
          </p:cNvGraphicFramePr>
          <p:nvPr/>
        </p:nvGraphicFramePr>
        <p:xfrm>
          <a:off x="1143000" y="3048000"/>
          <a:ext cx="7762875" cy="2952750"/>
        </p:xfrm>
        <a:graphic>
          <a:graphicData uri="http://schemas.openxmlformats.org/drawingml/2006/table">
            <a:tbl>
              <a:tblPr/>
              <a:tblGrid>
                <a:gridCol w="7762875"/>
              </a:tblGrid>
              <a:tr h="294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160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10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THESIS  0</a:t>
                      </a:r>
                      <a:r>
                        <a:rPr sz="10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0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endParaRPr sz="1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401320" algn="l" rtl="0" eaLnBrk="0">
                        <a:lnSpc>
                          <a:spcPct val="85000"/>
                        </a:lnSpc>
                        <a:spcBef>
                          <a:spcPts val="1649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不是世界最佳，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401955" algn="l" rtl="0" eaLnBrk="0">
                        <a:lnSpc>
                          <a:spcPts val="2789"/>
                        </a:lnSpc>
                        <a:spcBef>
                          <a:spcPts val="330"/>
                        </a:spcBef>
                        <a:tabLst/>
                      </a:pPr>
                      <a:r>
                        <a:rPr sz="22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  <a:r>
                        <a:rPr sz="2200" b="1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1M Agent</a:t>
                      </a:r>
                      <a:r>
                        <a:rPr sz="2200" b="1" kern="0" spc="2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200" b="1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的普惠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401955" indent="-6985" algn="l" rtl="0" eaLnBrk="0">
                        <a:lnSpc>
                          <a:spcPct val="137000"/>
                        </a:lnSpc>
                        <a:spcBef>
                          <a:spcPts val="1135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不是冲破天花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板的旗舰发布，而是第一次把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百万</a:t>
                      </a:r>
                      <a:r>
                        <a:rPr sz="1200" kern="0" spc="-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上下文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 Agent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做成了普通人能用得起      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的默认配置。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33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展</a:t>
                      </a:r>
                      <a:r>
                        <a:rPr sz="9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见</a:t>
                      </a:r>
                      <a:r>
                        <a:rPr sz="9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 HA PT E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  0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9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table 80"/>
          <p:cNvGraphicFramePr>
            <a:graphicFrameLocks noGrp="1"/>
          </p:cNvGraphicFramePr>
          <p:nvPr/>
        </p:nvGraphicFramePr>
        <p:xfrm>
          <a:off x="9382125" y="3048000"/>
          <a:ext cx="7762875" cy="2952750"/>
        </p:xfrm>
        <a:graphic>
          <a:graphicData uri="http://schemas.openxmlformats.org/drawingml/2006/table">
            <a:tbl>
              <a:tblPr/>
              <a:tblGrid>
                <a:gridCol w="7762875"/>
              </a:tblGrid>
              <a:tr h="294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160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10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THESIS  0</a:t>
                      </a:r>
                      <a:r>
                        <a:rPr sz="10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0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</a:t>
                      </a:r>
                      <a:endParaRPr sz="1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402590" algn="l" rtl="0" eaLnBrk="0">
                        <a:lnSpc>
                          <a:spcPts val="2789"/>
                        </a:lnSpc>
                        <a:spcBef>
                          <a:spcPts val="1298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竞赛选手基因，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401955" algn="l" rtl="0" eaLnBrk="0">
                        <a:lnSpc>
                          <a:spcPts val="2925"/>
                        </a:lnSpc>
                        <a:tabLst/>
                      </a:pPr>
                      <a:r>
                        <a:rPr sz="22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擅长做题解题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96875" indent="6985" algn="l" rtl="0" eaLnBrk="0">
                        <a:lnSpc>
                          <a:spcPct val="137000"/>
                        </a:lnSpc>
                        <a:spcBef>
                          <a:spcPts val="113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团队多数是竞赛获奖选手</a:t>
                      </a:r>
                      <a:r>
                        <a:rPr sz="1200" kern="0" spc="-2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，模型也继承了这个画像。对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有明确答案、可验证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的数学与编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程任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务，它是当前开源的天花板。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33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展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</a:t>
                      </a:r>
                      <a:r>
                        <a:rPr sz="9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见</a:t>
                      </a:r>
                      <a:r>
                        <a:rPr sz="9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 HA PT E R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07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2" name="table 82"/>
          <p:cNvGraphicFramePr>
            <a:graphicFrameLocks noGrp="1"/>
          </p:cNvGraphicFramePr>
          <p:nvPr/>
        </p:nvGraphicFramePr>
        <p:xfrm>
          <a:off x="1143000" y="6381750"/>
          <a:ext cx="7762875" cy="2952750"/>
        </p:xfrm>
        <a:graphic>
          <a:graphicData uri="http://schemas.openxmlformats.org/drawingml/2006/table">
            <a:tbl>
              <a:tblPr/>
              <a:tblGrid>
                <a:gridCol w="7762875"/>
              </a:tblGrid>
              <a:tr h="294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160" algn="l" rtl="0" eaLnBrk="0">
                        <a:lnSpc>
                          <a:spcPct val="7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THESIS  0</a:t>
                      </a:r>
                      <a:r>
                        <a:rPr sz="1000" b="1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0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</a:t>
                      </a:r>
                      <a:endParaRPr sz="1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422910" algn="l" rtl="0" eaLnBrk="0">
                        <a:lnSpc>
                          <a:spcPts val="2789"/>
                        </a:lnSpc>
                        <a:spcBef>
                          <a:spcPts val="1231"/>
                        </a:spcBef>
                        <a:tabLst/>
                      </a:pPr>
                      <a:r>
                        <a:rPr sz="22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品味类任务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400050" algn="l" rtl="0" eaLnBrk="0">
                        <a:lnSpc>
                          <a:spcPts val="2789"/>
                        </a:lnSpc>
                        <a:spcBef>
                          <a:spcPts val="135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还差一截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95605" algn="l" rtl="0" eaLnBrk="0">
                        <a:lnSpc>
                          <a:spcPct val="137000"/>
                        </a:lnSpc>
                        <a:spcBef>
                          <a:spcPts val="1135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创意写作胜率不如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Claude Opus 4.5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，更不用说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4.6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4.7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。论文自己在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Limitations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里承认了这个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差距。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标准化题强，开放题弱。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33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展</a:t>
                      </a:r>
                      <a:r>
                        <a:rPr sz="9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见</a:t>
                      </a:r>
                      <a:r>
                        <a:rPr sz="9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 HA PT E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  0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8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4" name="table 84"/>
          <p:cNvGraphicFramePr>
            <a:graphicFrameLocks noGrp="1"/>
          </p:cNvGraphicFramePr>
          <p:nvPr/>
        </p:nvGraphicFramePr>
        <p:xfrm>
          <a:off x="9382125" y="6381750"/>
          <a:ext cx="7762875" cy="2952750"/>
        </p:xfrm>
        <a:graphic>
          <a:graphicData uri="http://schemas.openxmlformats.org/drawingml/2006/table">
            <a:tbl>
              <a:tblPr/>
              <a:tblGrid>
                <a:gridCol w="7762875"/>
              </a:tblGrid>
              <a:tr h="294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160" algn="l" rtl="0" eaLnBrk="0">
                        <a:lnSpc>
                          <a:spcPct val="7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THESIS  0</a:t>
                      </a:r>
                      <a:r>
                        <a:rPr sz="1000" b="1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0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</a:t>
                      </a:r>
                      <a:endParaRPr sz="1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96240" algn="l" rtl="0" eaLnBrk="0">
                        <a:lnSpc>
                          <a:spcPts val="2789"/>
                        </a:lnSpc>
                        <a:spcBef>
                          <a:spcPts val="1231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整体是</a:t>
                      </a:r>
                      <a:r>
                        <a:rPr sz="22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最诚实、</a:t>
                      </a:r>
                      <a:r>
                        <a:rPr sz="2200" kern="0" spc="-4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2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本分</a:t>
                      </a: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的模型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98780" indent="-1905" algn="l" rtl="0" eaLnBrk="0">
                        <a:lnSpc>
                          <a:spcPct val="137000"/>
                        </a:lnSpc>
                        <a:spcBef>
                          <a:spcPts val="113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论文里主动承认三个「有效但不理解原理J</a:t>
                      </a:r>
                      <a:r>
                        <a:rPr sz="1200" kern="0" spc="-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，价格页写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清「昇腾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950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上市后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降价J</a:t>
                      </a:r>
                      <a:r>
                        <a:rPr sz="1200" kern="0" spc="-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。不演、不藏、不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画大饼。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33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展 开</a:t>
                      </a:r>
                      <a:r>
                        <a:rPr sz="9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见</a:t>
                      </a:r>
                      <a:r>
                        <a:rPr sz="9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 HA PT</a:t>
                      </a:r>
                      <a:r>
                        <a:rPr sz="9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  1</a:t>
                      </a:r>
                      <a:r>
                        <a:rPr sz="900" kern="0" spc="1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6" name="textbox 86"/>
          <p:cNvSpPr/>
          <p:nvPr/>
        </p:nvSpPr>
        <p:spPr>
          <a:xfrm>
            <a:off x="1130300" y="1383893"/>
            <a:ext cx="8465820" cy="1019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贯 穿 整 份 解 读 的 四 个 观 点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208"/>
              </a:lnSpc>
              <a:spcBef>
                <a:spcPts val="5"/>
              </a:spcBef>
              <a:tabLst/>
            </a:pPr>
            <a:r>
              <a:rPr sz="42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4200" kern="0" spc="-5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200" b="1" kern="0" spc="-1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V4 </a:t>
            </a:r>
            <a:r>
              <a:rPr sz="42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这篇论文</a:t>
            </a:r>
            <a:r>
              <a:rPr sz="4200" kern="0" spc="-6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2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，请先记住</a:t>
            </a:r>
            <a:r>
              <a:rPr sz="4300" b="1" i="1" kern="0" spc="-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这四件事</a:t>
            </a:r>
            <a:endParaRPr sz="43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94" name="textbox 94"/>
          <p:cNvSpPr/>
          <p:nvPr/>
        </p:nvSpPr>
        <p:spPr>
          <a:xfrm>
            <a:off x="15684066" y="517118"/>
            <a:ext cx="145224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0 3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FO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1881827" y="9651594"/>
            <a:ext cx="137858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FOUR  THESES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02" name="textbox 102"/>
          <p:cNvSpPr/>
          <p:nvPr/>
        </p:nvSpPr>
        <p:spPr>
          <a:xfrm>
            <a:off x="16615730" y="9651594"/>
            <a:ext cx="52578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1143000" y="2994736"/>
          <a:ext cx="7619365" cy="3993514"/>
        </p:xfrm>
        <a:graphic>
          <a:graphicData uri="http://schemas.openxmlformats.org/drawingml/2006/table">
            <a:tbl>
              <a:tblPr/>
              <a:tblGrid>
                <a:gridCol w="522605"/>
                <a:gridCol w="4920615"/>
                <a:gridCol w="2176145"/>
              </a:tblGrid>
              <a:tr h="6007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0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6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00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7015" algn="l" rtl="0" eaLnBrk="0">
                        <a:lnSpc>
                          <a:spcPts val="2045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开场与四个观点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i="1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定位反题</a:t>
                      </a:r>
                      <a:r>
                        <a:rPr sz="10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核心数据</a:t>
                      </a:r>
                      <a:r>
                        <a:rPr sz="10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全篇目录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00</a:t>
                      </a:r>
                      <a:r>
                        <a:rPr sz="900" kern="0" spc="2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900" kern="0" spc="2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082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01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ts val="2045"/>
                        </a:lnSpc>
                        <a:tabLst/>
                      </a:pPr>
                      <a:r>
                        <a:rPr sz="16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两款模型</a:t>
                      </a:r>
                      <a:r>
                        <a:rPr sz="16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</a:t>
                      </a:r>
                      <a:r>
                        <a:rPr sz="1600" b="1" kern="0" spc="2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同一套架构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320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MoE</a:t>
                      </a:r>
                      <a:r>
                        <a:rPr sz="9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·</a:t>
                      </a:r>
                      <a:r>
                        <a:rPr sz="900" kern="0" spc="1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稀疏激活</a:t>
                      </a:r>
                      <a:r>
                        <a:rPr sz="10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32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900" kern="0" spc="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  <a:r>
                        <a:rPr sz="900" kern="0" spc="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稳定性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  <a:r>
                        <a:rPr sz="900" kern="0" spc="2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900" kern="0" spc="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082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02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6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8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600" b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架构①</a:t>
                      </a:r>
                      <a:r>
                        <a:rPr sz="1600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mHC</a:t>
                      </a:r>
                      <a:r>
                        <a:rPr sz="1600" b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b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残差升级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双随机矩阵</a:t>
                      </a:r>
                      <a:r>
                        <a:rPr sz="10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Sinkhorn</a:t>
                      </a:r>
                      <a:r>
                        <a:rPr sz="9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Knopp</a:t>
                      </a:r>
                      <a:r>
                        <a:rPr sz="900" kern="0" spc="1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迭代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073"/>
                        </a:lnSpc>
                        <a:tabLst/>
                      </a:pPr>
                      <a:r>
                        <a:rPr sz="7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1  1</a:t>
                      </a:r>
                      <a:r>
                        <a:rPr sz="7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7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7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7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700" kern="0" spc="1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224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03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80" algn="l" rtl="0" eaLnBrk="0">
                        <a:lnSpc>
                          <a:spcPts val="2045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架构②</a:t>
                      </a:r>
                      <a:r>
                        <a:rPr sz="16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混合注意力</a:t>
                      </a:r>
                      <a:r>
                        <a:rPr sz="16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CSA</a:t>
                      </a: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+ </a:t>
                      </a: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HCA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844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i="1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粗细配合</a:t>
                      </a:r>
                      <a:r>
                        <a:rPr sz="1000" kern="0" spc="-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1M</a:t>
                      </a:r>
                      <a:r>
                        <a:rPr sz="900" kern="0" spc="1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</a:t>
                      </a:r>
                      <a:r>
                        <a:rPr sz="1000" kern="0" spc="-1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</a:t>
                      </a:r>
                      <a:r>
                        <a:rPr sz="9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cache</a:t>
                      </a:r>
                      <a:r>
                        <a:rPr sz="900" kern="0" spc="1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只剩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900" kern="0" spc="1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r>
                        <a:rPr sz="900" kern="0" spc="1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  24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224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04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80" algn="l" rtl="0" eaLnBrk="0">
                        <a:lnSpc>
                          <a:spcPct val="8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架构③</a:t>
                      </a:r>
                      <a:r>
                        <a:rPr sz="1600" kern="0" spc="-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Muon</a:t>
                      </a:r>
                      <a:r>
                        <a:rPr sz="16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809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i="1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正交化更新</a:t>
                      </a:r>
                      <a:r>
                        <a:rPr sz="10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替代</a:t>
                      </a:r>
                      <a:r>
                        <a:rPr sz="1000" kern="0" spc="-1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9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damW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  <a:r>
                        <a:rPr sz="900" kern="0" spc="2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900" kern="0" spc="2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224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05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3840" algn="l" rtl="0" eaLnBrk="0">
                        <a:lnSpc>
                          <a:spcPts val="1995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基础设施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  <a:r>
                        <a:rPr sz="900" kern="0" spc="1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900" kern="0" spc="2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9525000" y="2994736"/>
          <a:ext cx="7619364" cy="3964939"/>
        </p:xfrm>
        <a:graphic>
          <a:graphicData uri="http://schemas.openxmlformats.org/drawingml/2006/table">
            <a:tbl>
              <a:tblPr/>
              <a:tblGrid>
                <a:gridCol w="519430"/>
                <a:gridCol w="4742815"/>
                <a:gridCol w="2357120"/>
              </a:tblGrid>
              <a:tr h="6007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7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06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2095" algn="l" rtl="0" eaLnBrk="0">
                        <a:lnSpc>
                          <a:spcPts val="2045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训练范式革命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80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Specialist + On-Poli</a:t>
                      </a:r>
                      <a:r>
                        <a:rPr sz="9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cy Distillation</a:t>
                      </a:r>
                      <a:r>
                        <a:rPr sz="900" kern="0" spc="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DSec</a:t>
                      </a:r>
                      <a:r>
                        <a:rPr sz="900" kern="0" spc="1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沙盒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  <a:r>
                        <a:rPr sz="900" kern="0" spc="2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900" kern="0" spc="1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43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224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07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ts val="2045"/>
                        </a:lnSpc>
                        <a:tabLst/>
                      </a:pPr>
                      <a:r>
                        <a:rPr sz="1600" b="1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擅长什么</a:t>
                      </a:r>
                      <a:r>
                        <a:rPr sz="16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</a:t>
                      </a:r>
                      <a:r>
                        <a:rPr sz="1600" b="1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观点</a:t>
                      </a:r>
                      <a:r>
                        <a:rPr sz="16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i="1" kern="0" spc="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竞赛基因</a:t>
                      </a:r>
                      <a:r>
                        <a:rPr sz="10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Codeforces</a:t>
                      </a:r>
                      <a:r>
                        <a:rPr sz="900" kern="0" spc="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3206</a:t>
                      </a:r>
                      <a:r>
                        <a:rPr sz="900" kern="0" spc="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Putnam</a:t>
                      </a:r>
                      <a:r>
                        <a:rPr sz="900" kern="0" spc="1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满分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44</a:t>
                      </a:r>
                      <a:r>
                        <a:rPr sz="900" kern="0" spc="1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900" kern="0" spc="2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16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08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190" algn="l" rtl="0" eaLnBrk="0">
                        <a:lnSpc>
                          <a:spcPts val="2045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不擅长什么</a:t>
                      </a:r>
                      <a:r>
                        <a:rPr sz="16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观点</a:t>
                      </a:r>
                      <a:r>
                        <a:rPr sz="16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844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i="1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创意写作差</a:t>
                      </a:r>
                      <a:r>
                        <a:rPr sz="10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HLE</a:t>
                      </a:r>
                      <a:r>
                        <a:rPr sz="900" kern="0" spc="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w/too</a:t>
                      </a:r>
                      <a:r>
                        <a:rPr sz="9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  <a:r>
                        <a:rPr sz="900" kern="0" spc="1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倒数</a:t>
                      </a:r>
                      <a:r>
                        <a:rPr sz="10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 </a:t>
                      </a:r>
                      <a:r>
                        <a:rPr sz="1000" i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品味差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9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900" kern="0" spc="2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233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09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ts val="2045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普惠的真相</a:t>
                      </a:r>
                      <a:r>
                        <a:rPr sz="16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观点</a:t>
                      </a:r>
                      <a:r>
                        <a:rPr sz="16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5270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1M</a:t>
                      </a:r>
                      <a:r>
                        <a:rPr sz="900" kern="0" spc="1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不是能用是不再</a:t>
                      </a:r>
                      <a:r>
                        <a:rPr sz="1000" i="1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省字</a:t>
                      </a:r>
                      <a:r>
                        <a:rPr sz="1000" kern="0" spc="-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价格屠夫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  <a:r>
                        <a:rPr sz="900" kern="0" spc="1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900" kern="0" spc="2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65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" algn="l" rtl="0" eaLnBrk="0">
                        <a:lnSpc>
                          <a:spcPts val="1082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10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ts val="2045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诚实与本分</a:t>
                      </a:r>
                      <a:r>
                        <a:rPr sz="16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观点</a:t>
                      </a:r>
                      <a:r>
                        <a:rPr sz="16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71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i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论文自认局限</a:t>
                      </a:r>
                      <a:r>
                        <a:rPr sz="1000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昇腾</a:t>
                      </a:r>
                      <a:r>
                        <a:rPr sz="1000" kern="0" spc="-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950</a:t>
                      </a:r>
                      <a:r>
                        <a:rPr sz="900" kern="0" spc="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荀子金句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66</a:t>
                      </a:r>
                      <a:r>
                        <a:rPr sz="900" kern="0" spc="2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900" kern="0" spc="2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" algn="l" rtl="0" eaLnBrk="0">
                        <a:lnSpc>
                          <a:spcPts val="10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b="1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11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3365" algn="l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6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收尾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7 1</a:t>
                      </a:r>
                      <a:r>
                        <a:rPr sz="9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–</a:t>
                      </a:r>
                      <a:r>
                        <a:rPr sz="900" kern="0" spc="2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0" name="textbox 110"/>
          <p:cNvSpPr/>
          <p:nvPr/>
        </p:nvSpPr>
        <p:spPr>
          <a:xfrm>
            <a:off x="1130300" y="1383893"/>
            <a:ext cx="7748905" cy="100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 H 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篇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目</a:t>
            </a:r>
            <a:r>
              <a:rPr sz="900" kern="0" spc="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录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735" algn="l" rtl="0" eaLnBrk="0">
              <a:lnSpc>
                <a:spcPts val="5208"/>
              </a:lnSpc>
              <a:spcBef>
                <a:spcPts val="1"/>
              </a:spcBef>
              <a:tabLst/>
            </a:pPr>
            <a:r>
              <a:rPr sz="4200" b="1" kern="0" spc="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一份</a:t>
            </a:r>
            <a:r>
              <a:rPr sz="4200" kern="0" spc="-2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200" b="1" i="1" kern="0" spc="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72</a:t>
            </a:r>
            <a:r>
              <a:rPr sz="4200" b="1" i="1" kern="0" spc="4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300" b="1" i="1" kern="0" spc="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页</a:t>
            </a:r>
            <a:r>
              <a:rPr sz="4300" kern="0" spc="-4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200" b="1" kern="0" spc="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11</a:t>
            </a:r>
            <a:r>
              <a:rPr sz="4200" b="1" kern="0" spc="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幕的</a:t>
            </a:r>
            <a:r>
              <a:rPr sz="4200" b="1" kern="0" spc="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V4</a:t>
            </a:r>
            <a:r>
              <a:rPr sz="4200" b="1" kern="0" spc="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解读</a:t>
            </a:r>
            <a:r>
              <a:rPr sz="4200" b="1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地图</a:t>
            </a:r>
            <a:endParaRPr sz="4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1907282" y="7032219"/>
            <a:ext cx="203835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TileLang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FP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QAT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·</a:t>
            </a:r>
            <a:r>
              <a:rPr sz="900" kern="0" spc="1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i="1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磁盘</a:t>
            </a:r>
            <a:r>
              <a:rPr sz="10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KV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cache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16001516" y="517118"/>
            <a:ext cx="113474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ROA D MA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881827" y="9651594"/>
            <a:ext cx="107886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ROAD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MAP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28" name="textbox 128"/>
          <p:cNvSpPr/>
          <p:nvPr/>
        </p:nvSpPr>
        <p:spPr>
          <a:xfrm>
            <a:off x="10291252" y="7047325"/>
            <a:ext cx="866139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000" i="1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整体定位</a:t>
            </a:r>
            <a:r>
              <a:rPr sz="1000" kern="0" spc="-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i="1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鸣谢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16613646" y="9651594"/>
            <a:ext cx="52768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7334250"/>
            <a:ext cx="7620000" cy="9525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525000" y="7334250"/>
            <a:ext cx="7620000" cy="9525"/>
          </a:xfrm>
          <a:prstGeom prst="rect">
            <a:avLst/>
          </a:prstGeom>
        </p:spPr>
      </p:pic>
      <p:sp>
        <p:nvSpPr>
          <p:cNvPr id="136" name="textbox 136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table 138"/>
          <p:cNvGraphicFramePr>
            <a:graphicFrameLocks noGrp="1"/>
          </p:cNvGraphicFramePr>
          <p:nvPr/>
        </p:nvGraphicFramePr>
        <p:xfrm>
          <a:off x="1143000" y="2952750"/>
          <a:ext cx="7762875" cy="5715000"/>
        </p:xfrm>
        <a:graphic>
          <a:graphicData uri="http://schemas.openxmlformats.org/drawingml/2006/table">
            <a:tbl>
              <a:tblPr/>
              <a:tblGrid>
                <a:gridCol w="7762875"/>
              </a:tblGrid>
              <a:tr h="5705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00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旗</a:t>
                      </a:r>
                      <a:r>
                        <a:rPr sz="900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舰</a:t>
                      </a:r>
                      <a:r>
                        <a:rPr sz="9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 L AG S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0694" algn="l" rtl="0" eaLnBrk="0">
                        <a:lnSpc>
                          <a:spcPct val="74000"/>
                        </a:lnSpc>
                        <a:spcBef>
                          <a:spcPts val="2442"/>
                        </a:spcBef>
                        <a:tabLst/>
                      </a:pPr>
                      <a:r>
                        <a:rPr sz="6300" b="1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V4-</a:t>
                      </a:r>
                      <a:r>
                        <a:rPr sz="6300" b="1" kern="0" spc="-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Pro</a:t>
                      </a:r>
                      <a:endParaRPr sz="6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502285" algn="l" rtl="0" eaLnBrk="0">
                        <a:lnSpc>
                          <a:spcPts val="2272"/>
                        </a:lnSpc>
                        <a:spcBef>
                          <a:spcPts val="775"/>
                        </a:spcBef>
                        <a:tabLst/>
                      </a:pP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Redefining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the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state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of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the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art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467994" algn="l" rtl="0" eaLnBrk="0">
                        <a:lnSpc>
                          <a:spcPts val="2325"/>
                        </a:lnSpc>
                        <a:tabLst/>
                      </a:pPr>
                      <a:r>
                        <a:rPr sz="1600" i="1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for open mo</a:t>
                      </a:r>
                      <a:r>
                        <a:rPr sz="1600" i="1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dels.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0" indent="-1905" algn="l" rtl="0" eaLnBrk="0">
                        <a:lnSpc>
                          <a:spcPct val="13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面向</a:t>
                      </a:r>
                      <a:r>
                        <a:rPr sz="1200" kern="0" spc="-2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：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性能对标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Opus 4.6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GPT-5.4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；竞赛编程与形怯化数学做到开源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SOTA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；适合需要最强推理能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力</a:t>
                      </a:r>
                      <a:r>
                        <a:rPr sz="1200" kern="0" spc="-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、可接受较高 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AP</a:t>
                      </a:r>
                      <a:r>
                        <a:rPr sz="12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</a:t>
                      </a:r>
                      <a:r>
                        <a:rPr sz="12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成本的场景。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40" name="table 140"/>
          <p:cNvGraphicFramePr>
            <a:graphicFrameLocks noGrp="1"/>
          </p:cNvGraphicFramePr>
          <p:nvPr/>
        </p:nvGraphicFramePr>
        <p:xfrm>
          <a:off x="9382125" y="2952750"/>
          <a:ext cx="7762875" cy="571500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7762875"/>
              </a:tblGrid>
              <a:tr h="5705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9269" algn="l" rtl="0" eaLnBrk="0">
                        <a:lnSpc>
                          <a:spcPts val="107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 量</a:t>
                      </a:r>
                      <a:r>
                        <a:rPr sz="800" kern="0" spc="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C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-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r>
                        <a:rPr sz="8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r>
                        <a:rPr sz="8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  <a:r>
                        <a:rPr sz="8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8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0694" algn="l" rtl="0" eaLnBrk="0">
                        <a:lnSpc>
                          <a:spcPct val="79000"/>
                        </a:lnSpc>
                        <a:spcBef>
                          <a:spcPts val="2105"/>
                        </a:spcBef>
                        <a:tabLst/>
                      </a:pPr>
                      <a:r>
                        <a:rPr sz="6300" b="1" kern="0" spc="-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V4-</a:t>
                      </a:r>
                      <a:r>
                        <a:rPr sz="6300" b="1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Flash</a:t>
                      </a:r>
                      <a:endParaRPr sz="6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514985" algn="l" rtl="0" eaLnBrk="0">
                        <a:lnSpc>
                          <a:spcPts val="2272"/>
                        </a:lnSpc>
                        <a:spcBef>
                          <a:spcPts val="735"/>
                        </a:spcBef>
                        <a:tabLst/>
                      </a:pP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Closed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model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reasoning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,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511175" algn="l" rtl="0" eaLnBrk="0">
                        <a:lnSpc>
                          <a:spcPts val="2325"/>
                        </a:lnSpc>
                        <a:tabLst/>
                      </a:pP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open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model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economics</a:t>
                      </a:r>
                      <a:r>
                        <a:rPr sz="1600" i="1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.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3080" indent="-1270" algn="l" rtl="0" eaLnBrk="0">
                        <a:lnSpc>
                          <a:spcPct val="13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面向</a:t>
                      </a:r>
                      <a:r>
                        <a:rPr sz="1200" kern="0" spc="-2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：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用更少参数反超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V3.2-Base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；输入缓存命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0.2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/M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，真正的价格屠夫；适合大批量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长文档处理、需要普惠部署的场景。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2" name="table 142"/>
          <p:cNvGraphicFramePr>
            <a:graphicFrameLocks noGrp="1"/>
          </p:cNvGraphicFramePr>
          <p:nvPr/>
        </p:nvGraphicFramePr>
        <p:xfrm>
          <a:off x="1647825" y="5638800"/>
          <a:ext cx="6752590" cy="2275840"/>
        </p:xfrm>
        <a:graphic>
          <a:graphicData uri="http://schemas.openxmlformats.org/drawingml/2006/table">
            <a:tbl>
              <a:tblPr/>
              <a:tblGrid>
                <a:gridCol w="2305050"/>
                <a:gridCol w="4447540"/>
              </a:tblGrid>
              <a:tr h="5156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800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总参数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030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8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</a:t>
                      </a:r>
                      <a:r>
                        <a:rPr sz="8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8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 O K</a:t>
                      </a:r>
                      <a:r>
                        <a:rPr sz="8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8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 活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6496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" algn="l" rtl="0" eaLnBrk="0">
                        <a:lnSpc>
                          <a:spcPct val="7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4000" b="1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1.6</a:t>
                      </a:r>
                      <a:r>
                        <a:rPr sz="1800" b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8560" algn="l" rtl="0" eaLnBrk="0">
                        <a:lnSpc>
                          <a:spcPts val="3037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40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49</a:t>
                      </a:r>
                      <a:r>
                        <a:rPr sz="1800" b="1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" algn="l" rtl="0" eaLnBrk="0">
                        <a:lnSpc>
                          <a:spcPct val="8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 R A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r>
                        <a:rPr sz="8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8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</a:t>
                      </a:r>
                      <a:r>
                        <a:rPr sz="8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5385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 O</a:t>
                      </a:r>
                      <a:r>
                        <a:rPr sz="8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 家</a:t>
                      </a:r>
                      <a:r>
                        <a:rPr sz="8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8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0" algn="l" rtl="0" eaLnBrk="0">
                        <a:lnSpc>
                          <a:spcPct val="7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4000" b="1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61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919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4000" b="1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384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44" name="table 144"/>
          <p:cNvGraphicFramePr>
            <a:graphicFrameLocks noGrp="1"/>
          </p:cNvGraphicFramePr>
          <p:nvPr/>
        </p:nvGraphicFramePr>
        <p:xfrm>
          <a:off x="9886950" y="5638800"/>
          <a:ext cx="6752589" cy="2276475"/>
        </p:xfrm>
        <a:graphic>
          <a:graphicData uri="http://schemas.openxmlformats.org/drawingml/2006/table">
            <a:tbl>
              <a:tblPr/>
              <a:tblGrid>
                <a:gridCol w="2337435"/>
                <a:gridCol w="4415155"/>
              </a:tblGrid>
              <a:tr h="5156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800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总参数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792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8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</a:t>
                      </a:r>
                      <a:r>
                        <a:rPr sz="8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8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 O K</a:t>
                      </a:r>
                      <a:r>
                        <a:rPr sz="8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8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 活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648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4000" b="1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284</a:t>
                      </a:r>
                      <a:r>
                        <a:rPr sz="1800" b="1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3320" algn="l" rtl="0" eaLnBrk="0">
                        <a:lnSpc>
                          <a:spcPts val="3013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4000" b="1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13</a:t>
                      </a:r>
                      <a:r>
                        <a:rPr sz="1800" b="1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 R A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r>
                        <a:rPr sz="8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8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</a:t>
                      </a:r>
                      <a:r>
                        <a:rPr sz="8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0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 O</a:t>
                      </a:r>
                      <a:r>
                        <a:rPr sz="8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 家</a:t>
                      </a:r>
                      <a:r>
                        <a:rPr sz="8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8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" algn="l" rtl="0" eaLnBrk="0">
                        <a:lnSpc>
                          <a:spcPts val="3013"/>
                        </a:lnSpc>
                        <a:tabLst/>
                      </a:pPr>
                      <a:r>
                        <a:rPr sz="40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43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4000" b="1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256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6" name="textbox 146"/>
          <p:cNvSpPr/>
          <p:nvPr/>
        </p:nvSpPr>
        <p:spPr>
          <a:xfrm>
            <a:off x="1130300" y="1383893"/>
            <a:ext cx="10601960" cy="100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 H A</a:t>
            </a:r>
            <a:r>
              <a:rPr sz="900" kern="0" spc="1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 款 模 型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 一 套 架 构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208"/>
              </a:lnSpc>
              <a:spcBef>
                <a:spcPts val="1"/>
              </a:spcBef>
              <a:tabLst/>
            </a:pPr>
            <a:r>
              <a:rPr sz="4200" b="1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一个对标</a:t>
            </a:r>
            <a:r>
              <a:rPr sz="4300" b="1" i="1" kern="0" spc="-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闭源旗舰</a:t>
            </a:r>
            <a:r>
              <a:rPr sz="4200" b="1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，一个重新定义</a:t>
            </a:r>
            <a:r>
              <a:rPr sz="4300" b="1" i="1" kern="0" spc="-1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开源性价比</a:t>
            </a:r>
            <a:endParaRPr sz="43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15714129" y="517118"/>
            <a:ext cx="142240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0 5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TWO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MO D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1881827" y="9651594"/>
            <a:ext cx="133350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TWO  MODELS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62" name="textbox 162"/>
          <p:cNvSpPr/>
          <p:nvPr/>
        </p:nvSpPr>
        <p:spPr>
          <a:xfrm>
            <a:off x="16616921" y="9651594"/>
            <a:ext cx="52451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  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66"/>
          <p:cNvSpPr/>
          <p:nvPr/>
        </p:nvSpPr>
        <p:spPr>
          <a:xfrm>
            <a:off x="1134719" y="3419729"/>
            <a:ext cx="7780019" cy="4040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7475" algn="l" rtl="0" eaLnBrk="0">
              <a:lnSpc>
                <a:spcPts val="2936"/>
              </a:lnSpc>
              <a:tabLst/>
            </a:pPr>
            <a:r>
              <a:rPr sz="3200" i="1" kern="0" spc="-40" baseline="-51478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n</a:t>
            </a:r>
            <a:r>
              <a:rPr sz="2100" i="1" kern="0" spc="-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100" kern="0" spc="-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MoE</a:t>
            </a:r>
            <a:r>
              <a:rPr sz="2100" kern="0" spc="1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100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的本质是</a:t>
            </a:r>
            <a:r>
              <a:rPr sz="2100" b="1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专家会议</a:t>
            </a:r>
            <a:r>
              <a:rPr sz="2100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，不是全员表决。</a:t>
            </a:r>
            <a:endParaRPr sz="2100" dirty="0">
              <a:latin typeface="PingFang SC"/>
              <a:ea typeface="PingFang SC"/>
              <a:cs typeface="PingFang SC"/>
            </a:endParaRPr>
          </a:p>
          <a:p>
            <a:pPr marL="17780" algn="l" rtl="0" eaLnBrk="0">
              <a:lnSpc>
                <a:spcPts val="2891"/>
              </a:lnSpc>
              <a:spcBef>
                <a:spcPts val="331"/>
              </a:spcBef>
              <a:tabLst/>
            </a:pPr>
            <a:r>
              <a:rPr sz="21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模型有 </a:t>
            </a:r>
            <a:r>
              <a:rPr sz="21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1.6 T </a:t>
            </a:r>
            <a:r>
              <a:rPr sz="21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参数是团队规模，每</a:t>
            </a:r>
            <a:r>
              <a:rPr sz="2100" kern="0" spc="-1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token </a:t>
            </a:r>
            <a:r>
              <a:rPr sz="21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激活</a:t>
            </a:r>
            <a:r>
              <a:rPr sz="2100" kern="0" spc="-1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49 B </a:t>
            </a:r>
            <a:r>
              <a:rPr sz="21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才是真正开又说</a:t>
            </a:r>
            <a:endParaRPr sz="2100" dirty="0">
              <a:latin typeface="PingFang SC"/>
              <a:ea typeface="PingFang SC"/>
              <a:cs typeface="PingFang SC"/>
            </a:endParaRPr>
          </a:p>
          <a:p>
            <a:pPr marL="18415" algn="l" rtl="0" eaLnBrk="0">
              <a:lnSpc>
                <a:spcPts val="3052"/>
              </a:lnSpc>
              <a:tabLst/>
            </a:pPr>
            <a:r>
              <a:rPr sz="2100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话的人。</a:t>
            </a:r>
            <a:endParaRPr sz="2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indent="-635" algn="l" rtl="0" eaLnBrk="0">
              <a:lnSpc>
                <a:spcPct val="144000"/>
              </a:lnSpc>
              <a:spcBef>
                <a:spcPts val="372"/>
              </a:spcBef>
              <a:tabLst/>
            </a:pP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路由机制</a:t>
            </a:r>
            <a:r>
              <a:rPr sz="1200" kern="0" spc="-2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V4-Pro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的每一层有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384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位路由专家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+ 1</a:t>
            </a:r>
            <a:r>
              <a:rPr sz="1200" kern="0" spc="1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位共享专家，每个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由门控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网络挑选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6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位最相关的专家处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理。前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3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层用</a:t>
            </a:r>
            <a:r>
              <a:rPr sz="1200" kern="0" spc="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Hash routing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稳住早期训练；后续层用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Sigmoid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→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Sqrt(Softplus)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的打分函数。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代价</a:t>
            </a:r>
            <a:r>
              <a:rPr sz="1200" kern="0" spc="-1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部署时要把整个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200" kern="0" spc="-1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.6 T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模型加载进显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存（</a:t>
            </a:r>
            <a:r>
              <a:rPr sz="1200" kern="0" spc="-2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因为任何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都可能命中不同专家</a:t>
            </a:r>
            <a:r>
              <a:rPr sz="1200" kern="0" spc="-2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），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但每步计算只有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49 B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的量。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68" name="picture 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172825" y="3048000"/>
            <a:ext cx="5467350" cy="3638550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1130300" y="1383893"/>
            <a:ext cx="14196695" cy="1414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 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0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本 质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40640" algn="l" rtl="0" eaLnBrk="0">
              <a:lnSpc>
                <a:spcPts val="4836"/>
              </a:lnSpc>
              <a:spcBef>
                <a:spcPts val="1440"/>
              </a:spcBef>
              <a:tabLst/>
            </a:pPr>
            <a:r>
              <a:rPr sz="3900" b="1" kern="0" spc="-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1.6 T </a:t>
            </a:r>
            <a:r>
              <a:rPr sz="3900" b="1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参数</a:t>
            </a:r>
            <a:r>
              <a:rPr sz="3900" kern="0" spc="-6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900" b="1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，每次</a:t>
            </a:r>
            <a:r>
              <a:rPr sz="4000" b="1" i="1" kern="0" spc="-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只请</a:t>
            </a:r>
            <a:r>
              <a:rPr sz="3900" b="1" i="1" kern="0" spc="-9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6</a:t>
            </a:r>
            <a:r>
              <a:rPr sz="3900" b="1" i="1" kern="0" spc="3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000" b="1" i="1" kern="0" spc="-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个专家</a:t>
            </a:r>
            <a:r>
              <a:rPr sz="3900" b="1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上场</a:t>
            </a:r>
            <a:endParaRPr sz="3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1342"/>
              </a:lnSpc>
              <a:spcBef>
                <a:spcPts val="443"/>
              </a:spcBef>
              <a:tabLst/>
            </a:pP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 o E</a:t>
            </a:r>
            <a:r>
              <a:rPr sz="1100" kern="0" spc="1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 a</a:t>
            </a:r>
            <a:r>
              <a:rPr sz="1100" kern="0" spc="-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11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 r</a:t>
            </a:r>
            <a:r>
              <a:rPr sz="11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1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3 8 4</a:t>
            </a:r>
            <a:r>
              <a:rPr sz="11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1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 u</a:t>
            </a:r>
            <a:r>
              <a:rPr sz="1100" kern="0" spc="-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1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1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1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100" kern="0" spc="-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x p</a:t>
            </a:r>
            <a:r>
              <a:rPr sz="11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 r</a:t>
            </a:r>
            <a:r>
              <a:rPr sz="11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1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1807190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仅</a:t>
            </a:r>
            <a:r>
              <a:rPr sz="900" kern="0" spc="3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</a:t>
            </a:r>
            <a:r>
              <a:rPr sz="900" kern="0" spc="-1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蓝</a:t>
            </a:r>
            <a:r>
              <a:rPr sz="900" kern="0" spc="-1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色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方</a:t>
            </a:r>
            <a:r>
              <a:rPr sz="900" kern="0" spc="-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格</a:t>
            </a:r>
            <a:r>
              <a:rPr sz="900" kern="0" spc="-1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被</a:t>
            </a:r>
            <a:r>
              <a:rPr sz="900" kern="0" spc="-1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本</a:t>
            </a:r>
            <a:r>
              <a:rPr sz="900" kern="0" spc="2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激</a:t>
            </a:r>
            <a:r>
              <a:rPr sz="900" kern="0" spc="-1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72" name="picture 1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sp>
        <p:nvSpPr>
          <p:cNvPr id="174" name="textbox 174"/>
          <p:cNvSpPr/>
          <p:nvPr/>
        </p:nvSpPr>
        <p:spPr>
          <a:xfrm>
            <a:off x="12011405" y="7981137"/>
            <a:ext cx="3798570" cy="541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26"/>
              </a:lnSpc>
              <a:tabLst/>
            </a:pPr>
            <a:r>
              <a:rPr sz="1900" kern="0" spc="1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6 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experts</a:t>
            </a:r>
            <a:r>
              <a:rPr sz="1900" kern="0" spc="1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activated</a:t>
            </a:r>
            <a:r>
              <a:rPr sz="1900" kern="0" spc="1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·</a:t>
            </a:r>
            <a:r>
              <a:rPr sz="1900" kern="0" spc="-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1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49 </a:t>
            </a:r>
            <a:r>
              <a:rPr sz="1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900" kern="0" spc="-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params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15060" algn="l" rtl="0" eaLnBrk="0">
              <a:lnSpc>
                <a:spcPct val="75000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UT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TOTA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78" name="picture 1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15572000" y="517118"/>
            <a:ext cx="156464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0 6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NT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1881827" y="9651594"/>
            <a:ext cx="148145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MO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IO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84" name="picture 1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16614538" y="9651594"/>
            <a:ext cx="52641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90" name="path 190"/>
          <p:cNvSpPr/>
          <p:nvPr/>
        </p:nvSpPr>
        <p:spPr>
          <a:xfrm>
            <a:off x="11430000" y="7898606"/>
            <a:ext cx="4953000" cy="14287"/>
          </a:xfrm>
          <a:custGeom>
            <a:avLst/>
            <a:gdLst/>
            <a:ahLst/>
            <a:cxnLst/>
            <a:rect l="0" t="0" r="0" b="0"/>
            <a:pathLst>
              <a:path w="7800" h="22">
                <a:moveTo>
                  <a:pt x="0" y="11"/>
                </a:moveTo>
                <a:lnTo>
                  <a:pt x="7800" y="11"/>
                </a:lnTo>
              </a:path>
            </a:pathLst>
          </a:custGeom>
          <a:noFill/>
          <a:ln w="14287" cap="flat">
            <a:solidFill>
              <a:srgbClr val="1A1A1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" name="textbox 192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box 194"/>
          <p:cNvSpPr/>
          <p:nvPr/>
        </p:nvSpPr>
        <p:spPr>
          <a:xfrm>
            <a:off x="1123442" y="1383893"/>
            <a:ext cx="16034386" cy="2030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ts val="1163"/>
              </a:lnSpc>
              <a:tabLst>
                <a:tab pos="483235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·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稀 疏 激 活 的 经 济 学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9370" algn="l" rtl="0" eaLnBrk="0">
              <a:lnSpc>
                <a:spcPts val="5022"/>
              </a:lnSpc>
              <a:spcBef>
                <a:spcPts val="1374"/>
              </a:spcBef>
              <a:tabLst/>
            </a:pPr>
            <a:r>
              <a:rPr sz="40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花</a:t>
            </a:r>
            <a:r>
              <a:rPr sz="4100" b="1" i="1" kern="0" spc="-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存储</a:t>
            </a:r>
            <a:r>
              <a:rPr sz="4100" kern="0" spc="-7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0" b="1" i="1" kern="0" spc="-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1.6 T </a:t>
            </a:r>
            <a:r>
              <a:rPr sz="40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的钱</a:t>
            </a:r>
            <a:r>
              <a:rPr sz="4000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0" b="1" kern="0" spc="-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40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享受</a:t>
            </a:r>
            <a:r>
              <a:rPr sz="4000" kern="0" spc="-4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0" b="1" i="1" kern="0" spc="-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49 B</a:t>
            </a:r>
            <a:r>
              <a:rPr sz="4000" b="1" i="1" kern="0" spc="7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100" b="1" i="1" kern="0" spc="-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的推理速度</a:t>
            </a:r>
            <a:endParaRPr sz="4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14"/>
              </a:lnSpc>
              <a:spcBef>
                <a:spcPts val="1"/>
              </a:spcBef>
              <a:tabLst/>
            </a:pPr>
            <a:r>
              <a:rPr sz="1800" b="1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V4-</a:t>
            </a:r>
            <a:r>
              <a:rPr sz="18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Pro</a:t>
            </a:r>
            <a:r>
              <a:rPr sz="1800" b="1" kern="0" spc="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10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</a:t>
            </a:r>
            <a:r>
              <a:rPr sz="1000" kern="0" spc="1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000" kern="0" spc="2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激活</a:t>
            </a:r>
            <a:r>
              <a:rPr sz="1000" kern="0" spc="1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000" kern="0" spc="2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总参数</a:t>
            </a:r>
            <a:r>
              <a:rPr sz="10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2700" b="1" kern="0" spc="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3.1</a:t>
            </a:r>
            <a:r>
              <a:rPr sz="2700" b="1" kern="0" spc="-2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200" b="1" kern="0" spc="6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%</a:t>
            </a:r>
            <a:endParaRPr sz="1200" dirty="0">
              <a:latin typeface="Georgia"/>
              <a:ea typeface="Georgia"/>
              <a:cs typeface="Georgia"/>
            </a:endParaRPr>
          </a:p>
        </p:txBody>
      </p:sp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1123442" y="3918000"/>
            <a:ext cx="16034386" cy="1024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ts val="1252"/>
              </a:lnSpc>
              <a:tabLst/>
            </a:pP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49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 ÷ 1.6 T ·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只有传统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dense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模型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3%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的计算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成本，走完全部参数的知识密度</a:t>
            </a:r>
            <a:endParaRPr sz="10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4"/>
              </a:spcBef>
              <a:tabLst/>
            </a:pPr>
            <a:r>
              <a:rPr sz="1800" b="1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V4-</a:t>
            </a:r>
            <a:r>
              <a:rPr sz="18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Flash</a:t>
            </a:r>
            <a:r>
              <a:rPr sz="1800" b="1" kern="0" spc="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10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</a:t>
            </a:r>
            <a:r>
              <a:rPr sz="1000" kern="0" spc="1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000" kern="0" spc="2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激活</a:t>
            </a:r>
            <a:r>
              <a:rPr sz="1000" kern="0" spc="1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000" kern="0" spc="2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总参数</a:t>
            </a:r>
            <a:r>
              <a:rPr sz="10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</a:t>
            </a:r>
            <a:r>
              <a:rPr sz="10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2700" b="1" kern="0" spc="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4.6</a:t>
            </a:r>
            <a:r>
              <a:rPr sz="2700" b="1" kern="0" spc="-3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200" b="1" kern="0" spc="6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%</a:t>
            </a:r>
            <a:endParaRPr sz="1200" dirty="0">
              <a:latin typeface="Georgia"/>
              <a:ea typeface="Georgia"/>
              <a:cs typeface="Georgia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1137843" y="5451526"/>
            <a:ext cx="16019780" cy="1024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1252"/>
              </a:lnSpc>
              <a:tabLst/>
            </a:pP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 ÷ 284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 ·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推理几乎等于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dense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模型，但知识面接近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284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4"/>
              </a:spcBef>
              <a:tabLst/>
            </a:pPr>
            <a:r>
              <a:rPr sz="18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DeepSeek-V3</a:t>
            </a:r>
            <a:r>
              <a:rPr sz="1800" b="1" kern="0" spc="2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10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前代对比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27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5.6</a:t>
            </a:r>
            <a:r>
              <a:rPr sz="2700" b="1" kern="0" spc="-2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200" b="1" kern="0" spc="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%</a:t>
            </a:r>
            <a:endParaRPr sz="1200" dirty="0">
              <a:latin typeface="Georgia"/>
              <a:ea typeface="Georgia"/>
              <a:cs typeface="Georgia"/>
            </a:endParaRPr>
          </a:p>
        </p:txBody>
      </p:sp>
      <p:sp>
        <p:nvSpPr>
          <p:cNvPr id="202" name="rect 202"/>
          <p:cNvSpPr/>
          <p:nvPr/>
        </p:nvSpPr>
        <p:spPr>
          <a:xfrm>
            <a:off x="1143000" y="3505200"/>
            <a:ext cx="16002000" cy="304800"/>
          </a:xfrm>
          <a:prstGeom prst="rect">
            <a:avLst/>
          </a:prstGeom>
          <a:solidFill>
            <a:srgbClr val="EEF0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" name="rect 204"/>
          <p:cNvSpPr/>
          <p:nvPr/>
        </p:nvSpPr>
        <p:spPr>
          <a:xfrm>
            <a:off x="1143000" y="5038725"/>
            <a:ext cx="16002000" cy="304800"/>
          </a:xfrm>
          <a:prstGeom prst="rect">
            <a:avLst/>
          </a:prstGeom>
          <a:solidFill>
            <a:srgbClr val="EEF0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6572250"/>
            <a:ext cx="16002000" cy="304800"/>
          </a:xfrm>
          <a:prstGeom prst="rect">
            <a:avLst/>
          </a:prstGeom>
        </p:spPr>
      </p:pic>
      <p:sp>
        <p:nvSpPr>
          <p:cNvPr id="208" name="textbox 208"/>
          <p:cNvSpPr/>
          <p:nvPr/>
        </p:nvSpPr>
        <p:spPr>
          <a:xfrm>
            <a:off x="1139463" y="8570049"/>
            <a:ext cx="12967970" cy="367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687"/>
              </a:lnSpc>
              <a:tabLst/>
            </a:pPr>
            <a:r>
              <a:rPr sz="19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每个</a:t>
            </a:r>
            <a:r>
              <a:rPr sz="1900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token </a:t>
            </a:r>
            <a:r>
              <a:rPr sz="19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只激活 </a:t>
            </a:r>
            <a:r>
              <a:rPr sz="1900" b="1" i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6</a:t>
            </a:r>
            <a:r>
              <a:rPr sz="1900" b="1" i="1" kern="0" spc="3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000" b="1" i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</a:t>
            </a:r>
            <a:r>
              <a:rPr sz="2000" b="1" i="1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路由专家</a:t>
            </a:r>
            <a:r>
              <a:rPr sz="20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b="1" i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+ 1</a:t>
            </a:r>
            <a:r>
              <a:rPr sz="1900" b="1" i="1" kern="0" spc="3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000" b="1" i="1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个共享专家</a:t>
            </a:r>
            <a:r>
              <a:rPr sz="19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。前 </a:t>
            </a:r>
            <a:r>
              <a:rPr sz="1900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 </a:t>
            </a:r>
            <a:r>
              <a:rPr sz="19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层用 </a:t>
            </a:r>
            <a:r>
              <a:rPr sz="1900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Hash routing </a:t>
            </a:r>
            <a:r>
              <a:rPr sz="19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稳住早期训练，后续层由门控网络动态选路。</a:t>
            </a:r>
            <a:endParaRPr sz="1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1139367" y="6985051"/>
            <a:ext cx="2684780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2"/>
              </a:lnSpc>
              <a:tabLst/>
            </a:pP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37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 ÷ 671  B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V4-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的稀疏度比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V3 </a:t>
            </a:r>
            <a:r>
              <a:rPr sz="10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更激进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14" name="picture 2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216" name="textbox 216"/>
          <p:cNvSpPr/>
          <p:nvPr/>
        </p:nvSpPr>
        <p:spPr>
          <a:xfrm>
            <a:off x="15176712" y="517118"/>
            <a:ext cx="195961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 PA RS E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 NO M IC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18" name="picture 2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8315325"/>
            <a:ext cx="14287500" cy="19050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1881827" y="9651594"/>
            <a:ext cx="1849754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SPARSE  ECO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NOMICS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16625255" y="9651594"/>
            <a:ext cx="51625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  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230"/>
          <p:cNvSpPr/>
          <p:nvPr/>
        </p:nvSpPr>
        <p:spPr>
          <a:xfrm>
            <a:off x="1130300" y="1383893"/>
            <a:ext cx="9573260" cy="100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·   3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数 据 构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造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385" algn="l" rtl="0" eaLnBrk="0">
              <a:lnSpc>
                <a:spcPts val="5208"/>
              </a:lnSpc>
              <a:spcBef>
                <a:spcPts val="1"/>
              </a:spcBef>
              <a:tabLst/>
            </a:pPr>
            <a:r>
              <a:rPr sz="4200" b="1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数据不是更多就好</a:t>
            </a:r>
            <a:r>
              <a:rPr sz="4200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200" b="1" kern="0" spc="-1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4200" b="1" kern="0" spc="5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300" b="1" i="1" kern="0" spc="-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怎么不坍缩</a:t>
            </a:r>
            <a:r>
              <a:rPr sz="4300" kern="0" spc="-5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200" b="1" kern="0" spc="-1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才是关键</a:t>
            </a:r>
            <a:endParaRPr sz="4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2" name="picture 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sp>
        <p:nvSpPr>
          <p:cNvPr id="234" name="textbox 234"/>
          <p:cNvSpPr/>
          <p:nvPr/>
        </p:nvSpPr>
        <p:spPr>
          <a:xfrm>
            <a:off x="8564201" y="4883321"/>
            <a:ext cx="4155440" cy="996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000" b="1" kern="0" spc="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DATA  0</a:t>
            </a:r>
            <a:r>
              <a:rPr sz="1000" b="1" kern="0" spc="-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2700" algn="l" rtl="0" eaLnBrk="0">
              <a:lnSpc>
                <a:spcPts val="2045"/>
              </a:lnSpc>
              <a:spcBef>
                <a:spcPts val="668"/>
              </a:spcBef>
              <a:tabLst/>
            </a:pPr>
            <a:r>
              <a:rPr sz="1600" b="1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扩充多语言长尾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240" indent="6350" algn="l" rtl="0" eaLnBrk="0">
              <a:lnSpc>
                <a:spcPct val="136000"/>
              </a:lnSpc>
              <a:spcBef>
                <a:spcPts val="1"/>
              </a:spcBef>
              <a:tabLst/>
            </a:pP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中文之外的小语种被有意识地补足</a:t>
            </a:r>
            <a:r>
              <a:rPr sz="1000" kern="0" spc="-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，避免「高资源语种吃光，长尾跟不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上J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的常见失衡。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13001174" y="4883321"/>
            <a:ext cx="4088765" cy="996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8000"/>
              </a:lnSpc>
              <a:tabLst/>
            </a:pPr>
            <a:r>
              <a:rPr sz="1000" b="1" kern="0" spc="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DATA  0</a:t>
            </a:r>
            <a:r>
              <a:rPr sz="1000" b="1" kern="0" spc="-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2700" algn="l" rtl="0" eaLnBrk="0">
              <a:lnSpc>
                <a:spcPts val="2045"/>
              </a:lnSpc>
              <a:spcBef>
                <a:spcPts val="668"/>
              </a:spcBef>
              <a:tabLst/>
            </a:pPr>
            <a:r>
              <a:rPr sz="1600" b="1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精选科学论文与技术报告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4605" indent="2540" algn="l" rtl="0" eaLnBrk="0">
              <a:lnSpc>
                <a:spcPct val="137000"/>
              </a:lnSpc>
              <a:spcBef>
                <a:spcPts val="4"/>
              </a:spcBef>
              <a:tabLst/>
            </a:pP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高质量技术文献被单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独拎出来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up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sample</a:t>
            </a:r>
            <a:r>
              <a:rPr sz="1000" kern="0" spc="-1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，直接支撑了后续在 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科学推</a:t>
            </a:r>
            <a:r>
              <a:rPr sz="10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理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上的表现。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8564201" y="3445046"/>
            <a:ext cx="4040505" cy="990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000" b="1" kern="0" spc="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DATA  0</a:t>
            </a: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4605" algn="l" rtl="0" eaLnBrk="0">
              <a:lnSpc>
                <a:spcPts val="2045"/>
              </a:lnSpc>
              <a:spcBef>
                <a:spcPts val="735"/>
              </a:spcBef>
              <a:tabLst/>
            </a:pP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过滤</a:t>
            </a:r>
            <a:r>
              <a:rPr sz="1600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AI</a:t>
            </a:r>
            <a:r>
              <a:rPr sz="1600" b="1" kern="0" spc="1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生成内容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334" indent="1905" algn="l" rtl="0" eaLnBrk="0">
              <a:lnSpc>
                <a:spcPct val="134000"/>
              </a:lnSpc>
              <a:spcBef>
                <a:spcPts val="5"/>
              </a:spcBef>
              <a:tabLst/>
            </a:pP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互联网语料里已有大量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ChatGPT</a:t>
            </a: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Claude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写出的文本，训练前明确识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别并过滤，</a:t>
            </a:r>
            <a:r>
              <a:rPr sz="1000" kern="0" spc="-2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防止模型坍缩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13002013" y="3445046"/>
            <a:ext cx="4039234" cy="990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2000"/>
              </a:lnSpc>
              <a:tabLst/>
            </a:pPr>
            <a:r>
              <a:rPr sz="1000" b="1" kern="0" spc="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DATA  0</a:t>
            </a: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2700" algn="l" rtl="0" eaLnBrk="0">
              <a:lnSpc>
                <a:spcPct val="86000"/>
              </a:lnSpc>
              <a:spcBef>
                <a:spcPts val="992"/>
              </a:spcBef>
              <a:tabLst/>
            </a:pP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Mid</a:t>
            </a:r>
            <a:r>
              <a:rPr sz="1600" b="1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-</a:t>
            </a: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training</a:t>
            </a:r>
            <a:r>
              <a:rPr sz="1600" b="1" kern="0" spc="1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引入</a:t>
            </a:r>
            <a:r>
              <a:rPr sz="1600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Agentic</a:t>
            </a:r>
            <a:r>
              <a:rPr sz="1600" b="1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数据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3970" indent="1270" algn="l" rtl="0" eaLnBrk="0">
              <a:lnSpc>
                <a:spcPct val="135000"/>
              </a:lnSpc>
              <a:spcBef>
                <a:spcPts val="6"/>
              </a:spcBef>
              <a:tabLst/>
            </a:pP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工具调用轨迹</a:t>
            </a:r>
            <a:r>
              <a:rPr sz="1000" kern="0" spc="-2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000" kern="0" spc="-2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多步推理</a:t>
            </a:r>
            <a:r>
              <a:rPr sz="1000" kern="0" spc="-2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、搜索片段一把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</a:t>
            </a:r>
            <a:r>
              <a:rPr sz="1000" kern="0" spc="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行为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在预训练</a:t>
            </a:r>
            <a:r>
              <a:rPr sz="10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阶段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就灌进模型，不是靠后训练硬掰。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1139253" y="8755253"/>
            <a:ext cx="12336780" cy="288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65"/>
              </a:lnSpc>
              <a:tabLst/>
            </a:pP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关键技术细节：启用 </a:t>
            </a:r>
            <a:r>
              <a:rPr sz="1500" b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</a:t>
            </a:r>
            <a:r>
              <a:rPr sz="15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ample-level attention masking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，避免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pack</a:t>
            </a:r>
            <a:r>
              <a:rPr sz="1500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到同一序列里的样本互相「串味」</a:t>
            </a:r>
            <a:r>
              <a:rPr sz="1500" kern="0" spc="-3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这是</a:t>
            </a:r>
            <a:r>
              <a:rPr sz="1500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32T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大规模训练的必要基础设施。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1173162" y="3740150"/>
            <a:ext cx="2514600" cy="1304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074"/>
              </a:lnSpc>
              <a:tabLst/>
            </a:pPr>
            <a:r>
              <a:rPr sz="13500" b="1" kern="0" spc="-2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</a:t>
            </a:r>
            <a:r>
              <a:rPr sz="13500" b="1" kern="0" spc="-2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</a:t>
            </a:r>
            <a:r>
              <a:rPr sz="4800" b="1" kern="0" spc="-1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  <a:endParaRPr sz="4800" dirty="0">
              <a:latin typeface="Georgia"/>
              <a:ea typeface="Georgia"/>
              <a:cs typeface="Georgia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1135157" y="4956683"/>
            <a:ext cx="3624580" cy="196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42"/>
              </a:lnSpc>
              <a:tabLst/>
            </a:pP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100" kern="0" spc="-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100" kern="0" spc="-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100" kern="0" spc="-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预</a:t>
            </a:r>
            <a:r>
              <a:rPr sz="11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训</a:t>
            </a:r>
            <a:r>
              <a:rPr sz="1100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练</a:t>
            </a:r>
            <a:r>
              <a:rPr sz="1100" kern="0" spc="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TOKENS</a:t>
            </a: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/   V</a:t>
            </a:r>
            <a:r>
              <a:rPr sz="1100" kern="0" spc="-1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100" kern="0" spc="-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100" kern="0" spc="-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FLASH</a:t>
            </a: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3</a:t>
            </a:r>
            <a:r>
              <a:rPr sz="11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T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8534400"/>
            <a:ext cx="15240000" cy="19050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16372249" y="517118"/>
            <a:ext cx="76390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1881827" y="9651594"/>
            <a:ext cx="70294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62" name="picture 2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572500" y="3238500"/>
            <a:ext cx="4133850" cy="19050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572500" y="4676775"/>
            <a:ext cx="4133850" cy="19050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3011150" y="3238500"/>
            <a:ext cx="4133850" cy="19050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011150" y="4676775"/>
            <a:ext cx="4133850" cy="19050"/>
          </a:xfrm>
          <a:prstGeom prst="rect">
            <a:avLst/>
          </a:prstGeom>
        </p:spPr>
      </p:pic>
      <p:sp>
        <p:nvSpPr>
          <p:cNvPr id="270" name="textbox 270"/>
          <p:cNvSpPr/>
          <p:nvPr/>
        </p:nvSpPr>
        <p:spPr>
          <a:xfrm>
            <a:off x="16614389" y="9651594"/>
            <a:ext cx="52705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" name="table 274"/>
          <p:cNvGraphicFramePr>
            <a:graphicFrameLocks noGrp="1"/>
          </p:cNvGraphicFramePr>
          <p:nvPr/>
        </p:nvGraphicFramePr>
        <p:xfrm>
          <a:off x="1143000" y="2952750"/>
          <a:ext cx="7762875" cy="3810000"/>
        </p:xfrm>
        <a:graphic>
          <a:graphicData uri="http://schemas.openxmlformats.org/drawingml/2006/table">
            <a:tbl>
              <a:tblPr/>
              <a:tblGrid>
                <a:gridCol w="7762875"/>
              </a:tblGrid>
              <a:tr h="3797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97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900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C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   0 1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5" algn="l" rtl="0" eaLnBrk="0">
                        <a:lnSpc>
                          <a:spcPct val="84000"/>
                        </a:lnSpc>
                        <a:spcBef>
                          <a:spcPts val="1520"/>
                        </a:spcBef>
                        <a:tabLst/>
                      </a:pPr>
                      <a:r>
                        <a:rPr sz="22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Anticipatory </a:t>
                      </a: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Routing</a:t>
                      </a:r>
                      <a:endParaRPr sz="22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94970" algn="l" rtl="0" eaLnBrk="0">
                        <a:lnSpc>
                          <a:spcPts val="2789"/>
                        </a:lnSpc>
                        <a:spcBef>
                          <a:spcPts val="239"/>
                        </a:spcBef>
                        <a:tabLst/>
                      </a:pP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预判怯路由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95605" indent="1270" algn="l" rtl="0" eaLnBrk="0">
                        <a:lnSpc>
                          <a:spcPct val="140000"/>
                        </a:lnSpc>
                        <a:spcBef>
                          <a:spcPts val="1098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训练中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突然飙高时，路由索引被拉偏。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的方案是用 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 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Δt 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步的历史参数 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θ</a:t>
                      </a:r>
                      <a:r>
                        <a:rPr sz="9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t-Δt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重新估算路由，只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spike</a:t>
                      </a:r>
                      <a:r>
                        <a:rPr sz="12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出现时触发。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814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开销</a:t>
                      </a:r>
                      <a:r>
                        <a:rPr sz="1200" kern="0" spc="-2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：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20%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routing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算力</a:t>
                      </a:r>
                      <a:r>
                        <a:rPr sz="1200" kern="0" spc="-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，但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平摊到整体训练几乎可忽略。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6" name="table 276"/>
          <p:cNvGraphicFramePr>
            <a:graphicFrameLocks noGrp="1"/>
          </p:cNvGraphicFramePr>
          <p:nvPr/>
        </p:nvGraphicFramePr>
        <p:xfrm>
          <a:off x="9382125" y="2952750"/>
          <a:ext cx="7762875" cy="3810000"/>
        </p:xfrm>
        <a:graphic>
          <a:graphicData uri="http://schemas.openxmlformats.org/drawingml/2006/table">
            <a:tbl>
              <a:tblPr/>
              <a:tblGrid>
                <a:gridCol w="7762875"/>
              </a:tblGrid>
              <a:tr h="3797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97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900" kern="0" spc="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C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   0 2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8780" algn="l" rtl="0" eaLnBrk="0">
                        <a:lnSpc>
                          <a:spcPct val="84000"/>
                        </a:lnSpc>
                        <a:spcBef>
                          <a:spcPts val="1520"/>
                        </a:spcBef>
                        <a:tabLst/>
                      </a:pP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SwiGLU Clamping</a:t>
                      </a:r>
                      <a:endParaRPr sz="22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423544" algn="l" rtl="0" eaLnBrk="0">
                        <a:lnSpc>
                          <a:spcPct val="86000"/>
                        </a:lnSpc>
                        <a:spcBef>
                          <a:spcPts val="591"/>
                        </a:spcBef>
                        <a:tabLst/>
                      </a:pPr>
                      <a:r>
                        <a:rPr sz="22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门控限幅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408940" indent="-10160" algn="l" rtl="0" eaLnBrk="0">
                        <a:lnSpc>
                          <a:spcPct val="134000"/>
                        </a:lnSpc>
                        <a:spcBef>
                          <a:spcPts val="1200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SwiGLU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linear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分量偶尔会飞到极端值导致数值爆炸。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的方案很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朴素：把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linear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分量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clamp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到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   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[-10, 10]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分量上界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335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代价</a:t>
                      </a:r>
                      <a:r>
                        <a:rPr sz="1200" kern="0" spc="-2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：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理论上截断了梯度信号，但实测稳定性远胜代价。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8" name="textbox 278"/>
          <p:cNvSpPr/>
          <p:nvPr/>
        </p:nvSpPr>
        <p:spPr>
          <a:xfrm>
            <a:off x="1130300" y="1383893"/>
            <a:ext cx="13933170" cy="985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 H A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训 练 稳 定 性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41910" algn="l" rtl="0" eaLnBrk="0">
              <a:lnSpc>
                <a:spcPts val="5022"/>
              </a:lnSpc>
              <a:spcBef>
                <a:spcPts val="2"/>
              </a:spcBef>
              <a:tabLst/>
            </a:pPr>
            <a:r>
              <a:rPr sz="4000" b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r>
              <a:rPr sz="40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.6 T </a:t>
            </a:r>
            <a:r>
              <a:rPr sz="40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模型怎么</a:t>
            </a:r>
            <a:r>
              <a:rPr sz="4100" b="1" i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不炸</a:t>
            </a:r>
            <a:r>
              <a:rPr sz="40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4000" kern="0" spc="-1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两个「有效但不理解原理」</a:t>
            </a:r>
            <a:r>
              <a:rPr sz="4000" kern="0" spc="-9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的救</a:t>
            </a:r>
            <a:r>
              <a:rPr sz="4000" b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命</a:t>
            </a:r>
            <a:r>
              <a:rPr sz="4000" b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tric</a:t>
            </a:r>
            <a:r>
              <a:rPr sz="40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</a:t>
            </a:r>
            <a:endParaRPr sz="4000" dirty="0">
              <a:latin typeface="Georgia"/>
              <a:ea typeface="Georgia"/>
              <a:cs typeface="Georgia"/>
            </a:endParaRPr>
          </a:p>
        </p:txBody>
      </p:sp>
      <p:pic>
        <p:nvPicPr>
          <p:cNvPr id="280" name="picture 2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sp>
        <p:nvSpPr>
          <p:cNvPr id="282" name="textbox 282"/>
          <p:cNvSpPr/>
          <p:nvPr/>
        </p:nvSpPr>
        <p:spPr>
          <a:xfrm>
            <a:off x="1848544" y="8134718"/>
            <a:ext cx="9802495" cy="585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ts val="2272"/>
              </a:lnSpc>
              <a:tabLst/>
            </a:pPr>
            <a:r>
              <a:rPr sz="1600" i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These two tricks are empirically effective,</a:t>
            </a:r>
            <a:r>
              <a:rPr sz="1600" i="1" kern="0" spc="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but we still</a:t>
            </a:r>
            <a:r>
              <a:rPr sz="1600" i="1" kern="0" spc="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lack</a:t>
            </a:r>
            <a:r>
              <a:rPr sz="1600" i="1" kern="0" spc="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</a:t>
            </a:r>
            <a:r>
              <a:rPr sz="1600" i="1" kern="0" spc="-1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principled</a:t>
            </a:r>
            <a:r>
              <a:rPr sz="1600" i="1" kern="0" spc="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understanding</a:t>
            </a:r>
            <a:r>
              <a:rPr sz="1600" i="1" kern="0" spc="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of</a:t>
            </a:r>
            <a:r>
              <a:rPr sz="1600" i="1" kern="0" spc="-2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w</a:t>
            </a:r>
            <a:r>
              <a:rPr sz="1600" i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hy</a:t>
            </a:r>
            <a:r>
              <a:rPr sz="1600" i="1" kern="0" spc="1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they</a:t>
            </a:r>
            <a:r>
              <a:rPr sz="1600" i="1" kern="0" spc="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work.</a:t>
            </a:r>
            <a:endParaRPr sz="16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spcBef>
                <a:spcPts val="6"/>
              </a:spcBef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  DEEP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SEEK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TECH  REPORT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§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86" name="picture 2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7877175"/>
            <a:ext cx="16002000" cy="19050"/>
          </a:xfrm>
          <a:prstGeom prst="rect">
            <a:avLst/>
          </a:prstGeom>
        </p:spPr>
      </p:pic>
      <p:pic>
        <p:nvPicPr>
          <p:cNvPr id="288" name="picture 2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sp>
        <p:nvSpPr>
          <p:cNvPr id="292" name="textbox 292"/>
          <p:cNvSpPr/>
          <p:nvPr/>
        </p:nvSpPr>
        <p:spPr>
          <a:xfrm>
            <a:off x="15966988" y="517118"/>
            <a:ext cx="11690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0 9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TA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TY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1881827" y="9651594"/>
            <a:ext cx="108331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ITY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16614538" y="9651594"/>
            <a:ext cx="52641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00" name="textbox 300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1248257" y="8272259"/>
            <a:ext cx="270510" cy="259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7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800" i="1" kern="0" spc="8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n</a:t>
            </a:r>
            <a:endParaRPr sz="1800" dirty="0">
              <a:latin typeface="Georgia"/>
              <a:ea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table 304"/>
          <p:cNvGraphicFramePr>
            <a:graphicFrameLocks noGrp="1"/>
          </p:cNvGraphicFramePr>
          <p:nvPr/>
        </p:nvGraphicFramePr>
        <p:xfrm>
          <a:off x="1143000" y="1396593"/>
          <a:ext cx="16002000" cy="7461249"/>
        </p:xfrm>
        <a:graphic>
          <a:graphicData uri="http://schemas.openxmlformats.org/drawingml/2006/table">
            <a:tbl>
              <a:tblPr/>
              <a:tblGrid>
                <a:gridCol w="2373630"/>
                <a:gridCol w="5118100"/>
                <a:gridCol w="5394960"/>
                <a:gridCol w="3115310"/>
              </a:tblGrid>
              <a:tr h="1775460">
                <a:tc>
                  <a:txBody>
                    <a:bodyPr/>
                    <a:lstStyle/>
                    <a:p>
                      <a:pPr marL="463550" algn="l" rtl="0" eaLnBrk="0">
                        <a:lnSpc>
                          <a:spcPts val="1163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 H A</a:t>
                      </a:r>
                      <a:r>
                        <a:rPr sz="900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900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 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详 细 规 格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1964"/>
                        </a:spcBef>
                        <a:tabLst/>
                      </a:pPr>
                      <a:r>
                        <a:rPr sz="4000" b="1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两款模型</a:t>
                      </a:r>
                      <a:r>
                        <a:rPr sz="4000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4000" b="1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745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1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配置项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0" algn="l" rtl="0" eaLnBrk="0">
                        <a:lnSpc>
                          <a:spcPts val="5022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4100" b="1" i="1" kern="0" spc="-1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放在一起看</a:t>
                      </a:r>
                      <a:endParaRPr sz="4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98775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V4-</a:t>
                      </a:r>
                      <a:r>
                        <a:rPr sz="14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Pro</a:t>
                      </a:r>
                      <a:endParaRPr sz="14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8099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FLAGSH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IP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1065" algn="l" rtl="0" eaLnBrk="0">
                        <a:lnSpc>
                          <a:spcPct val="8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V4-</a:t>
                      </a: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Flash</a:t>
                      </a:r>
                      <a:endParaRPr sz="14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63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 F</a:t>
                      </a:r>
                      <a:r>
                        <a:rPr sz="9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IC I E NT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47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800" kern="0" spc="1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模型规模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119379" algn="l" rtl="0" eaLnBrk="0">
                        <a:lnSpc>
                          <a:spcPts val="2199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总参数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9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55950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13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1.6 T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1900" algn="l" rtl="0" eaLnBrk="0">
                        <a:lnSpc>
                          <a:spcPct val="7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284</a:t>
                      </a:r>
                      <a:r>
                        <a:rPr sz="1300" b="1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3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</a:t>
                      </a:r>
                      <a:r>
                        <a:rPr sz="1000" kern="0" spc="1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激活参数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215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49</a:t>
                      </a:r>
                      <a:r>
                        <a:rPr sz="1100" b="1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510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13</a:t>
                      </a:r>
                      <a:r>
                        <a:rPr sz="11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Transformer</a:t>
                      </a:r>
                      <a:r>
                        <a:rPr sz="1000" kern="0" spc="1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2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层数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2965" algn="l" rtl="0" eaLnBrk="0">
                        <a:lnSpc>
                          <a:spcPct val="7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61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21940" algn="l" rtl="0" eaLnBrk="0">
                        <a:lnSpc>
                          <a:spcPts val="836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43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095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隐藏维度</a:t>
                      </a:r>
                      <a:r>
                        <a:rPr sz="10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9445" algn="l" rtl="0" eaLnBrk="0">
                        <a:lnSpc>
                          <a:spcPct val="7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7,168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9370" algn="l" rtl="0" eaLnBrk="0">
                        <a:lnSpc>
                          <a:spcPct val="7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4,096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28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</a:t>
                      </a:r>
                      <a:r>
                        <a:rPr sz="8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1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</a:t>
                      </a:r>
                      <a:r>
                        <a:rPr sz="8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置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9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路由专家数 </a:t>
                      </a:r>
                      <a:r>
                        <a:rPr sz="1000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000" kern="0" spc="1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3584" algn="l" rtl="0" eaLnBrk="0">
                        <a:lnSpc>
                          <a:spcPct val="7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384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0660" algn="l" rtl="0" eaLnBrk="0">
                        <a:lnSpc>
                          <a:spcPct val="7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256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</a:t>
                      </a:r>
                      <a:r>
                        <a:rPr sz="1000" kern="0" spc="1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激活专家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87955" algn="l" rtl="0" eaLnBrk="0">
                        <a:lnSpc>
                          <a:spcPct val="7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</a:t>
                      </a:r>
                      <a:r>
                        <a:rPr sz="1100" b="1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+</a:t>
                      </a:r>
                      <a:r>
                        <a:rPr sz="11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 shared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9790" algn="l" rtl="0" eaLnBrk="0">
                        <a:lnSpc>
                          <a:spcPct val="7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</a:t>
                      </a:r>
                      <a:r>
                        <a:rPr sz="1100" b="1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+</a:t>
                      </a:r>
                      <a:r>
                        <a:rPr sz="11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 shared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 </a:t>
                      </a:r>
                      <a:r>
                        <a:rPr sz="10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1000" kern="0" spc="1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层使用</a:t>
                      </a:r>
                      <a:r>
                        <a:rPr sz="1000" kern="0" spc="2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Hash</a:t>
                      </a:r>
                      <a:r>
                        <a:rPr sz="10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Routing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2815" algn="l" rtl="0" eaLnBrk="0">
                        <a:lnSpc>
                          <a:spcPts val="836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15285" algn="l" rtl="0" eaLnBrk="0">
                        <a:lnSpc>
                          <a:spcPts val="836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11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800" kern="0" spc="1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训练配置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0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5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0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预训练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993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33 T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113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32 T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峰值学习率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63850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-20" baseline="-6128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2.0</a:t>
                      </a:r>
                      <a:r>
                        <a:rPr sz="1100" b="1" kern="0" spc="1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700" b="1" kern="0" spc="-20" baseline="-6128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×</a:t>
                      </a:r>
                      <a:r>
                        <a:rPr sz="1100" b="1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700" b="1" kern="0" spc="-20" baseline="6128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10</a:t>
                      </a:r>
                      <a:r>
                        <a:rPr sz="1400" b="1" kern="0" spc="-20" baseline="7441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-4</a:t>
                      </a:r>
                      <a:endParaRPr sz="1400" baseline="7441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27275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-20" baseline="-6128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2.7</a:t>
                      </a:r>
                      <a:r>
                        <a:rPr sz="1100" b="1" kern="0" spc="1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700" b="1" kern="0" spc="-20" baseline="-6128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×</a:t>
                      </a:r>
                      <a:r>
                        <a:rPr sz="11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700" b="1" kern="0" spc="-20" baseline="6128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10</a:t>
                      </a:r>
                      <a:r>
                        <a:rPr sz="1400" b="1" kern="0" spc="-20" baseline="7441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-4</a:t>
                      </a:r>
                      <a:endParaRPr sz="1400" baseline="7441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每步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batch</a:t>
                      </a:r>
                      <a:r>
                        <a:rPr sz="10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size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9205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11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94.4 </a:t>
                      </a: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r>
                        <a:rPr sz="11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tokens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8979" algn="l" rtl="0" eaLnBrk="0">
                        <a:lnSpc>
                          <a:spcPct val="8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75.5 </a:t>
                      </a: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r>
                        <a:rPr sz="11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tokens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745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优化器（</a:t>
                      </a:r>
                      <a:r>
                        <a:rPr sz="1000" kern="0" spc="-1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主干</a:t>
                      </a:r>
                      <a:r>
                        <a:rPr sz="1000" kern="0" spc="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000" kern="0" spc="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辅助）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94585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Muon</a:t>
                      </a:r>
                      <a:r>
                        <a:rPr sz="1100" b="1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/ </a:t>
                      </a: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AdamW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6420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Muon</a:t>
                      </a:r>
                      <a:r>
                        <a:rPr sz="1100" b="1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/ </a:t>
                      </a: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AdamW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800" kern="0" spc="1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上下文与精度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原生上下文长度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7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65805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3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1300" b="1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3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7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764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3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1300" b="1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3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665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Attention</a:t>
                      </a:r>
                      <a:r>
                        <a:rPr sz="1000" kern="0" spc="1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热身阶段切稀疏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64</a:t>
                      </a:r>
                      <a:r>
                        <a:rPr sz="1100" b="1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K 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047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64</a:t>
                      </a:r>
                      <a:r>
                        <a:rPr sz="1100" b="1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K 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90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MoE</a:t>
                      </a:r>
                      <a:r>
                        <a:rPr sz="1000" kern="0" spc="1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专家权重精度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74695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FP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653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FP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90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</a:t>
                      </a:r>
                      <a:r>
                        <a:rPr sz="1000" kern="0" spc="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Cache</a:t>
                      </a:r>
                      <a:r>
                        <a:rPr sz="10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精度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70884" algn="l" rtl="0" eaLnBrk="0">
                        <a:lnSpc>
                          <a:spcPct val="7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FP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2720" algn="l" rtl="0" eaLnBrk="0">
                        <a:lnSpc>
                          <a:spcPct val="7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FP</a:t>
                      </a:r>
                      <a:r>
                        <a:rPr sz="1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</a:t>
                      </a:r>
                      <a:endParaRPr sz="1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6" name="textbox 30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308" name="picture 3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15838303" y="517118"/>
            <a:ext cx="129794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1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· 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8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8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8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   S P</a:t>
            </a:r>
            <a:r>
              <a:rPr sz="8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 C S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1881827" y="9651594"/>
            <a:ext cx="122872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FULL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SPECS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16" name="picture 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16635723" y="9651594"/>
            <a:ext cx="50546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box 322"/>
          <p:cNvSpPr/>
          <p:nvPr/>
        </p:nvSpPr>
        <p:spPr>
          <a:xfrm>
            <a:off x="1134157" y="3207664"/>
            <a:ext cx="8091169" cy="3697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4000"/>
              </a:lnSpc>
              <a:tabLst/>
            </a:pPr>
            <a:r>
              <a:rPr sz="19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残差连接（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ResNet</a:t>
            </a:r>
            <a:r>
              <a:rPr sz="19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）之所以有效，是因为它让信号可以「跳级」传播。但</a:t>
            </a:r>
            <a:endParaRPr sz="1900" dirty="0">
              <a:latin typeface="PingFang SC"/>
              <a:ea typeface="PingFang SC"/>
              <a:cs typeface="PingFang SC"/>
            </a:endParaRPr>
          </a:p>
          <a:p>
            <a:pPr marL="18415" indent="11430" algn="l" rtl="0" eaLnBrk="0">
              <a:lnSpc>
                <a:spcPct val="138000"/>
              </a:lnSpc>
              <a:spcBef>
                <a:spcPts val="32"/>
              </a:spcBef>
              <a:tabLst/>
            </a:pPr>
            <a:r>
              <a:rPr sz="19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当模型深到 </a:t>
            </a:r>
            <a:r>
              <a:rPr sz="1900" kern="0" spc="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60</a:t>
            </a:r>
            <a:r>
              <a:rPr sz="1900" kern="0" spc="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9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多层，</a:t>
            </a:r>
            <a:r>
              <a:rPr sz="1900" b="1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跳级路径本身也开始积</a:t>
            </a:r>
            <a:r>
              <a:rPr sz="1900" b="1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累噪声和放大</a:t>
            </a:r>
            <a:r>
              <a:rPr sz="1900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19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梯度要么消</a:t>
            </a:r>
            <a:r>
              <a:rPr sz="19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失、要么爆炸。</a:t>
            </a:r>
            <a:endParaRPr sz="1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42"/>
              </a:lnSpc>
              <a:spcBef>
                <a:spcPts val="337"/>
              </a:spcBef>
              <a:tabLst/>
            </a:pPr>
            <a:r>
              <a:rPr sz="11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传统做法的局限</a:t>
            </a:r>
            <a:r>
              <a:rPr sz="1100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残差连接默认每条旁路的「权重J  都是 1</a:t>
            </a:r>
            <a:r>
              <a:rPr sz="1100" kern="0" spc="-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，等价于让所有层都同等重要。但现实中某些层就是比另一些层关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marL="13334" algn="l" rtl="0" eaLnBrk="0">
              <a:lnSpc>
                <a:spcPts val="1936"/>
              </a:lnSpc>
              <a:tabLst/>
            </a:pP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键，不加约束地累加会让深层模型的训练进入危险区。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marL="16510" indent="-3175" algn="l" rtl="0" eaLnBrk="0">
              <a:lnSpc>
                <a:spcPct val="150000"/>
              </a:lnSpc>
              <a:spcBef>
                <a:spcPts val="176"/>
              </a:spcBef>
              <a:tabLst/>
            </a:pPr>
            <a:r>
              <a:rPr sz="1100" kern="0" spc="4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 </a:t>
            </a:r>
            <a:r>
              <a:rPr sz="11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的立意</a:t>
            </a:r>
            <a:r>
              <a:rPr sz="1100" kern="0" spc="-1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1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不推翻残差连接，而是在它之上加一层 </a:t>
            </a:r>
            <a:r>
              <a:rPr sz="11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</a:t>
            </a:r>
            <a:r>
              <a:rPr sz="11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学护栏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Manifold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Constrained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Hyper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Connections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100" kern="0" spc="-1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mHC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）。下一页展</a:t>
            </a:r>
            <a:r>
              <a:rPr sz="11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324" name="textbox 324"/>
          <p:cNvSpPr/>
          <p:nvPr/>
        </p:nvSpPr>
        <p:spPr>
          <a:xfrm>
            <a:off x="1130300" y="1383893"/>
            <a:ext cx="14337664" cy="141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残 差 连 接 的 瓶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颈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3020" algn="l" rtl="0" eaLnBrk="0">
              <a:lnSpc>
                <a:spcPts val="4463"/>
              </a:lnSpc>
              <a:spcBef>
                <a:spcPts val="1420"/>
              </a:spcBef>
              <a:tabLst/>
            </a:pPr>
            <a:r>
              <a:rPr sz="3600" b="1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深层堆叠时</a:t>
            </a:r>
            <a:r>
              <a:rPr sz="3600" kern="0" spc="-6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600" b="1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3700" b="1" i="1" kern="0" spc="-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信号越传越失真</a:t>
            </a:r>
            <a:endParaRPr sz="37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spcBef>
                <a:spcPts val="1"/>
              </a:spcBef>
              <a:tabLst/>
            </a:pP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 l  s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 l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26" name="picture 3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12846844" y="3033370"/>
            <a:ext cx="2694623" cy="5612006"/>
            <a:chOff x="0" y="0"/>
            <a:chExt cx="2694623" cy="5612006"/>
          </a:xfrm>
        </p:grpSpPr>
        <p:pic>
          <p:nvPicPr>
            <p:cNvPr id="328" name="picture 3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300380"/>
              <a:ext cx="2694623" cy="5248275"/>
            </a:xfrm>
            <a:prstGeom prst="rect">
              <a:avLst/>
            </a:prstGeom>
          </p:spPr>
        </p:pic>
        <p:sp>
          <p:nvSpPr>
            <p:cNvPr id="330" name="textbox 330"/>
            <p:cNvSpPr/>
            <p:nvPr/>
          </p:nvSpPr>
          <p:spPr>
            <a:xfrm>
              <a:off x="897777" y="355641"/>
              <a:ext cx="604520" cy="52692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80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4610" algn="l" rtl="0" eaLnBrk="0">
                <a:lnSpc>
                  <a:spcPct val="73000"/>
                </a:lnSpc>
                <a:tabLst/>
              </a:pPr>
              <a:r>
                <a:rPr sz="8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LAYER  1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ts val="984"/>
                </a:lnSpc>
                <a:spcBef>
                  <a:spcPts val="252"/>
                </a:spcBef>
                <a:tabLst/>
              </a:pP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LAYER</a:t>
              </a:r>
              <a:r>
                <a:rPr sz="8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8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984"/>
                </a:lnSpc>
                <a:spcBef>
                  <a:spcPts val="250"/>
                </a:spcBef>
                <a:tabLst/>
              </a:pP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LAYER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3</a:t>
              </a:r>
              <a:r>
                <a:rPr sz="8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984"/>
                </a:lnSpc>
                <a:spcBef>
                  <a:spcPts val="250"/>
                </a:spcBef>
                <a:tabLst/>
              </a:pP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LAYER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4</a:t>
              </a:r>
              <a:r>
                <a:rPr sz="8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20955" algn="l" rtl="0" eaLnBrk="0">
                <a:lnSpc>
                  <a:spcPts val="984"/>
                </a:lnSpc>
                <a:tabLst/>
              </a:pP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LAYER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6</a:t>
              </a:r>
              <a:r>
                <a:rPr sz="8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332" name="textbox 332"/>
            <p:cNvSpPr/>
            <p:nvPr/>
          </p:nvSpPr>
          <p:spPr>
            <a:xfrm>
              <a:off x="17525" y="-12700"/>
              <a:ext cx="2665730" cy="1568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6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000" i="1" kern="0" spc="1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理想</a:t>
              </a:r>
              <a:r>
                <a:rPr sz="1000" kern="0" spc="1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               </a:t>
              </a:r>
              <a:r>
                <a:rPr sz="1000" kern="0" spc="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                      </a:t>
              </a:r>
              <a:r>
                <a:rPr sz="1000" i="1" kern="0" spc="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实际</a:t>
              </a:r>
              <a:endParaRPr sz="1000" dirty="0">
                <a:latin typeface="PingFang SC"/>
                <a:ea typeface="PingFang SC"/>
                <a:cs typeface="PingFang SC"/>
              </a:endParaRPr>
            </a:p>
          </p:txBody>
        </p:sp>
      </p:grpSp>
      <p:sp>
        <p:nvSpPr>
          <p:cNvPr id="334" name="textbox 334"/>
          <p:cNvSpPr/>
          <p:nvPr/>
        </p:nvSpPr>
        <p:spPr>
          <a:xfrm>
            <a:off x="12643834" y="8758692"/>
            <a:ext cx="3124835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幅值稳定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幅值失控</a:t>
            </a:r>
            <a:endParaRPr sz="8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ct val="89000"/>
              </a:lnSpc>
              <a:spcBef>
                <a:spcPts val="183"/>
              </a:spcBef>
              <a:tabLst/>
            </a:pPr>
            <a:r>
              <a:rPr sz="9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没有约束的残差累加，在 </a:t>
            </a:r>
            <a:r>
              <a:rPr sz="9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60</a:t>
            </a:r>
            <a:r>
              <a:rPr sz="900" kern="0" spc="1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层处已无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法收敛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338" name="picture 3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340" name="textbox 340"/>
          <p:cNvSpPr/>
          <p:nvPr/>
        </p:nvSpPr>
        <p:spPr>
          <a:xfrm>
            <a:off x="15547194" y="517118"/>
            <a:ext cx="158940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m H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C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8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8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8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342" name="textbox 342"/>
          <p:cNvSpPr/>
          <p:nvPr/>
        </p:nvSpPr>
        <p:spPr>
          <a:xfrm>
            <a:off x="1881827" y="9651594"/>
            <a:ext cx="154305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HC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PROBL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EM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44" name="picture 3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348" name="textbox 348"/>
          <p:cNvSpPr/>
          <p:nvPr/>
        </p:nvSpPr>
        <p:spPr>
          <a:xfrm>
            <a:off x="16656261" y="9651594"/>
            <a:ext cx="48514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8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8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7 2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350" name="textbox 350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352"/>
          <p:cNvSpPr/>
          <p:nvPr/>
        </p:nvSpPr>
        <p:spPr>
          <a:xfrm>
            <a:off x="1130300" y="1383893"/>
            <a:ext cx="15774670" cy="3231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核 心 思 想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5560" algn="l" rtl="0" eaLnBrk="0">
              <a:lnSpc>
                <a:spcPts val="5022"/>
              </a:lnSpc>
              <a:spcBef>
                <a:spcPts val="1374"/>
              </a:spcBef>
              <a:tabLst/>
            </a:pPr>
            <a:r>
              <a:rPr sz="40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给每条残差路径</a:t>
            </a:r>
            <a:r>
              <a:rPr sz="4100" b="1" i="1" kern="0" spc="-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加一个水闸</a:t>
            </a:r>
            <a:endParaRPr sz="4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9860" algn="l" rtl="0" eaLnBrk="0">
              <a:lnSpc>
                <a:spcPct val="98000"/>
              </a:lnSpc>
              <a:spcBef>
                <a:spcPts val="817"/>
              </a:spcBef>
              <a:tabLst/>
            </a:pPr>
            <a:r>
              <a:rPr sz="4100" i="1" kern="0" spc="-40" baseline="-72415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n</a:t>
            </a:r>
            <a:r>
              <a:rPr sz="2700" i="1" kern="0" spc="-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700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传统残差连接让所有</a:t>
            </a:r>
            <a:r>
              <a:rPr sz="2700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层的信号自由累加。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22225" algn="l" rtl="0" eaLnBrk="0">
              <a:lnSpc>
                <a:spcPts val="3347"/>
              </a:lnSpc>
              <a:spcBef>
                <a:spcPts val="1034"/>
              </a:spcBef>
              <a:tabLst/>
            </a:pPr>
            <a:r>
              <a:rPr sz="27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mHC </a:t>
            </a:r>
            <a:r>
              <a:rPr sz="27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把这些累加权重约束在一个</a:t>
            </a:r>
            <a:r>
              <a:rPr sz="2700" b="1" i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双随机矩阵流形</a:t>
            </a:r>
            <a:r>
              <a:rPr sz="27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</a:t>
            </a:r>
            <a:r>
              <a:rPr sz="27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27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每条输入路径的贡献之和固定为 </a:t>
            </a:r>
            <a:r>
              <a:rPr sz="27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r>
              <a:rPr sz="27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，每条输出</a:t>
            </a:r>
            <a:r>
              <a:rPr sz="27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路径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43815" algn="l" rtl="0" eaLnBrk="0">
              <a:lnSpc>
                <a:spcPts val="3693"/>
              </a:lnSpc>
              <a:tabLst/>
            </a:pPr>
            <a:r>
              <a:rPr sz="2700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的权重之和也固定为</a:t>
            </a:r>
            <a:r>
              <a:rPr sz="2700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kern="0" spc="-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r>
              <a:rPr sz="2700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27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sp>
        <p:nvSpPr>
          <p:cNvPr id="356" name="textbox 356"/>
          <p:cNvSpPr/>
          <p:nvPr/>
        </p:nvSpPr>
        <p:spPr>
          <a:xfrm>
            <a:off x="1517472" y="6002604"/>
            <a:ext cx="14591664" cy="500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984"/>
              </a:lnSpc>
              <a:tabLst/>
            </a:pP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 T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 T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说 人 话</a:t>
            </a:r>
            <a:endParaRPr sz="8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10"/>
              </a:lnSpc>
              <a:spcBef>
                <a:spcPts val="7"/>
              </a:spcBef>
              <a:tabLst/>
            </a:pPr>
            <a:r>
              <a:rPr sz="13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想象每一层之间有一张水网 ：每个入口最多放 1 单位水进去，每个</a:t>
            </a:r>
            <a:r>
              <a:rPr sz="13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出口最多接 1 单位水出来。不管网络多深，</a:t>
            </a:r>
            <a:r>
              <a:rPr sz="1300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总水量永远守恒</a:t>
            </a:r>
            <a:r>
              <a:rPr sz="13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一这就是「双随机J</a:t>
            </a:r>
            <a:r>
              <a:rPr sz="1300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。护栏不是软约束，</a:t>
            </a:r>
            <a:r>
              <a:rPr sz="1300" kern="0" spc="-3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</a:t>
            </a:r>
            <a:r>
              <a:rPr sz="1300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数学意义上的不可破坏</a:t>
            </a:r>
            <a:r>
              <a:rPr sz="13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3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358" name="textbox 358"/>
          <p:cNvSpPr/>
          <p:nvPr/>
        </p:nvSpPr>
        <p:spPr>
          <a:xfrm>
            <a:off x="12323168" y="7612329"/>
            <a:ext cx="4566285" cy="1005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ts val="984"/>
              </a:lnSpc>
              <a:tabLst/>
            </a:pP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 EY</a:t>
            </a:r>
            <a:r>
              <a:rPr sz="8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R O P E</a:t>
            </a:r>
            <a:r>
              <a:rPr sz="8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TY</a:t>
            </a:r>
            <a:r>
              <a:rPr sz="8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0 3</a:t>
            </a:r>
            <a:endParaRPr sz="8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6000"/>
              </a:lnSpc>
              <a:spcBef>
                <a:spcPts val="1140"/>
              </a:spcBef>
              <a:tabLst/>
            </a:pP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可学可微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indent="2540" algn="l" rtl="0" eaLnBrk="0">
              <a:lnSpc>
                <a:spcPct val="140000"/>
              </a:lnSpc>
              <a:spcBef>
                <a:spcPts val="4"/>
              </a:spcBef>
              <a:tabLst/>
            </a:pP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通过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Sinkhorn</a:t>
            </a: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Knopp</a:t>
            </a: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迭代将任意矩阵投影到这个流形上，</a:t>
            </a:r>
            <a:r>
              <a:rPr sz="1000" kern="0" spc="-1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反向传播可直接优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化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6861931" y="7612329"/>
            <a:ext cx="4520565" cy="1004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ts val="984"/>
              </a:lnSpc>
              <a:tabLst/>
            </a:pP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 EY</a:t>
            </a:r>
            <a:r>
              <a:rPr sz="8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R O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P</a:t>
            </a:r>
            <a:r>
              <a:rPr sz="8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 R TY   0 2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1138"/>
              </a:spcBef>
              <a:tabLst/>
            </a:pP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乘法封闭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139000"/>
              </a:lnSpc>
              <a:spcBef>
                <a:spcPts val="5"/>
              </a:spcBef>
              <a:tabLst/>
            </a:pP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双随机矩阵的乘积仍是双随机矩阵，</a:t>
            </a:r>
            <a:r>
              <a:rPr sz="10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层层叠加后约束自动保持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一护栏不需要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反复校准。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1399724" y="7612329"/>
            <a:ext cx="4454525" cy="786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984"/>
              </a:lnSpc>
              <a:tabLst/>
            </a:pP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 EY</a:t>
            </a:r>
            <a:r>
              <a:rPr sz="8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R O P</a:t>
            </a: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TY</a:t>
            </a:r>
            <a:r>
              <a:rPr sz="8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0 1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46"/>
              </a:lnSpc>
              <a:spcBef>
                <a:spcPts val="882"/>
              </a:spcBef>
              <a:tabLst/>
            </a:pPr>
            <a:r>
              <a:rPr sz="16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谱范数</a:t>
            </a:r>
            <a:r>
              <a:rPr sz="16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≤</a:t>
            </a:r>
            <a:r>
              <a:rPr sz="1600" b="1" kern="0" spc="1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endParaRPr sz="16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52"/>
              </a:lnSpc>
              <a:spcBef>
                <a:spcPts val="3"/>
              </a:spcBef>
              <a:tabLst/>
            </a:pP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双随机矩阵的谱范数天然 ≤ 1</a:t>
            </a:r>
            <a:r>
              <a:rPr sz="1000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信号幅值不会被放大</a:t>
            </a: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一深层堆叠不再爆炸。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364" name="textbox 36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366" name="picture 3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368" name="textbox 368"/>
          <p:cNvSpPr/>
          <p:nvPr/>
        </p:nvSpPr>
        <p:spPr>
          <a:xfrm>
            <a:off x="15448521" y="517118"/>
            <a:ext cx="1687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·   m H C   ·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I N T U I T I O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70" name="textbox 370"/>
          <p:cNvSpPr/>
          <p:nvPr/>
        </p:nvSpPr>
        <p:spPr>
          <a:xfrm>
            <a:off x="1881827" y="9651594"/>
            <a:ext cx="161480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·  M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HC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INTUITION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72" name="picture 3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376" name="picture 3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00825" y="7372350"/>
            <a:ext cx="5086350" cy="19050"/>
          </a:xfrm>
          <a:prstGeom prst="rect">
            <a:avLst/>
          </a:prstGeom>
        </p:spPr>
      </p:pic>
      <p:pic>
        <p:nvPicPr>
          <p:cNvPr id="378" name="picture 3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7372350"/>
            <a:ext cx="5076825" cy="19050"/>
          </a:xfrm>
          <a:prstGeom prst="rect">
            <a:avLst/>
          </a:prstGeom>
        </p:spPr>
      </p:pic>
      <p:pic>
        <p:nvPicPr>
          <p:cNvPr id="380" name="picture 3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068175" y="7372350"/>
            <a:ext cx="5076825" cy="19050"/>
          </a:xfrm>
          <a:prstGeom prst="rect">
            <a:avLst/>
          </a:prstGeom>
        </p:spPr>
      </p:pic>
      <p:sp>
        <p:nvSpPr>
          <p:cNvPr id="382" name="textbox 382"/>
          <p:cNvSpPr/>
          <p:nvPr/>
        </p:nvSpPr>
        <p:spPr>
          <a:xfrm>
            <a:off x="16638997" y="9651594"/>
            <a:ext cx="50228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84" name="textbox 384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86" name="picture 38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43000" y="5715000"/>
            <a:ext cx="3810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1143000" y="3238500"/>
            <a:ext cx="8572500" cy="4619625"/>
            <a:chOff x="0" y="0"/>
            <a:chExt cx="8572500" cy="4619625"/>
          </a:xfrm>
        </p:grpSpPr>
        <p:sp>
          <p:nvSpPr>
            <p:cNvPr id="388" name="rect 388"/>
            <p:cNvSpPr/>
            <p:nvPr/>
          </p:nvSpPr>
          <p:spPr>
            <a:xfrm>
              <a:off x="0" y="0"/>
              <a:ext cx="8572500" cy="4619625"/>
            </a:xfrm>
            <a:prstGeom prst="rect">
              <a:avLst/>
            </a:prstGeom>
            <a:solidFill>
              <a:srgbClr val="F7F8F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0" name="textbox 390"/>
            <p:cNvSpPr/>
            <p:nvPr/>
          </p:nvSpPr>
          <p:spPr>
            <a:xfrm>
              <a:off x="402532" y="351650"/>
              <a:ext cx="2752725" cy="37376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52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605" algn="l" rtl="0" eaLnBrk="0">
                <a:lnSpc>
                  <a:spcPct val="74000"/>
                </a:lnSpc>
                <a:tabLst/>
              </a:pP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LY</a:t>
              </a:r>
              <a:r>
                <a:rPr sz="900" kern="0" spc="9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HA</a:t>
              </a:r>
              <a:r>
                <a:rPr sz="900" kern="0" spc="-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 I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</a:t>
              </a:r>
              <a:r>
                <a:rPr sz="900" kern="0" spc="10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RA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NT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5400" algn="l" rtl="0" eaLnBrk="0">
                <a:lnSpc>
                  <a:spcPct val="99000"/>
                </a:lnSpc>
                <a:spcBef>
                  <a:spcPts val="515"/>
                </a:spcBef>
                <a:tabLst/>
              </a:pPr>
              <a:r>
                <a:rPr sz="1600" i="1" kern="0" spc="-6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W  </a:t>
              </a:r>
              <a:r>
                <a:rPr sz="1700" i="1" kern="0" spc="-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∈</a:t>
              </a:r>
              <a:r>
                <a:rPr sz="1700" kern="0" spc="-2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600" i="1" kern="0" spc="-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陇</a:t>
              </a:r>
              <a:r>
                <a:rPr sz="2100" i="1" kern="0" spc="-60" baseline="29764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n×n</a:t>
              </a:r>
              <a:r>
                <a:rPr sz="1600" i="1" kern="0" spc="-6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,</a:t>
              </a:r>
              <a:r>
                <a:rPr sz="1600" i="1" kern="0" spc="6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</a:t>
              </a:r>
              <a:r>
                <a:rPr sz="2500" i="1" kern="0" spc="-60" baseline="-8334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W</a:t>
              </a:r>
              <a:r>
                <a:rPr sz="2100" i="1" kern="0" spc="-60" baseline="-9921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ij</a:t>
              </a:r>
              <a:r>
                <a:rPr sz="1300" i="1" kern="0" spc="-7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</a:t>
              </a:r>
              <a:r>
                <a:rPr sz="1600" i="1" kern="0" spc="-7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≥</a:t>
              </a:r>
              <a:r>
                <a:rPr sz="1600" i="1" kern="0" spc="9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600" i="1" kern="0" spc="-7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0</a:t>
              </a:r>
              <a:endParaRPr sz="1600" dirty="0">
                <a:latin typeface="Georgia"/>
                <a:ea typeface="Georgia"/>
                <a:cs typeface="Georgia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66420" algn="l" rtl="0" eaLnBrk="0">
                <a:lnSpc>
                  <a:spcPct val="88000"/>
                </a:lnSpc>
                <a:spcBef>
                  <a:spcPts val="512"/>
                </a:spcBef>
                <a:tabLst>
                  <a:tab pos="631825" algn="l"/>
                </a:tabLst>
              </a:pPr>
              <a:r>
                <a:rPr sz="16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	</a:t>
              </a:r>
              <a:r>
                <a:rPr sz="1600" i="1" kern="0" spc="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= 1  </a:t>
              </a:r>
              <a:r>
                <a:rPr sz="1700" i="1" kern="0" spc="1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（每行和</a:t>
              </a:r>
              <a:r>
                <a:rPr sz="1700" i="1" kern="0" spc="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为</a:t>
              </a:r>
              <a:r>
                <a:rPr sz="1600" i="1" kern="0" spc="0" dirty="0">
                  <a:solidFill>
                    <a:srgbClr val="999999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</a:t>
              </a:r>
              <a:r>
                <a:rPr sz="1700" i="1" kern="0" spc="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）</a:t>
              </a:r>
              <a:endParaRPr sz="17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518"/>
                </a:spcBef>
                <a:tabLst/>
              </a:pPr>
              <a:r>
                <a:rPr sz="1600" i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∑</a:t>
              </a:r>
              <a:r>
                <a:rPr sz="2100" i="1" kern="0" spc="-10" baseline="-9921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i</a:t>
              </a:r>
              <a:r>
                <a:rPr sz="2500" i="1" kern="0" spc="-10" baseline="-8334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W</a:t>
              </a:r>
              <a:r>
                <a:rPr sz="2100" i="1" kern="0" spc="-10" baseline="-9921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ij</a:t>
              </a:r>
              <a:r>
                <a:rPr sz="1300" i="1" kern="0" spc="20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2500" i="1" kern="0" spc="-10" baseline="2083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=</a:t>
              </a:r>
              <a:r>
                <a:rPr sz="1600" i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1</a:t>
              </a:r>
              <a:r>
                <a:rPr sz="1600" i="1" kern="0" spc="7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</a:t>
              </a:r>
              <a:r>
                <a:rPr sz="1700" i="1" kern="0" spc="-1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（每列</a:t>
              </a:r>
              <a:r>
                <a:rPr sz="1700" i="1" kern="0" spc="-2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和为</a:t>
              </a:r>
              <a:r>
                <a:rPr sz="1700" kern="0" spc="-2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600" i="1" kern="0" spc="-20" dirty="0">
                  <a:solidFill>
                    <a:srgbClr val="999999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</a:t>
              </a:r>
              <a:r>
                <a:rPr sz="1700" i="1" kern="0" spc="-2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）</a:t>
              </a:r>
              <a:endParaRPr sz="17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195" algn="l" rtl="0" eaLnBrk="0">
                <a:lnSpc>
                  <a:spcPts val="2103"/>
                </a:lnSpc>
                <a:spcBef>
                  <a:spcPts val="520"/>
                </a:spcBef>
                <a:tabLst/>
              </a:pPr>
              <a:r>
                <a:rPr sz="1700" i="1" kern="0" spc="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→</a:t>
              </a:r>
              <a:r>
                <a:rPr sz="1700" kern="0" spc="52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700" b="1" i="1" kern="0" spc="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‖</a:t>
              </a:r>
              <a:r>
                <a:rPr sz="1600" b="1" i="1" kern="0" spc="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W</a:t>
              </a:r>
              <a:r>
                <a:rPr sz="1600" b="1" i="1" kern="0" spc="18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700" b="1" i="1" kern="0" spc="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‖</a:t>
              </a:r>
              <a:r>
                <a:rPr sz="2100" b="1" i="1" kern="0" spc="0" baseline="-10048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</a:t>
              </a:r>
              <a:r>
                <a:rPr sz="1300" b="1" i="1" kern="0" spc="27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600" b="1" i="1" kern="0" spc="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≤ 1</a:t>
              </a:r>
              <a:r>
                <a:rPr sz="1600" b="1" i="1" kern="0" spc="3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</a:t>
              </a:r>
              <a:r>
                <a:rPr sz="1100" i="1" kern="0" spc="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谱范数有界</a:t>
              </a:r>
              <a:endParaRPr sz="11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6000"/>
                </a:lnSpc>
                <a:spcBef>
                  <a:spcPts val="4"/>
                </a:spcBef>
                <a:tabLst/>
              </a:pPr>
              <a:r>
                <a:rPr sz="1700" i="1" kern="0" spc="-8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→</a:t>
              </a:r>
              <a:r>
                <a:rPr sz="1700" kern="0" spc="-16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600" b="1" i="1" kern="0" spc="-8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W</a:t>
              </a:r>
              <a:r>
                <a:rPr sz="2100" b="1" i="1" kern="0" spc="-80" baseline="-17362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</a:t>
              </a:r>
              <a:r>
                <a:rPr sz="1300" b="1" i="1" kern="0" spc="23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600" b="1" i="1" kern="0" spc="-8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·</a:t>
              </a:r>
              <a:r>
                <a:rPr sz="1600" b="1" i="1" kern="0" spc="12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600" b="1" i="1" kern="0" spc="-8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W</a:t>
              </a:r>
              <a:r>
                <a:rPr sz="2100" b="1" i="1" kern="0" spc="-80" baseline="-17362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</a:t>
              </a:r>
              <a:r>
                <a:rPr sz="1300" b="1" i="1" kern="0" spc="5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</a:t>
              </a:r>
              <a:r>
                <a:rPr sz="1700" i="1" kern="0" spc="-8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仍是双随机矩</a:t>
              </a:r>
              <a:r>
                <a:rPr sz="1700" i="1" kern="0" spc="-9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阵</a:t>
              </a:r>
              <a:endParaRPr sz="17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392" name="picture 3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415232" y="1557661"/>
              <a:ext cx="553811" cy="236371"/>
            </a:xfrm>
            <a:prstGeom prst="rect">
              <a:avLst/>
            </a:prstGeom>
          </p:spPr>
        </p:pic>
        <p:pic>
          <p:nvPicPr>
            <p:cNvPr id="394" name="picture 39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8575" cy="4619625"/>
            </a:xfrm>
            <a:prstGeom prst="rect">
              <a:avLst/>
            </a:prstGeom>
          </p:spPr>
        </p:pic>
        <p:pic>
          <p:nvPicPr>
            <p:cNvPr id="396" name="picture 39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09575" y="2819400"/>
              <a:ext cx="7781925" cy="9525"/>
            </a:xfrm>
            <a:prstGeom prst="rect">
              <a:avLst/>
            </a:prstGeom>
          </p:spPr>
        </p:pic>
      </p:grpSp>
      <p:graphicFrame>
        <p:nvGraphicFramePr>
          <p:cNvPr id="398" name="table 398"/>
          <p:cNvGraphicFramePr>
            <a:graphicFrameLocks noGrp="1"/>
          </p:cNvGraphicFramePr>
          <p:nvPr/>
        </p:nvGraphicFramePr>
        <p:xfrm>
          <a:off x="10477500" y="3238500"/>
          <a:ext cx="6667500" cy="2876550"/>
        </p:xfrm>
        <a:graphic>
          <a:graphicData uri="http://schemas.openxmlformats.org/drawingml/2006/table">
            <a:tbl>
              <a:tblPr/>
              <a:tblGrid>
                <a:gridCol w="6667500"/>
              </a:tblGrid>
              <a:tr h="14427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ts val="1208"/>
                        </a:lnSpc>
                        <a:tabLst/>
                      </a:pPr>
                      <a:r>
                        <a:rPr sz="9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INSIGHT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0</a:t>
                      </a:r>
                      <a:r>
                        <a:rPr sz="9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  ·</a:t>
                      </a:r>
                      <a:r>
                        <a:rPr sz="900" b="1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</a:t>
                      </a:r>
                      <a:r>
                        <a:rPr sz="900" kern="0" spc="-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什</a:t>
                      </a:r>
                      <a:r>
                        <a:rPr sz="900" kern="0" spc="-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么</a:t>
                      </a:r>
                      <a:r>
                        <a:rPr sz="900" kern="0" spc="-1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</a:t>
                      </a:r>
                      <a:r>
                        <a:rPr sz="900" kern="0" spc="-1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</a:t>
                      </a:r>
                      <a:r>
                        <a:rPr sz="900" kern="0" spc="-1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束</a:t>
                      </a:r>
                      <a:r>
                        <a:rPr sz="900" kern="0" spc="-1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「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行</a:t>
                      </a:r>
                      <a:r>
                        <a:rPr sz="900" kern="0" spc="-1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和</a:t>
                      </a:r>
                      <a:r>
                        <a:rPr sz="9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=  1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」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10795" algn="l" rtl="0" eaLnBrk="0">
                        <a:lnSpc>
                          <a:spcPts val="2045"/>
                        </a:lnSpc>
                        <a:spcBef>
                          <a:spcPts val="484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入度守恒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5080" algn="l" rtl="0" eaLnBrk="0">
                        <a:lnSpc>
                          <a:spcPts val="1342"/>
                        </a:lnSpc>
                        <a:spcBef>
                          <a:spcPts val="75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每个下游节点收到的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信号权重之和固定为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1100" kern="0" spc="-1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4445" algn="l" rtl="0" eaLnBrk="0">
                        <a:lnSpc>
                          <a:spcPts val="1861"/>
                        </a:lnSpc>
                        <a:tabLst/>
                      </a:pP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所有来源贡献之和不会被无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限放大。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38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ts val="1208"/>
                        </a:lnSpc>
                        <a:tabLst/>
                      </a:pPr>
                      <a:r>
                        <a:rPr sz="9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INSIGHT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0</a:t>
                      </a:r>
                      <a:r>
                        <a:rPr sz="900" b="1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</a:t>
                      </a:r>
                      <a:r>
                        <a:rPr sz="900" b="1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</a:t>
                      </a:r>
                      <a:r>
                        <a:rPr sz="900" kern="0" spc="-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什</a:t>
                      </a:r>
                      <a:r>
                        <a:rPr sz="900" kern="0" spc="-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么</a:t>
                      </a:r>
                      <a:r>
                        <a:rPr sz="900" kern="0" spc="-1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</a:t>
                      </a:r>
                      <a:r>
                        <a:rPr sz="900" kern="0" spc="-1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</a:t>
                      </a:r>
                      <a:r>
                        <a:rPr sz="900" kern="0" spc="-1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束</a:t>
                      </a:r>
                      <a:r>
                        <a:rPr sz="900" kern="0" spc="-1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「</a:t>
                      </a:r>
                      <a:r>
                        <a:rPr sz="9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列</a:t>
                      </a:r>
                      <a:r>
                        <a:rPr sz="900" kern="0" spc="-1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和</a:t>
                      </a:r>
                      <a:r>
                        <a:rPr sz="9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=  1 </a:t>
                      </a:r>
                      <a:r>
                        <a:rPr sz="900" b="1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」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19050" algn="l" rtl="0" eaLnBrk="0">
                        <a:lnSpc>
                          <a:spcPts val="2045"/>
                        </a:lnSpc>
                        <a:spcBef>
                          <a:spcPts val="484"/>
                        </a:spcBef>
                        <a:tabLst/>
                      </a:pPr>
                      <a:r>
                        <a:rPr sz="16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出度守恒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5080" algn="l" rtl="0" eaLnBrk="0">
                        <a:lnSpc>
                          <a:spcPts val="1342"/>
                        </a:lnSpc>
                        <a:spcBef>
                          <a:spcPts val="75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每个上游节点流出的信号权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重之和也固定为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1100" kern="0" spc="-1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6350" algn="l" rtl="0" eaLnBrk="0">
                        <a:lnSpc>
                          <a:spcPts val="1861"/>
                        </a:lnSpc>
                        <a:tabLst/>
                      </a:pP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能量不会在某条路径上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独占。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0" name="textbox 400"/>
          <p:cNvSpPr/>
          <p:nvPr/>
        </p:nvSpPr>
        <p:spPr>
          <a:xfrm>
            <a:off x="1130300" y="1383893"/>
            <a:ext cx="4367530" cy="895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 学 本 质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ts val="4277"/>
              </a:lnSpc>
              <a:tabLst/>
            </a:pPr>
            <a:r>
              <a:rPr sz="34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双随机矩阵的两个约束</a:t>
            </a:r>
            <a:endParaRPr sz="34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402" name="picture 4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sp>
        <p:nvSpPr>
          <p:cNvPr id="404" name="textbox 404"/>
          <p:cNvSpPr/>
          <p:nvPr/>
        </p:nvSpPr>
        <p:spPr>
          <a:xfrm>
            <a:off x="10468639" y="6310299"/>
            <a:ext cx="2841625" cy="1032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08"/>
              </a:lnSpc>
              <a:tabLst/>
            </a:pP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INSIGHT</a:t>
            </a:r>
            <a:r>
              <a:rPr sz="900" b="1" kern="0" spc="1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0</a:t>
            </a:r>
            <a:r>
              <a:rPr sz="900" b="1" kern="0" spc="-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1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</a:t>
            </a:r>
            <a:r>
              <a:rPr sz="900" b="1" kern="0" spc="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900" b="1" kern="0" spc="1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 </a:t>
            </a:r>
            <a:r>
              <a:rPr sz="900" b="1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组</a:t>
            </a:r>
            <a:r>
              <a:rPr sz="900" kern="0" spc="-1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合</a:t>
            </a:r>
            <a:r>
              <a:rPr sz="900" kern="0" spc="-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起</a:t>
            </a:r>
            <a:r>
              <a:rPr sz="900" kern="0" spc="-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来</a:t>
            </a:r>
            <a:r>
              <a:rPr sz="900" kern="0" spc="-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意</a:t>
            </a:r>
            <a:r>
              <a:rPr sz="900" kern="0" spc="-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味</a:t>
            </a:r>
            <a:r>
              <a:rPr sz="900" kern="0" spc="-1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着</a:t>
            </a:r>
            <a:r>
              <a:rPr sz="900" kern="0" spc="-1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7780" algn="l" rtl="0" eaLnBrk="0">
              <a:lnSpc>
                <a:spcPct val="86000"/>
              </a:lnSpc>
              <a:spcBef>
                <a:spcPts val="739"/>
              </a:spcBef>
              <a:tabLst/>
            </a:pP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深层堆叠天然稳定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145" indent="-3175" algn="l" rtl="0" eaLnBrk="0">
              <a:lnSpc>
                <a:spcPct val="145000"/>
              </a:lnSpc>
              <a:spcBef>
                <a:spcPts val="2"/>
              </a:spcBef>
              <a:tabLst/>
            </a:pP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每一层的残差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transform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都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落在这个流形上，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61</a:t>
            </a:r>
            <a:r>
              <a:rPr sz="1100" kern="0" spc="1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层连乘仍然不放大</a:t>
            </a:r>
            <a:r>
              <a:rPr sz="1100" kern="0" spc="-1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、不衰</a:t>
            </a:r>
            <a:r>
              <a:rPr sz="11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减。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406" name="textbox 40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1137977" y="9651594"/>
            <a:ext cx="200025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HC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410" name="picture 4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412" name="picture 4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sp>
        <p:nvSpPr>
          <p:cNvPr id="414" name="textbox 414"/>
          <p:cNvSpPr/>
          <p:nvPr/>
        </p:nvSpPr>
        <p:spPr>
          <a:xfrm>
            <a:off x="15828628" y="517118"/>
            <a:ext cx="130746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HC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416" name="picture 4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418" name="textbox 418"/>
          <p:cNvSpPr/>
          <p:nvPr/>
        </p:nvSpPr>
        <p:spPr>
          <a:xfrm>
            <a:off x="16636020" y="9651594"/>
            <a:ext cx="50546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7 2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box 420"/>
          <p:cNvSpPr/>
          <p:nvPr/>
        </p:nvSpPr>
        <p:spPr>
          <a:xfrm>
            <a:off x="1130300" y="1383893"/>
            <a:ext cx="8126730" cy="4411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代 价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5022"/>
              </a:lnSpc>
              <a:spcBef>
                <a:spcPts val="1374"/>
              </a:spcBef>
              <a:tabLst/>
            </a:pPr>
            <a:r>
              <a:rPr sz="4000" b="1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每一层要投影回流形</a:t>
            </a:r>
            <a:r>
              <a:rPr sz="4000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0" b="1" kern="0" spc="-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4000" b="1" kern="0" spc="4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100" b="1" i="1" kern="0" spc="-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这不是免费的</a:t>
            </a:r>
            <a:endParaRPr sz="4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9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 I N K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 O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 O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迭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代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次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/  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 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/  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前 向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4710" algn="l" rtl="0" eaLnBrk="0">
              <a:lnSpc>
                <a:spcPct val="78000"/>
              </a:lnSpc>
              <a:spcBef>
                <a:spcPts val="1030"/>
              </a:spcBef>
              <a:tabLst/>
            </a:pPr>
            <a:r>
              <a:rPr sz="3400" b="1" kern="0" spc="-1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iters</a:t>
            </a:r>
            <a:endParaRPr sz="34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ts val="2045"/>
              </a:lnSpc>
              <a:spcBef>
                <a:spcPts val="481"/>
              </a:spcBef>
              <a:tabLst/>
            </a:pPr>
            <a:r>
              <a:rPr sz="16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把任意矩阵投影到双随机流形上的经典算法，  </a:t>
            </a:r>
            <a:r>
              <a:rPr sz="1600" b="1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交替</a:t>
            </a: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归一化行和列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20 </a:t>
            </a: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次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marL="20320" algn="l" rtl="0" eaLnBrk="0">
              <a:lnSpc>
                <a:spcPts val="2427"/>
              </a:lnSpc>
              <a:tabLst/>
            </a:pPr>
            <a:r>
              <a:rPr sz="16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足以让误差衰减到可忽略。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422" name="picture 4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graphicFrame>
        <p:nvGraphicFramePr>
          <p:cNvPr id="424" name="table 424"/>
          <p:cNvGraphicFramePr>
            <a:graphicFrameLocks noGrp="1"/>
          </p:cNvGraphicFramePr>
          <p:nvPr/>
        </p:nvGraphicFramePr>
        <p:xfrm>
          <a:off x="10287000" y="3343275"/>
          <a:ext cx="6857364" cy="2342515"/>
        </p:xfrm>
        <a:graphic>
          <a:graphicData uri="http://schemas.openxmlformats.org/drawingml/2006/table">
            <a:tbl>
              <a:tblPr/>
              <a:tblGrid>
                <a:gridCol w="4098925"/>
                <a:gridCol w="2758440"/>
              </a:tblGrid>
              <a:tr h="7378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2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1F1B</a:t>
                      </a:r>
                      <a:r>
                        <a:rPr sz="1200" kern="0" spc="1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pipeline</a:t>
                      </a:r>
                      <a:r>
                        <a:rPr sz="1200" kern="0" spc="1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中的时间占比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6.7%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借助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fused</a:t>
                      </a:r>
                      <a:r>
                        <a:rPr sz="1200" kern="0" spc="1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kernel</a:t>
                      </a:r>
                      <a:r>
                        <a:rPr sz="12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合并投影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✓</a:t>
                      </a:r>
                      <a:endParaRPr sz="18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借助重计算省显存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✓</a:t>
                      </a:r>
                      <a:endParaRPr sz="18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8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最终训练吞吐损失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6000"/>
                        </a:lnSpc>
                        <a:tabLst/>
                      </a:pPr>
                      <a:r>
                        <a:rPr sz="1800" b="1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≈</a:t>
                      </a:r>
                      <a:r>
                        <a:rPr sz="1800" b="1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800" b="1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5%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6" name="textbox 426"/>
          <p:cNvSpPr/>
          <p:nvPr/>
        </p:nvSpPr>
        <p:spPr>
          <a:xfrm>
            <a:off x="1136167" y="8687226"/>
            <a:ext cx="9451340" cy="236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mHC</a:t>
            </a:r>
            <a:r>
              <a:rPr sz="1600" kern="0" spc="1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不是性能游戏，是 </a:t>
            </a:r>
            <a:r>
              <a:rPr sz="1600" b="1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可训练性</a:t>
            </a:r>
            <a:r>
              <a:rPr sz="16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游戏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让 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1.6 T</a:t>
            </a:r>
            <a:r>
              <a:rPr sz="1600" kern="0" spc="1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61 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层的模型从「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训不出来」变成「稳稳训下来」。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1216710" y="3803015"/>
            <a:ext cx="2015490" cy="1111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8553"/>
              </a:lnSpc>
              <a:tabLst/>
            </a:pPr>
            <a:r>
              <a:rPr sz="12600" b="1" kern="0" spc="-5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20</a:t>
            </a:r>
            <a:endParaRPr sz="12600" dirty="0">
              <a:latin typeface="Georgia"/>
              <a:ea typeface="Georgia"/>
              <a:cs typeface="Georgia"/>
            </a:endParaRPr>
          </a:p>
        </p:txBody>
      </p:sp>
      <p:sp>
        <p:nvSpPr>
          <p:cNvPr id="430" name="textbox 430"/>
          <p:cNvSpPr/>
          <p:nvPr/>
        </p:nvSpPr>
        <p:spPr>
          <a:xfrm>
            <a:off x="10294000" y="5915203"/>
            <a:ext cx="5560695" cy="158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000" i="1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代价看起来不小，</a:t>
            </a:r>
            <a:r>
              <a:rPr sz="1000" kern="0" spc="-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但考虑到</a:t>
            </a:r>
            <a:r>
              <a:rPr sz="10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深层稳定性的回报</a:t>
            </a:r>
            <a:r>
              <a:rPr sz="1000" kern="0" spc="-2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000" kern="0" spc="-2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否则连训练都跑不完</a:t>
            </a:r>
            <a:r>
              <a:rPr sz="1000" i="1" kern="0" spc="-2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），</a:t>
            </a:r>
            <a:r>
              <a:rPr sz="1000" kern="0" spc="-1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</a:t>
            </a:r>
            <a:r>
              <a:rPr sz="1000" i="1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是极其划算的交易。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432" name="textbox 43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434" name="picture 4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8372475"/>
            <a:ext cx="16002000" cy="19050"/>
          </a:xfrm>
          <a:prstGeom prst="rect">
            <a:avLst/>
          </a:prstGeom>
        </p:spPr>
      </p:pic>
      <p:pic>
        <p:nvPicPr>
          <p:cNvPr id="436" name="picture 4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438" name="picture 4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sp>
        <p:nvSpPr>
          <p:cNvPr id="440" name="textbox 440"/>
          <p:cNvSpPr/>
          <p:nvPr/>
        </p:nvSpPr>
        <p:spPr>
          <a:xfrm>
            <a:off x="15836813" y="517118"/>
            <a:ext cx="129921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4  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HC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COST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442" name="textbox 442"/>
          <p:cNvSpPr/>
          <p:nvPr/>
        </p:nvSpPr>
        <p:spPr>
          <a:xfrm>
            <a:off x="1881827" y="9651594"/>
            <a:ext cx="124587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HC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COST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444" name="picture 4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446" name="textbox 446"/>
          <p:cNvSpPr/>
          <p:nvPr/>
        </p:nvSpPr>
        <p:spPr>
          <a:xfrm>
            <a:off x="10280244" y="3064713"/>
            <a:ext cx="970914" cy="141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工程层面的摊销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16634085" y="9651594"/>
            <a:ext cx="50736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450" name="textbox 450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 rot="21600000">
            <a:off x="1535925" y="3333750"/>
            <a:ext cx="14670863" cy="4402264"/>
            <a:chOff x="0" y="0"/>
            <a:chExt cx="14670863" cy="4402264"/>
          </a:xfrm>
        </p:grpSpPr>
        <p:pic>
          <p:nvPicPr>
            <p:cNvPr id="452" name="picture 4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545287" y="0"/>
              <a:ext cx="14125575" cy="3817143"/>
            </a:xfrm>
            <a:prstGeom prst="rect">
              <a:avLst/>
            </a:prstGeom>
          </p:spPr>
        </p:pic>
        <p:sp>
          <p:nvSpPr>
            <p:cNvPr id="454" name="textbox 454"/>
            <p:cNvSpPr/>
            <p:nvPr/>
          </p:nvSpPr>
          <p:spPr>
            <a:xfrm>
              <a:off x="552008" y="4006669"/>
              <a:ext cx="14103350" cy="425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40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0000"/>
                </a:lnSpc>
                <a:tabLst/>
              </a:pP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                                                                                                                      8  T                                                                                                                      1</a:t>
              </a:r>
              <a:r>
                <a:rPr sz="8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  T                                                                                                                     2</a:t>
              </a:r>
              <a:r>
                <a:rPr sz="800" kern="0" spc="-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  T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                                               3</a:t>
              </a:r>
              <a:r>
                <a:rPr sz="800" kern="0" spc="-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8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6307455" algn="l" rtl="0" eaLnBrk="0">
                <a:lnSpc>
                  <a:spcPct val="74000"/>
                </a:lnSpc>
                <a:spcBef>
                  <a:spcPts val="1"/>
                </a:spcBef>
                <a:tabLst/>
              </a:pP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</a:t>
              </a:r>
              <a:r>
                <a:rPr sz="900" kern="0" spc="6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</a:t>
              </a:r>
              <a:r>
                <a:rPr sz="900" kern="0" spc="6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NS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ROC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ESS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456" name="textbox 456"/>
            <p:cNvSpPr/>
            <p:nvPr/>
          </p:nvSpPr>
          <p:spPr>
            <a:xfrm>
              <a:off x="11935117" y="711847"/>
              <a:ext cx="1430020" cy="7073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8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240" algn="l" rtl="0" eaLnBrk="0">
                <a:lnSpc>
                  <a:spcPct val="87000"/>
                </a:lnSpc>
                <a:tabLst/>
              </a:pPr>
              <a:r>
                <a:rPr sz="900" kern="0" spc="3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Baseline</a:t>
              </a:r>
              <a:r>
                <a:rPr sz="900" kern="0" spc="25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900" kern="0" spc="12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无</a:t>
              </a:r>
              <a:r>
                <a:rPr sz="900" kern="0" spc="14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3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mHC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indent="3810" algn="l" rtl="0" eaLnBrk="0">
                <a:lnSpc>
                  <a:spcPct val="145000"/>
                </a:lnSpc>
                <a:spcBef>
                  <a:spcPts val="78"/>
                </a:spcBef>
                <a:tabLst/>
              </a:pP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多次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loss</a:t>
              </a:r>
              <a:r>
                <a:rPr sz="800" kern="0" spc="10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spike</a:t>
              </a:r>
              <a:r>
                <a:rPr sz="800" kern="0" spc="-1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，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40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层后失稳</a:t>
              </a:r>
              <a:r>
                <a:rPr sz="900" kern="0" spc="6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DeepSeek-V4</a:t>
              </a:r>
              <a:r>
                <a:rPr sz="900" kern="0" spc="24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6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900" kern="0" spc="11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5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含 </a:t>
              </a:r>
              <a:r>
                <a:rPr sz="900" kern="0" spc="5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mHC</a:t>
              </a:r>
              <a:r>
                <a:rPr sz="800" kern="0" spc="4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平滑收敛到 </a:t>
              </a:r>
              <a:r>
                <a:rPr sz="8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33</a:t>
              </a:r>
              <a:r>
                <a:rPr sz="8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r>
                <a:rPr sz="800" kern="0" spc="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tokens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458" name="textbox 458"/>
            <p:cNvSpPr/>
            <p:nvPr/>
          </p:nvSpPr>
          <p:spPr>
            <a:xfrm rot="16200000">
              <a:off x="-515848" y="1428070"/>
              <a:ext cx="1116965" cy="1447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9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4000"/>
                </a:lnSpc>
                <a:spcBef>
                  <a:spcPts val="1"/>
                </a:spcBef>
                <a:tabLst/>
              </a:pP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 RA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 I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NG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LO</a:t>
              </a:r>
              <a:r>
                <a:rPr sz="900" kern="0" spc="-7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r>
                <a:rPr sz="900" kern="0" spc="-7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460" name="textbox 460"/>
            <p:cNvSpPr/>
            <p:nvPr/>
          </p:nvSpPr>
          <p:spPr>
            <a:xfrm>
              <a:off x="144373" y="-774"/>
              <a:ext cx="323215" cy="1276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16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4000"/>
                </a:lnSpc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HIGH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462" name="textbox 462"/>
            <p:cNvSpPr/>
            <p:nvPr/>
          </p:nvSpPr>
          <p:spPr>
            <a:xfrm>
              <a:off x="169971" y="3761600"/>
              <a:ext cx="297815" cy="1276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53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4000"/>
                </a:lnSpc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LOW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64" name="textbox 464"/>
          <p:cNvSpPr/>
          <p:nvPr/>
        </p:nvSpPr>
        <p:spPr>
          <a:xfrm>
            <a:off x="1130300" y="1383893"/>
            <a:ext cx="4941570" cy="959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效 果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4000" b="1" kern="0" spc="-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Loss</a:t>
            </a:r>
            <a:r>
              <a:rPr sz="4000" b="1" kern="0" spc="4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000" b="1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曲线再也不</a:t>
            </a:r>
            <a:r>
              <a:rPr sz="4100" b="1" i="1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炸飞</a:t>
            </a:r>
            <a:endParaRPr sz="41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466" name="picture 4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sp>
        <p:nvSpPr>
          <p:cNvPr id="468" name="textbox 468"/>
          <p:cNvSpPr/>
          <p:nvPr/>
        </p:nvSpPr>
        <p:spPr>
          <a:xfrm>
            <a:off x="1131043" y="8281012"/>
            <a:ext cx="4959350" cy="647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9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TAKE</a:t>
            </a:r>
            <a:r>
              <a:rPr sz="900" b="1" kern="0" spc="-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AWAY  0</a:t>
            </a:r>
            <a:r>
              <a:rPr sz="900" b="1" kern="0" spc="-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endParaRPr sz="9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9050" indent="5080" algn="l" rtl="0" eaLnBrk="0">
              <a:lnSpc>
                <a:spcPct val="128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baseline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 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8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tokens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后出现 </a:t>
            </a:r>
            <a:r>
              <a:rPr sz="12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3 </a:t>
            </a:r>
            <a:r>
              <a:rPr sz="12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次显著 </a:t>
            </a:r>
            <a:r>
              <a:rPr sz="12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loss spike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，每次都需要重启或跳</a:t>
            </a: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批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470" name="textbox 470"/>
          <p:cNvSpPr/>
          <p:nvPr/>
        </p:nvSpPr>
        <p:spPr>
          <a:xfrm>
            <a:off x="6591993" y="8281012"/>
            <a:ext cx="4490085" cy="407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9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TAKE</a:t>
            </a:r>
            <a:r>
              <a:rPr sz="900" b="1" kern="0" spc="-9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AWAY  0</a:t>
            </a:r>
            <a:r>
              <a:rPr sz="900" b="1" kern="0" spc="-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</a:t>
            </a:r>
            <a:endParaRPr sz="9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9000"/>
              </a:lnSpc>
              <a:spcBef>
                <a:spcPts val="6"/>
              </a:spcBef>
              <a:tabLst/>
            </a:pP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加入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mHC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后，</a:t>
            </a:r>
            <a:r>
              <a:rPr sz="12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61</a:t>
            </a:r>
            <a:r>
              <a:rPr sz="12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层网络全程稳定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，完整跑完 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33 T 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预训练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budget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472" name="textbox 472"/>
          <p:cNvSpPr/>
          <p:nvPr/>
        </p:nvSpPr>
        <p:spPr>
          <a:xfrm>
            <a:off x="12052943" y="8281012"/>
            <a:ext cx="4011295" cy="407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9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TAKE</a:t>
            </a:r>
            <a:r>
              <a:rPr sz="900" b="1" kern="0" spc="-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AWAY  0</a:t>
            </a:r>
            <a:r>
              <a:rPr sz="900" b="1" kern="0" spc="-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</a:t>
            </a:r>
            <a:endParaRPr sz="9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9000"/>
              </a:lnSpc>
              <a:tabLst/>
            </a:pP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本页曲线为复刻论文 </a:t>
            </a: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§2.2 Fig.3 </a:t>
            </a: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12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示意</a:t>
            </a: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，具体数值请查 </a:t>
            </a: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PDF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474" name="textbox 47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476" name="picture 4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8020050"/>
            <a:ext cx="16002000" cy="19050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480" name="textbox 480"/>
          <p:cNvSpPr/>
          <p:nvPr/>
        </p:nvSpPr>
        <p:spPr>
          <a:xfrm>
            <a:off x="15685008" y="517118"/>
            <a:ext cx="145097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   · 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 H C   ·   E F F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 CT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482" name="textbox 482"/>
          <p:cNvSpPr/>
          <p:nvPr/>
        </p:nvSpPr>
        <p:spPr>
          <a:xfrm>
            <a:off x="1881827" y="9651594"/>
            <a:ext cx="139128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HC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EFFECT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484" name="picture 4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pic>
        <p:nvPicPr>
          <p:cNvPr id="486" name="picture 4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488" name="textbox 488"/>
          <p:cNvSpPr/>
          <p:nvPr/>
        </p:nvSpPr>
        <p:spPr>
          <a:xfrm>
            <a:off x="16637211" y="9651594"/>
            <a:ext cx="5041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7 2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490" name="textbox 490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extbox 492"/>
          <p:cNvSpPr/>
          <p:nvPr/>
        </p:nvSpPr>
        <p:spPr>
          <a:xfrm>
            <a:off x="1997075" y="2985486"/>
            <a:ext cx="12217400" cy="427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500" b="1" kern="0" spc="29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02</a:t>
            </a:r>
            <a:r>
              <a:rPr sz="1500" b="1" kern="0" spc="13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</a:t>
            </a:r>
            <a:r>
              <a:rPr sz="1300" b="1" strike="sngStrike" kern="0" spc="-2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strike="sngStrike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MHC</a:t>
            </a:r>
            <a:r>
              <a:rPr sz="1300" strike="sngStrike" kern="0" spc="3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strike="sngStrike" kern="0" spc="2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300" strike="sngStrike" kern="0" spc="3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strike="sngStrike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RESIDUAL</a:t>
            </a:r>
            <a:r>
              <a:rPr sz="1300" strike="sngStrike" kern="0" spc="3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strike="sngStrike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BACKBONE</a:t>
            </a:r>
            <a:r>
              <a:rPr sz="1300" strike="sngStrike" kern="0" spc="2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strike="sngStrike" kern="0" spc="2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升级</a:t>
            </a:r>
            <a:endParaRPr sz="13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89000"/>
              </a:lnSpc>
              <a:spcBef>
                <a:spcPts val="1398"/>
              </a:spcBef>
              <a:tabLst/>
            </a:pPr>
            <a:r>
              <a:rPr sz="1500" b="1" kern="0" spc="9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03</a:t>
            </a:r>
            <a:r>
              <a:rPr sz="15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</a:t>
            </a:r>
            <a:r>
              <a:rPr sz="13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HYBRID</a:t>
            </a:r>
            <a:r>
              <a:rPr sz="1300" kern="0" spc="2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1300" kern="0" spc="3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300" kern="0" spc="2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CSA</a:t>
            </a:r>
            <a:r>
              <a:rPr sz="1300" kern="0" spc="2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1300" kern="0" spc="3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HCA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98000"/>
              </a:lnSpc>
              <a:spcBef>
                <a:spcPts val="2166"/>
              </a:spcBef>
              <a:tabLst/>
            </a:pPr>
            <a:r>
              <a:rPr sz="7200" b="1" kern="0" spc="-1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解决了深度，</a:t>
            </a:r>
            <a:endParaRPr sz="7200" dirty="0">
              <a:latin typeface="PingFang SC"/>
              <a:ea typeface="PingFang SC"/>
              <a:cs typeface="PingFang SC"/>
            </a:endParaRPr>
          </a:p>
          <a:p>
            <a:pPr marL="24130" algn="l" rtl="0" eaLnBrk="0">
              <a:lnSpc>
                <a:spcPct val="95000"/>
              </a:lnSpc>
              <a:spcBef>
                <a:spcPts val="4"/>
              </a:spcBef>
              <a:tabLst/>
            </a:pPr>
            <a:r>
              <a:rPr sz="7200" b="1" kern="0" spc="-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接下来解决</a:t>
            </a:r>
            <a:r>
              <a:rPr sz="7400" b="1" i="1" kern="0" spc="-1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长度</a:t>
            </a:r>
            <a:endParaRPr sz="74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2891"/>
              </a:lnSpc>
              <a:spcBef>
                <a:spcPts val="638"/>
              </a:spcBef>
              <a:tabLst/>
            </a:pPr>
            <a:r>
              <a:rPr sz="2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mHC </a:t>
            </a:r>
            <a:r>
              <a:rPr sz="2100" i="1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让</a:t>
            </a:r>
            <a:r>
              <a:rPr sz="2100" kern="0" spc="-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61  </a:t>
            </a:r>
            <a:r>
              <a:rPr sz="2100" i="1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层能稳稳叠起来。下一幕的问题是：当上下文从</a:t>
            </a:r>
            <a:r>
              <a:rPr sz="2100" kern="0" spc="-3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4K </a:t>
            </a:r>
            <a:r>
              <a:rPr sz="2100" i="1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推到</a:t>
            </a:r>
            <a:r>
              <a:rPr sz="2100" kern="0" spc="-2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1M</a:t>
            </a:r>
            <a:r>
              <a:rPr sz="2100" i="1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，注意力机制怎么不被</a:t>
            </a:r>
            <a:r>
              <a:rPr sz="2100" kern="0" spc="-1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KVcache</a:t>
            </a:r>
            <a:endParaRPr sz="2100" dirty="0">
              <a:latin typeface="Georgia"/>
              <a:ea typeface="Georgia"/>
              <a:cs typeface="Georgia"/>
            </a:endParaRPr>
          </a:p>
          <a:p>
            <a:pPr marL="41275" algn="l" rtl="0" eaLnBrk="0">
              <a:lnSpc>
                <a:spcPts val="2874"/>
              </a:lnSpc>
              <a:tabLst/>
            </a:pPr>
            <a:r>
              <a:rPr sz="1900" i="1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拖垮。</a:t>
            </a:r>
            <a:endParaRPr sz="1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494" name="textbox 49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496" name="picture 4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498" name="textbox 498"/>
          <p:cNvSpPr/>
          <p:nvPr/>
        </p:nvSpPr>
        <p:spPr>
          <a:xfrm>
            <a:off x="1881827" y="9651594"/>
            <a:ext cx="167576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→</a:t>
            </a:r>
            <a:r>
              <a:rPr sz="900" kern="0" spc="3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  ·  TRANSITION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500" name="picture 5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764000" y="9677400"/>
            <a:ext cx="952500" cy="200025"/>
          </a:xfrm>
          <a:prstGeom prst="rect">
            <a:avLst/>
          </a:prstGeom>
        </p:spPr>
      </p:pic>
      <p:pic>
        <p:nvPicPr>
          <p:cNvPr id="502" name="picture 5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504" name="textbox 504"/>
          <p:cNvSpPr/>
          <p:nvPr/>
        </p:nvSpPr>
        <p:spPr>
          <a:xfrm>
            <a:off x="16105597" y="517118"/>
            <a:ext cx="103060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EXT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06" name="textbox 506"/>
          <p:cNvSpPr/>
          <p:nvPr/>
        </p:nvSpPr>
        <p:spPr>
          <a:xfrm>
            <a:off x="16634831" y="9651594"/>
            <a:ext cx="506094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08" name="textbox 508"/>
          <p:cNvSpPr/>
          <p:nvPr/>
        </p:nvSpPr>
        <p:spPr>
          <a:xfrm>
            <a:off x="1137977" y="9680198"/>
            <a:ext cx="693420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21600000">
            <a:off x="1276959" y="4301718"/>
            <a:ext cx="7755122" cy="3635426"/>
            <a:chOff x="0" y="0"/>
            <a:chExt cx="7755122" cy="3635426"/>
          </a:xfrm>
        </p:grpSpPr>
        <p:pic>
          <p:nvPicPr>
            <p:cNvPr id="510" name="picture 5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3752" y="79781"/>
              <a:ext cx="6696075" cy="3055143"/>
            </a:xfrm>
            <a:prstGeom prst="rect">
              <a:avLst/>
            </a:prstGeom>
          </p:spPr>
        </p:pic>
        <p:sp>
          <p:nvSpPr>
            <p:cNvPr id="512" name="textbox 512"/>
            <p:cNvSpPr/>
            <p:nvPr/>
          </p:nvSpPr>
          <p:spPr>
            <a:xfrm>
              <a:off x="12654" y="-12700"/>
              <a:ext cx="7724775" cy="5829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tabLst/>
              </a:pP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very</a:t>
              </a:r>
              <a:r>
                <a:rPr sz="900" kern="0" spc="1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high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6111240" algn="l" rtl="0" eaLnBrk="0">
                <a:lnSpc>
                  <a:spcPts val="1700"/>
                </a:lnSpc>
                <a:spcBef>
                  <a:spcPts val="58"/>
                </a:spcBef>
                <a:tabLst/>
              </a:pPr>
              <a:r>
                <a:rPr sz="1400" kern="0" spc="-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O(n2) FLOPs</a:t>
              </a:r>
              <a:endParaRPr sz="14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0000"/>
                </a:lnSpc>
                <a:spcBef>
                  <a:spcPts val="3"/>
                </a:spcBef>
                <a:tabLst/>
              </a:pP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算力墙：</a:t>
              </a:r>
              <a:r>
                <a:rPr sz="900" kern="0" spc="-17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每新增一倍长度，</a:t>
              </a:r>
              <a:r>
                <a:rPr sz="900" kern="0" spc="-18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计</a:t>
              </a:r>
              <a:endParaRPr sz="900" dirty="0">
                <a:latin typeface="PingFang SC"/>
                <a:ea typeface="PingFang SC"/>
                <a:cs typeface="PingFang SC"/>
              </a:endParaRPr>
            </a:p>
          </p:txBody>
        </p:sp>
        <p:sp>
          <p:nvSpPr>
            <p:cNvPr id="514" name="textbox 514"/>
            <p:cNvSpPr/>
            <p:nvPr/>
          </p:nvSpPr>
          <p:spPr>
            <a:xfrm>
              <a:off x="469798" y="3035300"/>
              <a:ext cx="6927850" cy="6146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tabLst/>
              </a:pP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252"/>
                </a:lnSpc>
                <a:spcBef>
                  <a:spcPts val="565"/>
                </a:spcBef>
                <a:tabLst/>
              </a:pPr>
              <a:r>
                <a:rPr sz="1000" kern="0" spc="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4K                               32K                             128K                            256K     </a:t>
              </a:r>
              <a:r>
                <a:rPr sz="10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512K                              1</a:t>
              </a:r>
              <a:r>
                <a:rPr sz="1000" kern="0" spc="-7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451100" algn="l" rtl="0" eaLnBrk="0">
                <a:lnSpc>
                  <a:spcPct val="79000"/>
                </a:lnSpc>
                <a:spcBef>
                  <a:spcPts val="4"/>
                </a:spcBef>
                <a:tabLst/>
              </a:pPr>
              <a:r>
                <a:rPr sz="900" kern="0" spc="1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CONTEXT  LENGTH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1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</a:t>
              </a:r>
              <a:r>
                <a:rPr sz="900" kern="0" spc="-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1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TOK</a:t>
              </a:r>
              <a:r>
                <a:rPr sz="900" kern="0" spc="10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ENS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10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)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516" name="textbox 516"/>
            <p:cNvSpPr/>
            <p:nvPr/>
          </p:nvSpPr>
          <p:spPr>
            <a:xfrm>
              <a:off x="6109046" y="1494993"/>
              <a:ext cx="1659254" cy="4273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240" algn="l" rtl="0" eaLnBrk="0">
                <a:lnSpc>
                  <a:spcPts val="1700"/>
                </a:lnSpc>
                <a:tabLst/>
              </a:pPr>
              <a:r>
                <a:rPr sz="1400" kern="0" spc="5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O(n) </a:t>
              </a:r>
              <a:r>
                <a:rPr sz="1400" kern="0" spc="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KV</a:t>
              </a:r>
              <a:r>
                <a:rPr sz="1400" kern="0" spc="5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cache</a:t>
              </a:r>
              <a:endParaRPr sz="14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4"/>
                </a:spcBef>
                <a:tabLst/>
              </a:pP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显存墙：</a:t>
              </a:r>
              <a:r>
                <a:rPr sz="900" kern="0" spc="-19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每层每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token</a:t>
              </a:r>
              <a:r>
                <a:rPr sz="900" kern="0" spc="1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都要</a:t>
              </a:r>
              <a:r>
                <a:rPr sz="900" kern="0" spc="7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存</a:t>
              </a:r>
              <a:endParaRPr sz="900" dirty="0">
                <a:latin typeface="PingFang SC"/>
                <a:ea typeface="PingFang SC"/>
                <a:cs typeface="PingFang SC"/>
              </a:endParaRPr>
            </a:p>
          </p:txBody>
        </p:sp>
        <p:sp>
          <p:nvSpPr>
            <p:cNvPr id="518" name="textbox 518"/>
            <p:cNvSpPr/>
            <p:nvPr/>
          </p:nvSpPr>
          <p:spPr>
            <a:xfrm rot="16200000">
              <a:off x="-561396" y="1545523"/>
              <a:ext cx="1229995" cy="1327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40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9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</a:t>
              </a:r>
              <a:r>
                <a:rPr sz="9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</a:t>
              </a:r>
              <a:r>
                <a:rPr sz="9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r>
                <a:rPr sz="900" kern="0" spc="-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 E 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 RY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520" name="textbox 520"/>
            <p:cNvSpPr/>
            <p:nvPr/>
          </p:nvSpPr>
          <p:spPr>
            <a:xfrm>
              <a:off x="353560" y="2273300"/>
              <a:ext cx="212090" cy="1733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low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22" name="textbox 522"/>
          <p:cNvSpPr/>
          <p:nvPr/>
        </p:nvSpPr>
        <p:spPr>
          <a:xfrm>
            <a:off x="10004247" y="3878986"/>
            <a:ext cx="5337810" cy="3846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9000"/>
              </a:lnSpc>
              <a:tabLst/>
            </a:pP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B OT T L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   ·   1</a:t>
            </a:r>
            <a:endParaRPr sz="900" dirty="0">
              <a:latin typeface="Arial"/>
              <a:ea typeface="Arial"/>
              <a:cs typeface="Arial"/>
            </a:endParaRPr>
          </a:p>
          <a:p>
            <a:pPr marL="20955" algn="l" rtl="0" eaLnBrk="0">
              <a:lnSpc>
                <a:spcPct val="78000"/>
              </a:lnSpc>
              <a:spcBef>
                <a:spcPts val="1413"/>
              </a:spcBef>
              <a:tabLst/>
            </a:pPr>
            <a:r>
              <a:rPr sz="3300" b="1" kern="0" spc="-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O(n</a:t>
            </a:r>
            <a:r>
              <a:rPr sz="3300" b="1" kern="0" spc="-5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3300" b="1" kern="0" spc="-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²) </a:t>
            </a:r>
            <a:r>
              <a:rPr sz="2700" b="1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算力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125000"/>
              </a:lnSpc>
              <a:spcBef>
                <a:spcPts val="1335"/>
              </a:spcBef>
              <a:tabLst/>
            </a:pP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标准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self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中，每个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要和每个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算一次内积。</a:t>
            </a:r>
            <a:r>
              <a:rPr sz="1300" kern="0" spc="-3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上下文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翻倍，</a:t>
            </a:r>
            <a:r>
              <a:rPr sz="1300" kern="0" spc="-2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FLOPs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变四倍一把 4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换成 1</a:t>
            </a:r>
            <a:r>
              <a:rPr sz="1300" kern="0" spc="-1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，相当于多算了六万倍。</a:t>
            </a:r>
            <a:endParaRPr sz="13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9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B OT T L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   ·   2</a:t>
            </a:r>
            <a:endParaRPr sz="900" dirty="0">
              <a:latin typeface="Arial"/>
              <a:ea typeface="Arial"/>
              <a:cs typeface="Arial"/>
            </a:endParaRPr>
          </a:p>
          <a:p>
            <a:pPr marL="20955" algn="l" rtl="0" eaLnBrk="0">
              <a:lnSpc>
                <a:spcPct val="78000"/>
              </a:lnSpc>
              <a:spcBef>
                <a:spcPts val="1406"/>
              </a:spcBef>
              <a:tabLst/>
            </a:pPr>
            <a:r>
              <a:rPr sz="3300" b="1" kern="0" spc="-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O(n) </a:t>
            </a:r>
            <a:r>
              <a:rPr sz="2700" b="1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显存</a:t>
            </a:r>
            <a:endParaRPr sz="27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indent="-635" algn="l" rtl="0" eaLnBrk="0">
              <a:lnSpc>
                <a:spcPct val="129000"/>
              </a:lnSpc>
              <a:spcBef>
                <a:spcPts val="5"/>
              </a:spcBef>
              <a:tabLst/>
            </a:pP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每一层、每一个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和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都要留在显存里供后续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读。</a:t>
            </a:r>
            <a:r>
              <a:rPr sz="1300" kern="0" spc="-2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100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万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乘以几十层，</a:t>
            </a:r>
            <a:r>
              <a:rPr sz="1300" kern="0" spc="-2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cache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就会吃光单卡整机。</a:t>
            </a:r>
            <a:endParaRPr sz="13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524" name="textbox 524"/>
          <p:cNvSpPr/>
          <p:nvPr/>
        </p:nvSpPr>
        <p:spPr>
          <a:xfrm>
            <a:off x="1130300" y="1479143"/>
            <a:ext cx="10333990" cy="1489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混 合 注 意 力</a:t>
            </a:r>
            <a:r>
              <a:rPr sz="900" kern="0" spc="1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+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1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上下文一变长</a:t>
            </a:r>
            <a:r>
              <a:rPr sz="4800" kern="0" spc="-9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1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800" kern="0" spc="-14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1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有两堵墙会同时砸过来</a:t>
            </a:r>
            <a:endParaRPr sz="4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4130" algn="l" rtl="0" eaLnBrk="0">
              <a:lnSpc>
                <a:spcPts val="1968"/>
              </a:lnSpc>
              <a:spcBef>
                <a:spcPts val="4"/>
              </a:spcBef>
              <a:tabLst/>
            </a:pP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算力墙和显存墙，都在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这一个变量上爆炸增长</a:t>
            </a:r>
            <a:r>
              <a:rPr sz="1600" kern="0" spc="-2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600" kern="0" spc="-4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这正是百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万</a:t>
            </a:r>
            <a:r>
              <a:rPr sz="1600" kern="0" spc="-1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默认配置难以落地的根本原因。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526" name="picture 5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pic>
        <p:nvPicPr>
          <p:cNvPr id="528" name="picture 5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530" name="textbox 530"/>
          <p:cNvSpPr/>
          <p:nvPr/>
        </p:nvSpPr>
        <p:spPr>
          <a:xfrm>
            <a:off x="1134510" y="9632544"/>
            <a:ext cx="16006445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38"/>
              </a:lnSpc>
              <a:tabLst/>
            </a:pP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  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32" name="textbox 532"/>
          <p:cNvSpPr/>
          <p:nvPr/>
        </p:nvSpPr>
        <p:spPr>
          <a:xfrm>
            <a:off x="1136472" y="8977605"/>
            <a:ext cx="9168765" cy="230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10"/>
              </a:lnSpc>
              <a:tabLst/>
            </a:pP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接下来三节要回答的就是一个问题：</a:t>
            </a:r>
            <a:r>
              <a:rPr sz="1300" kern="0" spc="-3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既然不能都留着，那该留什么、怎么留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？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 的答案是</a:t>
            </a:r>
            <a:r>
              <a:rPr sz="13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把注意力拆成两种，各管一边。</a:t>
            </a:r>
            <a:endParaRPr sz="13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1138167" y="8166151"/>
            <a:ext cx="4163695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2"/>
              </a:lnSpc>
              <a:tabLst/>
            </a:pP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示</a:t>
            </a:r>
            <a:r>
              <a:rPr sz="10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意</a:t>
            </a:r>
            <a:r>
              <a:rPr sz="10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曲</a:t>
            </a:r>
            <a:r>
              <a:rPr sz="10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线</a:t>
            </a:r>
            <a:r>
              <a:rPr sz="1000" kern="0" spc="3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10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原</a:t>
            </a:r>
            <a:r>
              <a:rPr sz="1000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生  </a:t>
            </a:r>
            <a:r>
              <a:rPr sz="1000" kern="0" spc="3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000" kern="0" spc="-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000" kern="0" spc="3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CONTEXT</a:t>
            </a:r>
            <a:r>
              <a:rPr sz="1000" kern="0" spc="-8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下</a:t>
            </a:r>
            <a:r>
              <a:rPr sz="10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0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</a:t>
            </a:r>
            <a:r>
              <a:rPr sz="1000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条</a:t>
            </a:r>
            <a:r>
              <a:rPr sz="10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曲</a:t>
            </a:r>
            <a:r>
              <a:rPr sz="10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线</a:t>
            </a:r>
            <a:r>
              <a:rPr sz="10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</a:t>
            </a:r>
            <a:r>
              <a:rPr sz="10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时</a:t>
            </a:r>
            <a:r>
              <a:rPr sz="1000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抵</a:t>
            </a:r>
            <a:r>
              <a:rPr sz="10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达</a:t>
            </a:r>
            <a:r>
              <a:rPr sz="10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天</a:t>
            </a:r>
            <a:r>
              <a:rPr sz="10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花</a:t>
            </a:r>
            <a:r>
              <a:rPr sz="1000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板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536" name="textbox 53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538" name="picture 5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540" name="picture 5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753475"/>
            <a:ext cx="13335000" cy="19050"/>
          </a:xfrm>
          <a:prstGeom prst="rect">
            <a:avLst/>
          </a:prstGeom>
        </p:spPr>
      </p:pic>
      <p:sp>
        <p:nvSpPr>
          <p:cNvPr id="542" name="textbox 542"/>
          <p:cNvSpPr/>
          <p:nvPr/>
        </p:nvSpPr>
        <p:spPr>
          <a:xfrm>
            <a:off x="16067348" y="517118"/>
            <a:ext cx="106807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注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意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力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瓶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544" name="picture 5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715500" y="3810000"/>
            <a:ext cx="28575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8" name="table 548"/>
          <p:cNvGraphicFramePr>
            <a:graphicFrameLocks noGrp="1"/>
          </p:cNvGraphicFramePr>
          <p:nvPr/>
        </p:nvGraphicFramePr>
        <p:xfrm>
          <a:off x="1143000" y="4953000"/>
          <a:ext cx="7762875" cy="2543175"/>
        </p:xfrm>
        <a:graphic>
          <a:graphicData uri="http://schemas.openxmlformats.org/drawingml/2006/table">
            <a:tbl>
              <a:tblPr/>
              <a:tblGrid>
                <a:gridCol w="7762875"/>
              </a:tblGrid>
              <a:tr h="2533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243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细</a:t>
                      </a:r>
                      <a:r>
                        <a:rPr sz="900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筛</a:t>
                      </a:r>
                      <a:r>
                        <a:rPr sz="9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  F</a:t>
                      </a:r>
                      <a:r>
                        <a:rPr sz="900" kern="0" spc="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2594" algn="l" rtl="0" eaLnBrk="0">
                        <a:lnSpc>
                          <a:spcPct val="75000"/>
                        </a:lnSpc>
                        <a:spcBef>
                          <a:spcPts val="1714"/>
                        </a:spcBef>
                        <a:tabLst/>
                      </a:pPr>
                      <a:r>
                        <a:rPr sz="3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CSA </a:t>
                      </a:r>
                      <a:r>
                        <a:rPr sz="1900" b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Compressed S</a:t>
                      </a:r>
                      <a:r>
                        <a:rPr sz="1900" b="1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parse</a:t>
                      </a:r>
                      <a:r>
                        <a:rPr sz="1900" b="1" kern="0" spc="-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900" b="1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Attention</a:t>
                      </a:r>
                      <a:endParaRPr sz="19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455930" algn="l" rtl="0" eaLnBrk="0">
                        <a:lnSpc>
                          <a:spcPts val="1962"/>
                        </a:lnSpc>
                        <a:spcBef>
                          <a:spcPts val="649"/>
                        </a:spcBef>
                        <a:tabLst/>
                      </a:pPr>
                      <a:r>
                        <a:rPr sz="1400" i="1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压缩</a:t>
                      </a:r>
                      <a:r>
                        <a:rPr sz="14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400" i="1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+</a:t>
                      </a:r>
                      <a:r>
                        <a:rPr sz="1400" i="1" kern="0" spc="3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400" i="1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稀疏，定位关键</a:t>
                      </a:r>
                      <a:r>
                        <a:rPr sz="14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400" i="1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token</a:t>
                      </a:r>
                      <a:endParaRPr sz="14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3705" algn="l" rtl="0" eaLnBrk="0">
                        <a:lnSpc>
                          <a:spcPct val="136000"/>
                        </a:lnSpc>
                        <a:tabLst/>
                      </a:pP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</a:t>
                      </a:r>
                      <a:r>
                        <a:rPr sz="1300" kern="0" spc="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 = 64 </a:t>
                      </a: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的粒度把 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</a:t>
                      </a: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压缩成块，</a:t>
                      </a:r>
                      <a:r>
                        <a:rPr sz="1300" kern="0" spc="-3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再用</a:t>
                      </a:r>
                      <a:r>
                        <a:rPr sz="1300" kern="0" spc="1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Lightning</a:t>
                      </a: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Indexer</a:t>
                      </a:r>
                      <a:r>
                        <a:rPr sz="13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打分、</a:t>
                      </a:r>
                      <a:r>
                        <a:rPr sz="1300" kern="0" spc="-3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只挑 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top</a:t>
                      </a:r>
                      <a:r>
                        <a:rPr sz="13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-k </a:t>
                      </a:r>
                      <a:r>
                        <a:rPr sz="13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个最相关的块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</a:t>
                      </a: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做精算。 相当于翻完索引后，</a:t>
                      </a:r>
                      <a:r>
                        <a:rPr sz="1300" kern="0" spc="-3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只盯着真</a:t>
                      </a:r>
                      <a:r>
                        <a:rPr sz="13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正要用的那几段精读。</a:t>
                      </a:r>
                      <a:endParaRPr sz="13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50" name="table 550"/>
          <p:cNvGraphicFramePr>
            <a:graphicFrameLocks noGrp="1"/>
          </p:cNvGraphicFramePr>
          <p:nvPr/>
        </p:nvGraphicFramePr>
        <p:xfrm>
          <a:off x="9382125" y="4953000"/>
          <a:ext cx="7762875" cy="254317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7762875"/>
              </a:tblGrid>
              <a:tr h="2533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7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243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粗 筛</a:t>
                      </a:r>
                      <a:r>
                        <a:rPr sz="900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 OA R S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1960" algn="l" rtl="0" eaLnBrk="0">
                        <a:lnSpc>
                          <a:spcPct val="75000"/>
                        </a:lnSpc>
                        <a:spcBef>
                          <a:spcPts val="1758"/>
                        </a:spcBef>
                        <a:tabLst/>
                      </a:pPr>
                      <a:r>
                        <a:rPr sz="31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HCA </a:t>
                      </a:r>
                      <a:r>
                        <a:rPr sz="1900" b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Heavily Compre</a:t>
                      </a:r>
                      <a:r>
                        <a:rPr sz="1900" b="1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ssed</a:t>
                      </a:r>
                      <a:r>
                        <a:rPr sz="1900" b="1" kern="0" spc="-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900" b="1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Attention</a:t>
                      </a:r>
                      <a:endParaRPr sz="19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476250" algn="l" rtl="0" eaLnBrk="0">
                        <a:lnSpc>
                          <a:spcPct val="85000"/>
                        </a:lnSpc>
                        <a:spcBef>
                          <a:spcPts val="1042"/>
                        </a:spcBef>
                        <a:tabLst/>
                      </a:pPr>
                      <a:r>
                        <a:rPr sz="1400" i="1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激进压缩，但扫全局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4340" indent="11430" algn="l" rtl="0" eaLnBrk="0">
                        <a:lnSpc>
                          <a:spcPct val="13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以更大的粒度 </a:t>
                      </a:r>
                      <a:r>
                        <a:rPr sz="13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m, </a:t>
                      </a:r>
                      <a:r>
                        <a:rPr sz="13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≫ </a:t>
                      </a:r>
                      <a:r>
                        <a:rPr sz="13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 </a:t>
                      </a:r>
                      <a:r>
                        <a:rPr sz="13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把序列狠狠压扁，但不做稀疏筛选，每个 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query</a:t>
                      </a:r>
                      <a:r>
                        <a:rPr sz="13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都要 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dense</a:t>
                      </a:r>
                      <a:r>
                        <a:rPr sz="13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地把所有</a:t>
                      </a:r>
                      <a:r>
                        <a:rPr sz="13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</a:t>
                      </a: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压缩块扫一遍。 粒度粗了，但全局</a:t>
                      </a:r>
                      <a:r>
                        <a:rPr sz="13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视野不丢。</a:t>
                      </a:r>
                      <a:endParaRPr sz="13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 rot="21600000">
            <a:off x="1143000" y="3429000"/>
            <a:ext cx="13335000" cy="885825"/>
            <a:chOff x="0" y="0"/>
            <a:chExt cx="13335000" cy="885825"/>
          </a:xfrm>
        </p:grpSpPr>
        <p:sp>
          <p:nvSpPr>
            <p:cNvPr id="552" name="rect 552"/>
            <p:cNvSpPr/>
            <p:nvPr/>
          </p:nvSpPr>
          <p:spPr>
            <a:xfrm>
              <a:off x="0" y="0"/>
              <a:ext cx="13335000" cy="885825"/>
            </a:xfrm>
            <a:prstGeom prst="rect">
              <a:avLst/>
            </a:prstGeom>
            <a:solidFill>
              <a:srgbClr val="F7F8F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4" name="textbox 554"/>
            <p:cNvSpPr/>
            <p:nvPr/>
          </p:nvSpPr>
          <p:spPr>
            <a:xfrm>
              <a:off x="398740" y="297205"/>
              <a:ext cx="12134850" cy="3092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232"/>
                </a:lnSpc>
                <a:tabLst/>
              </a:pPr>
              <a:r>
                <a:rPr sz="1800" i="1" kern="0" spc="-5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查资料的人都知道：先翻目录定位到大概章</a:t>
              </a:r>
              <a:r>
                <a:rPr sz="1800" i="1" kern="0" spc="-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节，</a:t>
              </a:r>
              <a:r>
                <a:rPr sz="1800" b="1" kern="0" spc="-6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再精读一两段细节</a:t>
              </a:r>
              <a:r>
                <a:rPr sz="1800" kern="0" spc="-34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800" i="1" kern="0" spc="-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。</a:t>
              </a:r>
              <a:r>
                <a:rPr sz="1800" kern="0" spc="-47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800" i="1" kern="0" spc="-6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V4</a:t>
              </a:r>
              <a:r>
                <a:rPr sz="1800" i="1" kern="0" spc="30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800" i="1" kern="0" spc="-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把注意力</a:t>
              </a:r>
              <a:r>
                <a:rPr sz="1800" kern="0" spc="-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800" i="1" kern="0" spc="-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层交替排布，正是这个动作的机器版本。</a:t>
              </a:r>
              <a:endParaRPr sz="18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556" name="picture 5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8575" cy="885825"/>
            </a:xfrm>
            <a:prstGeom prst="rect">
              <a:avLst/>
            </a:prstGeom>
          </p:spPr>
        </p:pic>
      </p:grpSp>
      <p:sp>
        <p:nvSpPr>
          <p:cNvPr id="558" name="textbox 558"/>
          <p:cNvSpPr/>
          <p:nvPr/>
        </p:nvSpPr>
        <p:spPr>
          <a:xfrm>
            <a:off x="1130300" y="1479143"/>
            <a:ext cx="7867650" cy="1100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混 合 注 意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力</a:t>
            </a:r>
            <a:r>
              <a:rPr sz="900" kern="0" spc="1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+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2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两把筛子</a:t>
            </a:r>
            <a:r>
              <a:rPr sz="4800" kern="0" spc="-6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2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800" kern="0" spc="-13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2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一粗一细，</a:t>
            </a:r>
            <a:r>
              <a:rPr sz="4900" kern="0" spc="-14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2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一起用</a:t>
            </a:r>
            <a:endParaRPr sz="4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560" name="picture 5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pic>
        <p:nvPicPr>
          <p:cNvPr id="562" name="picture 5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564" name="textbox 564"/>
          <p:cNvSpPr/>
          <p:nvPr/>
        </p:nvSpPr>
        <p:spPr>
          <a:xfrm>
            <a:off x="1134510" y="9632544"/>
            <a:ext cx="16007080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38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8  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66" name="textbox 56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568" name="picture 5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570" name="textbox 570"/>
          <p:cNvSpPr/>
          <p:nvPr/>
        </p:nvSpPr>
        <p:spPr>
          <a:xfrm>
            <a:off x="15912567" y="517118"/>
            <a:ext cx="12153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粗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细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筛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子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572" name="picture 5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extbox 574"/>
          <p:cNvSpPr/>
          <p:nvPr/>
        </p:nvSpPr>
        <p:spPr>
          <a:xfrm>
            <a:off x="1130300" y="1479143"/>
            <a:ext cx="14049375" cy="1437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0 3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   S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951"/>
              </a:lnSpc>
              <a:spcBef>
                <a:spcPts val="1272"/>
              </a:spcBef>
              <a:tabLst/>
            </a:pPr>
            <a:r>
              <a:rPr sz="4800" b="1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</a:t>
            </a:r>
            <a:r>
              <a:rPr sz="4800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1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64 </a:t>
            </a:r>
            <a:r>
              <a:rPr sz="4800" b="1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</a:t>
            </a:r>
            <a:r>
              <a:rPr sz="4800" kern="0" spc="-4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1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token</a:t>
            </a:r>
            <a:r>
              <a:rPr sz="4800" b="1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揉成</a:t>
            </a:r>
            <a:r>
              <a:rPr sz="4800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1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 </a:t>
            </a:r>
            <a:r>
              <a:rPr sz="4800" b="1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块</a:t>
            </a:r>
            <a:r>
              <a:rPr sz="4800" kern="0" spc="-9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800" kern="0" spc="-14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再挑出最相关的几块精读</a:t>
            </a:r>
            <a:endParaRPr sz="4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9000"/>
              </a:lnSpc>
              <a:spcBef>
                <a:spcPts val="5"/>
              </a:spcBef>
              <a:tabLst/>
            </a:pP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压缩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+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稀疏两次降维，既省算力又省显存。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Lightning Indexer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负责打分，只让真正要紧的块走进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core atten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576" name="picture 5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7234237" y="3810609"/>
            <a:ext cx="8008144" cy="849243"/>
            <a:chOff x="0" y="0"/>
            <a:chExt cx="8008144" cy="849243"/>
          </a:xfrm>
        </p:grpSpPr>
        <p:sp>
          <p:nvSpPr>
            <p:cNvPr id="578" name="textbox 578"/>
            <p:cNvSpPr/>
            <p:nvPr/>
          </p:nvSpPr>
          <p:spPr>
            <a:xfrm>
              <a:off x="5298172" y="-12700"/>
              <a:ext cx="1318895" cy="5264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72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Top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</a:t>
              </a: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稀</a:t>
              </a:r>
              <a:r>
                <a:rPr sz="900" kern="0" spc="-9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疏</a:t>
              </a:r>
              <a:r>
                <a:rPr sz="900" kern="0" spc="-9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选</a:t>
              </a:r>
              <a:r>
                <a:rPr sz="900" kern="0" spc="-10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择</a:t>
              </a:r>
              <a:endParaRPr sz="9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89535" algn="l" rtl="0" eaLnBrk="0">
                <a:lnSpc>
                  <a:spcPts val="984"/>
                </a:lnSpc>
                <a:tabLst/>
              </a:pPr>
              <a:r>
                <a:rPr sz="800" kern="0" spc="-2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★</a:t>
              </a:r>
              <a:r>
                <a:rPr sz="800" kern="0" spc="1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    </a:t>
              </a:r>
              <a:r>
                <a:rPr sz="800" kern="0" spc="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             </a:t>
              </a:r>
              <a:r>
                <a:rPr sz="800" kern="0" spc="-2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★</a:t>
              </a:r>
              <a:endParaRPr sz="8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580" name="picture 58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280377"/>
              <a:ext cx="8008144" cy="568866"/>
            </a:xfrm>
            <a:prstGeom prst="rect">
              <a:avLst/>
            </a:prstGeom>
          </p:spPr>
        </p:pic>
        <p:sp>
          <p:nvSpPr>
            <p:cNvPr id="582" name="textbox 582"/>
            <p:cNvSpPr/>
            <p:nvPr/>
          </p:nvSpPr>
          <p:spPr>
            <a:xfrm>
              <a:off x="-4394" y="-12700"/>
              <a:ext cx="3124200" cy="5137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97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STAG</a:t>
              </a: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2   ·</a:t>
              </a: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压</a:t>
              </a:r>
              <a:r>
                <a:rPr sz="900" kern="0" spc="-9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缩</a:t>
              </a:r>
              <a:r>
                <a:rPr sz="900" kern="0" spc="-11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块 </a:t>
              </a:r>
              <a:r>
                <a:rPr sz="900" kern="0" spc="6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en</a:t>
              </a:r>
              <a:r>
                <a:rPr sz="900" kern="0" spc="-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tr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ies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)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6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84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2000"/>
                </a:lnSpc>
                <a:tabLst/>
              </a:pPr>
              <a:r>
                <a:rPr sz="700" kern="0" spc="-2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C1                C2             </a:t>
              </a:r>
              <a:r>
                <a:rPr sz="700" kern="0" spc="-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C3</a:t>
              </a:r>
              <a:r>
                <a:rPr sz="700" kern="0" spc="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</a:t>
              </a:r>
              <a:r>
                <a:rPr sz="7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700" kern="0" spc="-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C4</a:t>
              </a:r>
              <a:r>
                <a:rPr sz="700" kern="0" spc="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</a:t>
              </a:r>
              <a:r>
                <a:rPr sz="7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</a:t>
              </a:r>
              <a:r>
                <a:rPr sz="700" kern="0" spc="-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C5</a:t>
              </a:r>
              <a:r>
                <a:rPr sz="700" kern="0" spc="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</a:t>
              </a:r>
              <a:r>
                <a:rPr sz="7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700" kern="0" spc="-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C6</a:t>
              </a:r>
              <a:r>
                <a:rPr sz="700" kern="0" spc="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</a:t>
              </a:r>
              <a:r>
                <a:rPr sz="7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700" kern="0" spc="-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C7</a:t>
              </a:r>
              <a:endParaRPr sz="7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584" name="textbox 584"/>
            <p:cNvSpPr/>
            <p:nvPr/>
          </p:nvSpPr>
          <p:spPr>
            <a:xfrm>
              <a:off x="3536202" y="202183"/>
              <a:ext cx="847725" cy="1733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tabLst/>
              </a:pPr>
              <a:r>
                <a:rPr sz="900" kern="0" spc="6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score &amp; sel</a:t>
              </a:r>
              <a:r>
                <a:rPr sz="900" kern="0" spc="5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ect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586" name="textbox 586"/>
            <p:cNvSpPr/>
            <p:nvPr/>
          </p:nvSpPr>
          <p:spPr>
            <a:xfrm>
              <a:off x="4758105" y="-1384"/>
              <a:ext cx="480694" cy="1276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1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4000"/>
                </a:lnSpc>
                <a:tabLst/>
              </a:pP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STAG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588" name="textbox 588"/>
            <p:cNvSpPr/>
            <p:nvPr/>
          </p:nvSpPr>
          <p:spPr>
            <a:xfrm>
              <a:off x="7280487" y="363194"/>
              <a:ext cx="124460" cy="1504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984"/>
                </a:lnSpc>
                <a:tabLst/>
              </a:pPr>
              <a:r>
                <a:rPr sz="800" kern="0" spc="-1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★</a:t>
              </a:r>
              <a:endParaRPr sz="800" dirty="0">
                <a:latin typeface="PingFang SC"/>
                <a:ea typeface="PingFang SC"/>
                <a:cs typeface="PingFang SC"/>
              </a:endParaRPr>
            </a:p>
          </p:txBody>
        </p:sp>
      </p:grpSp>
      <p:sp>
        <p:nvSpPr>
          <p:cNvPr id="590" name="rect 590"/>
          <p:cNvSpPr/>
          <p:nvPr/>
        </p:nvSpPr>
        <p:spPr>
          <a:xfrm>
            <a:off x="10772775" y="7886700"/>
            <a:ext cx="400050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2" name="textbox 592"/>
          <p:cNvSpPr/>
          <p:nvPr/>
        </p:nvSpPr>
        <p:spPr>
          <a:xfrm>
            <a:off x="6595089" y="7251198"/>
            <a:ext cx="5046980" cy="1087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  <a:r>
              <a:rPr sz="900" b="1" kern="0" spc="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900" b="1" kern="0" spc="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</a:t>
            </a:r>
            <a:r>
              <a:rPr sz="9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900" b="1" kern="0" spc="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</a:t>
            </a:r>
            <a:r>
              <a:rPr sz="9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N</a:t>
            </a:r>
            <a:r>
              <a:rPr sz="9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  <a:endParaRPr sz="900" dirty="0">
              <a:latin typeface="Georgia"/>
              <a:ea typeface="Georgia"/>
              <a:cs typeface="Georgia"/>
            </a:endParaRPr>
          </a:p>
          <a:p>
            <a:pPr marL="16510" algn="l" rtl="0" eaLnBrk="0">
              <a:lnSpc>
                <a:spcPct val="85000"/>
              </a:lnSpc>
              <a:spcBef>
                <a:spcPts val="1148"/>
              </a:spcBef>
              <a:tabLst/>
            </a:pPr>
            <a:r>
              <a:rPr sz="18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Lightning</a:t>
            </a:r>
            <a:r>
              <a:rPr sz="18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Indexer </a:t>
            </a:r>
            <a:r>
              <a:rPr sz="18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打分</a:t>
            </a:r>
            <a:endParaRPr sz="18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5" indent="6350" algn="l" rtl="0" eaLnBrk="0">
              <a:lnSpc>
                <a:spcPct val="131000"/>
              </a:lnSpc>
              <a:spcBef>
                <a:spcPts val="4"/>
              </a:spcBef>
              <a:tabLst/>
            </a:pP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low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rank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投影出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indexer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，对每个压缩块算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index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score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baseline="-6511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I</a:t>
            </a:r>
            <a:r>
              <a:rPr sz="1300" kern="0" spc="0" baseline="-8013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t</a:t>
            </a:r>
            <a:r>
              <a:rPr sz="1300" kern="0" spc="10" baseline="-20033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,s</a:t>
            </a:r>
            <a:r>
              <a:rPr sz="800" kern="0" spc="1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。计算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用</a:t>
            </a:r>
            <a:r>
              <a:rPr sz="1200" kern="0" spc="1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FP4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，拿速度换精度里那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2%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左右的差您。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594" name="textbox 594"/>
          <p:cNvSpPr/>
          <p:nvPr/>
        </p:nvSpPr>
        <p:spPr>
          <a:xfrm>
            <a:off x="12056039" y="7251198"/>
            <a:ext cx="5036820" cy="1061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  <a:r>
              <a:rPr sz="900" b="1" kern="0" spc="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900" b="1" kern="0" spc="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</a:t>
            </a:r>
            <a:r>
              <a:rPr sz="9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900" b="1" kern="0" spc="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  <a:endParaRPr sz="900" dirty="0">
              <a:latin typeface="Georgia"/>
              <a:ea typeface="Georgia"/>
              <a:cs typeface="Georgia"/>
            </a:endParaRPr>
          </a:p>
          <a:p>
            <a:pPr marL="19685" algn="l" rtl="0" eaLnBrk="0">
              <a:lnSpc>
                <a:spcPct val="85000"/>
              </a:lnSpc>
              <a:spcBef>
                <a:spcPts val="1055"/>
              </a:spcBef>
              <a:tabLst/>
            </a:pPr>
            <a:r>
              <a:rPr sz="18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只让</a:t>
            </a:r>
            <a:r>
              <a:rPr sz="1800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top-k </a:t>
            </a:r>
            <a:r>
              <a:rPr sz="18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走进</a:t>
            </a:r>
            <a:r>
              <a:rPr sz="18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core</a:t>
            </a:r>
            <a:r>
              <a:rPr sz="1800" b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attention</a:t>
            </a:r>
            <a:endParaRPr sz="18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605" indent="-1270" algn="l" rtl="0" eaLnBrk="0">
              <a:lnSpc>
                <a:spcPct val="123000"/>
              </a:lnSpc>
              <a:spcBef>
                <a:spcPts val="3"/>
              </a:spcBef>
              <a:tabLst/>
            </a:pP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按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index score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选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top-k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压缩块做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DSA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200" kern="0" spc="-2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 Sparse A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ttention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）。压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缩给了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1/m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倍，稀疏再给了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 /</a:t>
            </a:r>
            <a:r>
              <a:rPr sz="12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(n/m)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倍，双重节省。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596" name="rect 596"/>
          <p:cNvSpPr/>
          <p:nvPr/>
        </p:nvSpPr>
        <p:spPr>
          <a:xfrm>
            <a:off x="5162550" y="7886700"/>
            <a:ext cx="514350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8" name="rect 598"/>
          <p:cNvSpPr/>
          <p:nvPr/>
        </p:nvSpPr>
        <p:spPr>
          <a:xfrm>
            <a:off x="1495425" y="8124825"/>
            <a:ext cx="276225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0" name="rect 600"/>
          <p:cNvSpPr/>
          <p:nvPr/>
        </p:nvSpPr>
        <p:spPr>
          <a:xfrm>
            <a:off x="1924050" y="8124825"/>
            <a:ext cx="266700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2" name="textbox 602"/>
          <p:cNvSpPr/>
          <p:nvPr/>
        </p:nvSpPr>
        <p:spPr>
          <a:xfrm>
            <a:off x="1134138" y="7251074"/>
            <a:ext cx="5013960" cy="1062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  <a:r>
              <a:rPr sz="9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900" b="1" kern="0" spc="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r>
              <a:rPr sz="9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900" b="1" kern="0" spc="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</a:t>
            </a:r>
            <a:r>
              <a:rPr sz="900" b="1" kern="0" spc="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  <a:r>
              <a:rPr sz="9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  <a:r>
              <a:rPr sz="9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</a:t>
            </a:r>
            <a:r>
              <a:rPr sz="9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</a:t>
            </a:r>
            <a:endParaRPr sz="900" dirty="0">
              <a:latin typeface="Georgia"/>
              <a:ea typeface="Georgia"/>
              <a:cs typeface="Georgia"/>
            </a:endParaRPr>
          </a:p>
          <a:p>
            <a:pPr marL="15875" algn="l" rtl="0" eaLnBrk="0">
              <a:lnSpc>
                <a:spcPts val="2231"/>
              </a:lnSpc>
              <a:spcBef>
                <a:spcPts val="848"/>
              </a:spcBef>
              <a:tabLst/>
            </a:pPr>
            <a:r>
              <a:rPr sz="1800" b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</a:t>
            </a:r>
            <a:r>
              <a:rPr sz="18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64 </a:t>
            </a:r>
            <a:r>
              <a:rPr sz="1800" b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</a:t>
            </a:r>
            <a:r>
              <a:rPr sz="1800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token </a:t>
            </a:r>
            <a:r>
              <a:rPr sz="1800" b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合成</a:t>
            </a:r>
            <a:r>
              <a:rPr sz="18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r>
              <a:rPr sz="1800" b="1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800" b="1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</a:t>
            </a:r>
            <a:r>
              <a:rPr sz="1800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1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entry</a:t>
            </a:r>
            <a:endParaRPr sz="18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1590" indent="-6985" algn="l" rtl="0" eaLnBrk="0">
              <a:lnSpc>
                <a:spcPct val="120000"/>
              </a:lnSpc>
              <a:spcBef>
                <a:spcPts val="1"/>
              </a:spcBef>
              <a:tabLst/>
            </a:pP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用可学习的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compression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weights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加权求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和，序列长度降到 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n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/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m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。两路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200" kern="0" spc="2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-1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Cᵃ</a:t>
            </a:r>
            <a:r>
              <a:rPr sz="1000" kern="0" spc="-1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200" kern="0" spc="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-1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Cᵇ</a:t>
            </a:r>
            <a:r>
              <a:rPr sz="1000" kern="0" spc="-1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)  配合带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overlap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stride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，保留边界信息。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604" name="picture 6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606" name="textbox 606"/>
          <p:cNvSpPr/>
          <p:nvPr/>
        </p:nvSpPr>
        <p:spPr>
          <a:xfrm>
            <a:off x="1134510" y="9632544"/>
            <a:ext cx="16006445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38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9  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608" name="table 608"/>
          <p:cNvGraphicFramePr>
            <a:graphicFrameLocks noGrp="1"/>
          </p:cNvGraphicFramePr>
          <p:nvPr/>
        </p:nvGraphicFramePr>
        <p:xfrm>
          <a:off x="10091738" y="5519737"/>
          <a:ext cx="3057525" cy="771525"/>
        </p:xfrm>
        <a:graphic>
          <a:graphicData uri="http://schemas.openxmlformats.org/drawingml/2006/table">
            <a:tbl>
              <a:tblPr/>
              <a:tblGrid>
                <a:gridCol w="3057525"/>
              </a:tblGrid>
              <a:tr h="762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4465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 I G HT N I N G   I N D EX</a:t>
                      </a:r>
                      <a:r>
                        <a:rPr sz="8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99000"/>
                        </a:lnSpc>
                        <a:spcBef>
                          <a:spcPts val="698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低秩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query · FP4 compute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ts val="1252"/>
                        </a:lnSpc>
                        <a:spcBef>
                          <a:spcPts val="211"/>
                        </a:spcBef>
                        <a:tabLst/>
                      </a:pP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query</a:t>
                      </a: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对每压缩块算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index</a:t>
                      </a: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10" name="picture 6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24000" y="4095750"/>
            <a:ext cx="4248150" cy="285750"/>
          </a:xfrm>
          <a:prstGeom prst="rect">
            <a:avLst/>
          </a:prstGeom>
        </p:spPr>
      </p:pic>
      <p:sp>
        <p:nvSpPr>
          <p:cNvPr id="612" name="textbox 612"/>
          <p:cNvSpPr/>
          <p:nvPr/>
        </p:nvSpPr>
        <p:spPr>
          <a:xfrm>
            <a:off x="7234701" y="4508551"/>
            <a:ext cx="7474585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2"/>
              </a:lnSpc>
              <a:tabLst/>
            </a:pP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1/m 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倍的体积，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但保留语义</a:t>
            </a:r>
            <a:r>
              <a:rPr sz="10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Lightning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Indexer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打分，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只看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top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-k 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块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614" name="textbox 61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616" name="picture 6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618" name="textbox 618"/>
          <p:cNvSpPr/>
          <p:nvPr/>
        </p:nvSpPr>
        <p:spPr>
          <a:xfrm>
            <a:off x="1516500" y="4508551"/>
            <a:ext cx="1610995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2"/>
              </a:lnSpc>
              <a:tabLst/>
            </a:pP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 =</a:t>
            </a:r>
            <a:r>
              <a:rPr sz="1000" kern="0" spc="1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64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为一组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620" name="textbox 620"/>
          <p:cNvSpPr/>
          <p:nvPr/>
        </p:nvSpPr>
        <p:spPr>
          <a:xfrm>
            <a:off x="1514843" y="3797909"/>
            <a:ext cx="213614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STAG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1   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原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始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序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列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tokens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622" name="picture 6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624" name="textbox 624"/>
          <p:cNvSpPr/>
          <p:nvPr/>
        </p:nvSpPr>
        <p:spPr>
          <a:xfrm>
            <a:off x="16125244" y="517118"/>
            <a:ext cx="101028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CSA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展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626" name="picture 6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600825" y="7048500"/>
            <a:ext cx="5086350" cy="19050"/>
          </a:xfrm>
          <a:prstGeom prst="rect">
            <a:avLst/>
          </a:prstGeom>
        </p:spPr>
      </p:pic>
      <p:pic>
        <p:nvPicPr>
          <p:cNvPr id="628" name="picture 6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2068175" y="7048500"/>
            <a:ext cx="5076825" cy="19050"/>
          </a:xfrm>
          <a:prstGeom prst="rect">
            <a:avLst/>
          </a:prstGeom>
        </p:spPr>
      </p:pic>
      <p:pic>
        <p:nvPicPr>
          <p:cNvPr id="630" name="picture 6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143000" y="7048500"/>
            <a:ext cx="5076825" cy="19050"/>
          </a:xfrm>
          <a:prstGeom prst="rect">
            <a:avLst/>
          </a:prstGeom>
        </p:spPr>
      </p:pic>
      <p:pic>
        <p:nvPicPr>
          <p:cNvPr id="632" name="picture 6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000750" y="4191000"/>
            <a:ext cx="857250" cy="95250"/>
          </a:xfrm>
          <a:prstGeom prst="rect">
            <a:avLst/>
          </a:prstGeom>
        </p:spPr>
      </p:pic>
      <p:sp>
        <p:nvSpPr>
          <p:cNvPr id="634" name="textbox 634"/>
          <p:cNvSpPr/>
          <p:nvPr/>
        </p:nvSpPr>
        <p:spPr>
          <a:xfrm>
            <a:off x="6141308" y="4064304"/>
            <a:ext cx="582930" cy="117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7000"/>
              </a:lnSpc>
              <a:tabLst/>
            </a:pP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compress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636" name="path 636"/>
          <p:cNvSpPr/>
          <p:nvPr/>
        </p:nvSpPr>
        <p:spPr>
          <a:xfrm>
            <a:off x="21312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8" name="path 638"/>
          <p:cNvSpPr/>
          <p:nvPr/>
        </p:nvSpPr>
        <p:spPr>
          <a:xfrm>
            <a:off x="4569619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0" name="path 640"/>
          <p:cNvSpPr/>
          <p:nvPr/>
        </p:nvSpPr>
        <p:spPr>
          <a:xfrm>
            <a:off x="4722019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2" name="path 642"/>
          <p:cNvSpPr/>
          <p:nvPr/>
        </p:nvSpPr>
        <p:spPr>
          <a:xfrm>
            <a:off x="4874419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4" name="path 644"/>
          <p:cNvSpPr/>
          <p:nvPr/>
        </p:nvSpPr>
        <p:spPr>
          <a:xfrm>
            <a:off x="5026819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6" name="path 646"/>
          <p:cNvSpPr/>
          <p:nvPr/>
        </p:nvSpPr>
        <p:spPr>
          <a:xfrm>
            <a:off x="5179219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8" name="path 648"/>
          <p:cNvSpPr/>
          <p:nvPr/>
        </p:nvSpPr>
        <p:spPr>
          <a:xfrm>
            <a:off x="5331619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0" name="path 650"/>
          <p:cNvSpPr/>
          <p:nvPr/>
        </p:nvSpPr>
        <p:spPr>
          <a:xfrm>
            <a:off x="5484019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2" name="path 652"/>
          <p:cNvSpPr/>
          <p:nvPr/>
        </p:nvSpPr>
        <p:spPr>
          <a:xfrm>
            <a:off x="5636419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4" name="path 654"/>
          <p:cNvSpPr/>
          <p:nvPr/>
        </p:nvSpPr>
        <p:spPr>
          <a:xfrm>
            <a:off x="18264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6" name="path 656"/>
          <p:cNvSpPr/>
          <p:nvPr/>
        </p:nvSpPr>
        <p:spPr>
          <a:xfrm>
            <a:off x="4417219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8" name="path 658"/>
          <p:cNvSpPr/>
          <p:nvPr/>
        </p:nvSpPr>
        <p:spPr>
          <a:xfrm>
            <a:off x="4264819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0" name="path 660"/>
          <p:cNvSpPr/>
          <p:nvPr/>
        </p:nvSpPr>
        <p:spPr>
          <a:xfrm>
            <a:off x="41124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2" name="path 662"/>
          <p:cNvSpPr/>
          <p:nvPr/>
        </p:nvSpPr>
        <p:spPr>
          <a:xfrm>
            <a:off x="16740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4" name="path 664"/>
          <p:cNvSpPr/>
          <p:nvPr/>
        </p:nvSpPr>
        <p:spPr>
          <a:xfrm>
            <a:off x="15216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6" name="path 666"/>
          <p:cNvSpPr/>
          <p:nvPr/>
        </p:nvSpPr>
        <p:spPr>
          <a:xfrm>
            <a:off x="39600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8" name="path 668"/>
          <p:cNvSpPr/>
          <p:nvPr/>
        </p:nvSpPr>
        <p:spPr>
          <a:xfrm>
            <a:off x="38076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0" name="path 670"/>
          <p:cNvSpPr/>
          <p:nvPr/>
        </p:nvSpPr>
        <p:spPr>
          <a:xfrm>
            <a:off x="36552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2" name="path 672"/>
          <p:cNvSpPr/>
          <p:nvPr/>
        </p:nvSpPr>
        <p:spPr>
          <a:xfrm>
            <a:off x="35028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4" name="path 674"/>
          <p:cNvSpPr/>
          <p:nvPr/>
        </p:nvSpPr>
        <p:spPr>
          <a:xfrm>
            <a:off x="33504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6" name="path 676"/>
          <p:cNvSpPr/>
          <p:nvPr/>
        </p:nvSpPr>
        <p:spPr>
          <a:xfrm>
            <a:off x="31980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8" name="path 678"/>
          <p:cNvSpPr/>
          <p:nvPr/>
        </p:nvSpPr>
        <p:spPr>
          <a:xfrm>
            <a:off x="30456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0" name="path 680"/>
          <p:cNvSpPr/>
          <p:nvPr/>
        </p:nvSpPr>
        <p:spPr>
          <a:xfrm>
            <a:off x="28932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2" name="path 682"/>
          <p:cNvSpPr/>
          <p:nvPr/>
        </p:nvSpPr>
        <p:spPr>
          <a:xfrm>
            <a:off x="27408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4" name="path 684"/>
          <p:cNvSpPr/>
          <p:nvPr/>
        </p:nvSpPr>
        <p:spPr>
          <a:xfrm>
            <a:off x="25884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6" name="path 686"/>
          <p:cNvSpPr/>
          <p:nvPr/>
        </p:nvSpPr>
        <p:spPr>
          <a:xfrm>
            <a:off x="24360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8" name="path 688"/>
          <p:cNvSpPr/>
          <p:nvPr/>
        </p:nvSpPr>
        <p:spPr>
          <a:xfrm>
            <a:off x="22836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0" name="path 690"/>
          <p:cNvSpPr/>
          <p:nvPr/>
        </p:nvSpPr>
        <p:spPr>
          <a:xfrm>
            <a:off x="1978818" y="4093368"/>
            <a:ext cx="138112" cy="290512"/>
          </a:xfrm>
          <a:custGeom>
            <a:avLst/>
            <a:gdLst/>
            <a:ahLst/>
            <a:cxnLst/>
            <a:rect l="0" t="0" r="0" b="0"/>
            <a:pathLst>
              <a:path w="217" h="457">
                <a:moveTo>
                  <a:pt x="3" y="3"/>
                </a:moveTo>
                <a:lnTo>
                  <a:pt x="213" y="3"/>
                </a:lnTo>
                <a:lnTo>
                  <a:pt x="213" y="453"/>
                </a:lnTo>
                <a:lnTo>
                  <a:pt x="3" y="453"/>
                </a:lnTo>
                <a:lnTo>
                  <a:pt x="3" y="3"/>
                </a:lnTo>
                <a:close/>
              </a:path>
            </a:pathLst>
          </a:custGeom>
          <a:noFill/>
          <a:ln w="4762" cap="flat">
            <a:solidFill>
              <a:srgbClr val="CCD0D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rect 692"/>
          <p:cNvSpPr/>
          <p:nvPr/>
        </p:nvSpPr>
        <p:spPr>
          <a:xfrm>
            <a:off x="16754475" y="4533900"/>
            <a:ext cx="371475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4" name="rect 694"/>
          <p:cNvSpPr/>
          <p:nvPr/>
        </p:nvSpPr>
        <p:spPr>
          <a:xfrm>
            <a:off x="11306175" y="4781550"/>
            <a:ext cx="381000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6" name="textbox 696"/>
          <p:cNvSpPr/>
          <p:nvPr/>
        </p:nvSpPr>
        <p:spPr>
          <a:xfrm>
            <a:off x="11296409" y="3859936"/>
            <a:ext cx="5846445" cy="406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073"/>
              </a:lnSpc>
              <a:tabLst/>
            </a:pP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8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8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604"/>
              </a:lnSpc>
              <a:spcBef>
                <a:spcPts val="592"/>
              </a:spcBef>
              <a:tabLst/>
            </a:pPr>
            <a:r>
              <a:rPr sz="2100" b="1" kern="0" spc="-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粒度</a:t>
            </a:r>
            <a:r>
              <a:rPr sz="2100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b="1" kern="0" spc="-1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m,</a:t>
            </a:r>
            <a:r>
              <a:rPr sz="2100" b="1" kern="0" spc="1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100" kern="0" spc="-120" dirty="0">
                <a:solidFill>
                  <a:srgbClr val="1A1A1A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≫ </a:t>
            </a:r>
            <a:r>
              <a:rPr sz="2100" b="1" kern="0" spc="-1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</a:t>
            </a:r>
            <a:endParaRPr sz="2100" dirty="0">
              <a:latin typeface="Georgia"/>
              <a:ea typeface="Georgia"/>
              <a:cs typeface="Georgia"/>
            </a:endParaRPr>
          </a:p>
          <a:p>
            <a:pPr marL="22860" indent="1905" algn="l" rtl="0" eaLnBrk="0">
              <a:lnSpc>
                <a:spcPct val="128000"/>
              </a:lnSpc>
              <a:spcBef>
                <a:spcPts val="653"/>
              </a:spcBef>
              <a:tabLst/>
            </a:pP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同样的压缩机制，但步长放大一个数量级（论文未披露具体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,，</a:t>
            </a:r>
            <a:r>
              <a:rPr sz="12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参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考实现中</a:t>
            </a:r>
            <a:r>
              <a:rPr sz="12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m′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=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1024</a:t>
            </a:r>
            <a:r>
              <a:rPr sz="1000" kern="0" spc="27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量级）。</a:t>
            </a:r>
            <a:r>
              <a:rPr sz="1200" kern="0" spc="-2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/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, 个压缩块就几十到几百个。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99000"/>
              </a:lnSpc>
              <a:spcBef>
                <a:spcPts val="273"/>
              </a:spcBef>
              <a:tabLst/>
            </a:pP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AT T 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 T I O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9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6000"/>
              </a:lnSpc>
              <a:spcBef>
                <a:spcPts val="898"/>
              </a:spcBef>
              <a:tabLst/>
            </a:pPr>
            <a:r>
              <a:rPr sz="2100" b="1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Dense</a:t>
            </a:r>
            <a:r>
              <a:rPr sz="2100" b="1" kern="0" spc="1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100" b="1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2100" b="1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不走稀疏</a:t>
            </a:r>
            <a:endParaRPr sz="2100" dirty="0">
              <a:latin typeface="PingFang SC"/>
              <a:ea typeface="PingFang SC"/>
              <a:cs typeface="PingFang SC"/>
            </a:endParaRPr>
          </a:p>
          <a:p>
            <a:pPr marL="17780" indent="-1270" algn="l" rtl="0" eaLnBrk="0">
              <a:lnSpc>
                <a:spcPct val="132000"/>
              </a:lnSpc>
              <a:spcBef>
                <a:spcPts val="731"/>
              </a:spcBef>
              <a:tabLst/>
            </a:pPr>
            <a:r>
              <a:rPr sz="12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没有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Lightning</a:t>
            </a:r>
            <a:r>
              <a:rPr sz="12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Indexer</a:t>
            </a:r>
            <a:r>
              <a:rPr sz="12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200" kern="0" spc="-2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2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对所有压缩块做完整的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MQA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。块数本来就少，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dense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的代价可以接受。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74000"/>
              </a:lnSpc>
              <a:spcBef>
                <a:spcPts val="273"/>
              </a:spcBef>
              <a:tabLst/>
            </a:pPr>
            <a:r>
              <a:rPr sz="900" kern="0" spc="-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O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2604"/>
              </a:lnSpc>
              <a:spcBef>
                <a:spcPts val="659"/>
              </a:spcBef>
              <a:tabLst/>
            </a:pPr>
            <a:r>
              <a:rPr sz="2100" b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粗粒度全局信息兜底</a:t>
            </a:r>
            <a:endParaRPr sz="2100" dirty="0">
              <a:latin typeface="PingFang SC"/>
              <a:ea typeface="PingFang SC"/>
              <a:cs typeface="PingFang SC"/>
            </a:endParaRPr>
          </a:p>
          <a:p>
            <a:pPr marL="15240" algn="l" rtl="0" eaLnBrk="0">
              <a:lnSpc>
                <a:spcPct val="140000"/>
              </a:lnSpc>
              <a:spcBef>
                <a:spcPts val="206"/>
              </a:spcBef>
              <a:tabLst/>
            </a:pP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承担「整篇文档的宏观理解J  一跨段</a:t>
            </a:r>
            <a:r>
              <a:rPr sz="12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、跨章节的长程依赖。</a:t>
            </a:r>
            <a:r>
              <a:rPr sz="12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和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CSA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层交替排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布，</a:t>
            </a:r>
            <a:r>
              <a:rPr sz="1200" kern="0" spc="-2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形成一粗一细的双通道。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698" name="textbox 698"/>
          <p:cNvSpPr/>
          <p:nvPr/>
        </p:nvSpPr>
        <p:spPr>
          <a:xfrm>
            <a:off x="1130300" y="1479143"/>
            <a:ext cx="9926955" cy="143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3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·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AV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LY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900" dirty="0">
              <a:latin typeface="Arial"/>
              <a:ea typeface="Arial"/>
              <a:cs typeface="Arial"/>
            </a:endParaRPr>
          </a:p>
          <a:p>
            <a:pPr marL="33020" algn="l" rtl="0" eaLnBrk="0">
              <a:lnSpc>
                <a:spcPct val="85000"/>
              </a:lnSpc>
              <a:spcBef>
                <a:spcPts val="2022"/>
              </a:spcBef>
              <a:tabLst/>
            </a:pPr>
            <a:r>
              <a:rPr sz="4800" b="1" kern="0" spc="-1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激进压缩</a:t>
            </a:r>
            <a:r>
              <a:rPr sz="4800" kern="0" spc="-9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1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900" b="1" i="1" kern="0" spc="-1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但保留全局</a:t>
            </a:r>
            <a:r>
              <a:rPr sz="4900" kern="0" spc="-6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i="1" kern="0" spc="-1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dense</a:t>
            </a:r>
            <a:r>
              <a:rPr sz="4800" b="1" i="1" kern="0" spc="39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900" b="1" i="1" kern="0" spc="-1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视野</a:t>
            </a:r>
            <a:endParaRPr sz="4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9 远大于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，序列被狠狠压扁；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但不做稀疏筛选，每个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都要把所有压缩块扫一遍一牺牲细粒度，换全局视野。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700" name="picture 7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702" name="textbox 702"/>
          <p:cNvSpPr/>
          <p:nvPr/>
        </p:nvSpPr>
        <p:spPr>
          <a:xfrm>
            <a:off x="4762500" y="6477000"/>
            <a:ext cx="5143500" cy="83820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5584" algn="l" rtl="0" eaLnBrk="0">
              <a:lnSpc>
                <a:spcPct val="88000"/>
              </a:lnSpc>
              <a:tabLst/>
            </a:pP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NS E</a:t>
            </a:r>
            <a:r>
              <a:rPr sz="8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 E NT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IO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800" dirty="0">
              <a:latin typeface="Arial"/>
              <a:ea typeface="Arial"/>
              <a:cs typeface="Arial"/>
            </a:endParaRPr>
          </a:p>
          <a:p>
            <a:pPr marL="234950" algn="l" rtl="0" eaLnBrk="0">
              <a:lnSpc>
                <a:spcPct val="87000"/>
              </a:lnSpc>
              <a:spcBef>
                <a:spcPts val="679"/>
              </a:spcBef>
              <a:tabLst/>
            </a:pPr>
            <a:r>
              <a:rPr sz="13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每个 </a:t>
            </a:r>
            <a:r>
              <a:rPr sz="13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300" kern="0" spc="4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把所有压缩块都扫一遍</a:t>
            </a:r>
            <a:endParaRPr sz="13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3368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粒度虽粗，但没有一块被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丢掉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704" name="picture 7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706" name="textbox 706"/>
          <p:cNvSpPr/>
          <p:nvPr/>
        </p:nvSpPr>
        <p:spPr>
          <a:xfrm>
            <a:off x="1134510" y="9632544"/>
            <a:ext cx="16007080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38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/  7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708" name="picture 7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22095" y="4379595"/>
            <a:ext cx="2737485" cy="689609"/>
          </a:xfrm>
          <a:prstGeom prst="rect">
            <a:avLst/>
          </a:prstGeom>
        </p:spPr>
      </p:pic>
      <p:sp>
        <p:nvSpPr>
          <p:cNvPr id="710" name="textbox 710"/>
          <p:cNvSpPr/>
          <p:nvPr/>
        </p:nvSpPr>
        <p:spPr>
          <a:xfrm>
            <a:off x="1138701" y="8977605"/>
            <a:ext cx="8615045" cy="230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10"/>
              </a:lnSpc>
              <a:tabLst/>
            </a:pP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一个设计直觉：</a:t>
            </a:r>
            <a:r>
              <a:rPr sz="13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粗的那一路必须 </a:t>
            </a:r>
            <a:r>
              <a:rPr sz="13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dense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一如果粗粒度再稀疏一次，全局视野就彻底断了，和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CSA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的功能会重叠。</a:t>
            </a:r>
            <a:endParaRPr sz="13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712" name="textbox 712"/>
          <p:cNvSpPr/>
          <p:nvPr/>
        </p:nvSpPr>
        <p:spPr>
          <a:xfrm>
            <a:off x="1138167" y="7803267"/>
            <a:ext cx="5098415" cy="201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87"/>
              </a:lnSpc>
              <a:tabLst/>
            </a:pPr>
            <a:r>
              <a:rPr sz="1000" kern="0" spc="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示</a:t>
            </a:r>
            <a:r>
              <a:rPr sz="10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意</a:t>
            </a:r>
            <a:r>
              <a:rPr sz="1000" kern="0" spc="3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1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压</a:t>
            </a:r>
            <a:r>
              <a:rPr sz="10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缩</a:t>
            </a:r>
            <a:r>
              <a:rPr sz="10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率</a:t>
            </a:r>
            <a:r>
              <a:rPr sz="1000" kern="0" spc="3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1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000" kern="0" spc="-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′  </a:t>
            </a:r>
            <a:r>
              <a:rPr sz="1000" kern="0" spc="100" dirty="0">
                <a:solidFill>
                  <a:srgbClr val="5A5A5A">
                    <a:alpha val="100000"/>
                  </a:srgbClr>
                </a:solidFill>
                <a:latin typeface="Apple Symbols"/>
                <a:ea typeface="Apple Symbols"/>
                <a:cs typeface="Apple Symbols"/>
              </a:rPr>
              <a:t>≫</a:t>
            </a:r>
            <a:r>
              <a:rPr sz="1000" kern="0" spc="330" dirty="0">
                <a:solidFill>
                  <a:srgbClr val="5A5A5A">
                    <a:alpha val="100000"/>
                  </a:srgbClr>
                </a:solidFill>
                <a:latin typeface="Apple Symbols"/>
                <a:ea typeface="Apple Symbols"/>
                <a:cs typeface="Apple Symbols"/>
              </a:rPr>
              <a:t> </a:t>
            </a:r>
            <a:r>
              <a:rPr sz="1000" kern="0" spc="1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 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000" kern="0" spc="-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压</a:t>
            </a:r>
            <a:r>
              <a:rPr sz="10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缩</a:t>
            </a:r>
            <a:r>
              <a:rPr sz="1000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后</a:t>
            </a:r>
            <a:r>
              <a:rPr sz="1000" kern="0" spc="-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块</a:t>
            </a:r>
            <a:r>
              <a:rPr sz="1000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</a:t>
            </a:r>
            <a:r>
              <a:rPr sz="1000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极</a:t>
            </a:r>
            <a:r>
              <a:rPr sz="1000" kern="0" spc="-1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少</a:t>
            </a:r>
            <a:r>
              <a:rPr sz="1000" kern="0" spc="-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0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做</a:t>
            </a:r>
            <a:r>
              <a:rPr sz="1000" kern="0" spc="3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FULL</a:t>
            </a:r>
            <a:r>
              <a:rPr sz="10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714" name="table 714"/>
          <p:cNvGraphicFramePr>
            <a:graphicFrameLocks noGrp="1"/>
          </p:cNvGraphicFramePr>
          <p:nvPr/>
        </p:nvGraphicFramePr>
        <p:xfrm>
          <a:off x="7996237" y="4900612"/>
          <a:ext cx="771525" cy="676275"/>
        </p:xfrm>
        <a:graphic>
          <a:graphicData uri="http://schemas.openxmlformats.org/drawingml/2006/table">
            <a:tbl>
              <a:tblPr>
                <a:solidFill>
                  <a:srgbClr val="4D6BFE"/>
                </a:solidFill>
              </a:tblPr>
              <a:tblGrid>
                <a:gridCol w="771525"/>
              </a:tblGrid>
              <a:tr h="666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0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C3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6" name="table 716"/>
          <p:cNvGraphicFramePr>
            <a:graphicFrameLocks noGrp="1"/>
          </p:cNvGraphicFramePr>
          <p:nvPr/>
        </p:nvGraphicFramePr>
        <p:xfrm>
          <a:off x="6091237" y="4900612"/>
          <a:ext cx="771525" cy="676275"/>
        </p:xfrm>
        <a:graphic>
          <a:graphicData uri="http://schemas.openxmlformats.org/drawingml/2006/table">
            <a:tbl>
              <a:tblPr>
                <a:solidFill>
                  <a:srgbClr val="4D6BFE"/>
                </a:solidFill>
              </a:tblPr>
              <a:tblGrid>
                <a:gridCol w="771525"/>
              </a:tblGrid>
              <a:tr h="666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9565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8" name="table 718"/>
          <p:cNvGraphicFramePr>
            <a:graphicFrameLocks noGrp="1"/>
          </p:cNvGraphicFramePr>
          <p:nvPr/>
        </p:nvGraphicFramePr>
        <p:xfrm>
          <a:off x="7043737" y="4900612"/>
          <a:ext cx="771525" cy="676275"/>
        </p:xfrm>
        <a:graphic>
          <a:graphicData uri="http://schemas.openxmlformats.org/drawingml/2006/table">
            <a:tbl>
              <a:tblPr>
                <a:solidFill>
                  <a:srgbClr val="4D6BFE"/>
                </a:solidFill>
              </a:tblPr>
              <a:tblGrid>
                <a:gridCol w="771525"/>
              </a:tblGrid>
              <a:tr h="666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5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</a:tr>
            </a:tbl>
          </a:graphicData>
        </a:graphic>
      </p:graphicFrame>
      <p:sp>
        <p:nvSpPr>
          <p:cNvPr id="720" name="textbox 720"/>
          <p:cNvSpPr/>
          <p:nvPr/>
        </p:nvSpPr>
        <p:spPr>
          <a:xfrm>
            <a:off x="6089691" y="5663171"/>
            <a:ext cx="377317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8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8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′</a:t>
            </a:r>
            <a:r>
              <a:rPr sz="8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</a:t>
            </a:r>
            <a:r>
              <a:rPr sz="8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压</a:t>
            </a:r>
            <a:r>
              <a:rPr sz="8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缩</a:t>
            </a:r>
            <a:r>
              <a:rPr sz="8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块</a:t>
            </a:r>
            <a:r>
              <a:rPr sz="800" kern="0" spc="-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 极</a:t>
            </a:r>
            <a:r>
              <a:rPr sz="8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少</a:t>
            </a:r>
            <a:r>
              <a:rPr sz="8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722" name="textbox 72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724" name="picture 7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726" name="picture 7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753475"/>
            <a:ext cx="13335000" cy="19050"/>
          </a:xfrm>
          <a:prstGeom prst="rect">
            <a:avLst/>
          </a:prstGeom>
        </p:spPr>
      </p:pic>
      <p:sp>
        <p:nvSpPr>
          <p:cNvPr id="728" name="textbox 728"/>
          <p:cNvSpPr/>
          <p:nvPr/>
        </p:nvSpPr>
        <p:spPr>
          <a:xfrm>
            <a:off x="4594003" y="4985715"/>
            <a:ext cx="111252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2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compress</a:t>
            </a:r>
            <a:r>
              <a:rPr sz="12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1200" kern="0" spc="-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2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730" name="textbox 730"/>
          <p:cNvSpPr/>
          <p:nvPr/>
        </p:nvSpPr>
        <p:spPr>
          <a:xfrm>
            <a:off x="9525000" y="4905375"/>
            <a:ext cx="285750" cy="666750"/>
          </a:xfrm>
          <a:prstGeom prst="rect">
            <a:avLst/>
          </a:prstGeom>
          <a:solidFill>
            <a:srgbClr val="1A1A1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9220" algn="l" rtl="0" eaLnBrk="0">
              <a:lnSpc>
                <a:spcPts val="781"/>
              </a:lnSpc>
              <a:spcBef>
                <a:spcPts val="4"/>
              </a:spcBef>
              <a:tabLst/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q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732" name="textbox 732"/>
          <p:cNvSpPr/>
          <p:nvPr/>
        </p:nvSpPr>
        <p:spPr>
          <a:xfrm>
            <a:off x="4591860" y="5364086"/>
            <a:ext cx="1109980" cy="176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88"/>
              </a:lnSpc>
              <a:tabLst/>
            </a:pP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(m′</a:t>
            </a:r>
            <a:r>
              <a:rPr sz="900" kern="0" spc="2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pple Symbols"/>
                <a:ea typeface="Apple Symbols"/>
                <a:cs typeface="Apple Symbols"/>
              </a:rPr>
              <a:t>≫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-1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，例如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1024)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734" name="picture 7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736" name="textbox 736"/>
          <p:cNvSpPr/>
          <p:nvPr/>
        </p:nvSpPr>
        <p:spPr>
          <a:xfrm>
            <a:off x="16099394" y="517118"/>
            <a:ext cx="103632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2 0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CA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展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738" name="picture 7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572000" y="5181600"/>
            <a:ext cx="1143000" cy="114300"/>
          </a:xfrm>
          <a:prstGeom prst="rect">
            <a:avLst/>
          </a:prstGeom>
        </p:spPr>
      </p:pic>
      <p:pic>
        <p:nvPicPr>
          <p:cNvPr id="740" name="picture 7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049000" y="3810000"/>
            <a:ext cx="28575" cy="4191000"/>
          </a:xfrm>
          <a:prstGeom prst="rect">
            <a:avLst/>
          </a:prstGeom>
        </p:spPr>
      </p:pic>
      <p:sp>
        <p:nvSpPr>
          <p:cNvPr id="742" name="textbox 742"/>
          <p:cNvSpPr/>
          <p:nvPr/>
        </p:nvSpPr>
        <p:spPr>
          <a:xfrm>
            <a:off x="1513081" y="4139171"/>
            <a:ext cx="113728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~</a:t>
            </a:r>
            <a:r>
              <a:rPr sz="8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8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ke n</a:t>
            </a:r>
            <a:r>
              <a:rPr sz="8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M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)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744" name="path 744"/>
          <p:cNvSpPr/>
          <p:nvPr/>
        </p:nvSpPr>
        <p:spPr>
          <a:xfrm>
            <a:off x="6858000" y="5233987"/>
            <a:ext cx="2667000" cy="9525"/>
          </a:xfrm>
          <a:custGeom>
            <a:avLst/>
            <a:gdLst/>
            <a:ahLst/>
            <a:cxnLst/>
            <a:rect l="0" t="0" r="0" b="0"/>
            <a:pathLst>
              <a:path w="4200" h="15">
                <a:moveTo>
                  <a:pt x="4200" y="7"/>
                </a:moveTo>
                <a:lnTo>
                  <a:pt x="0" y="7"/>
                </a:lnTo>
                <a:moveTo>
                  <a:pt x="4200" y="7"/>
                </a:moveTo>
                <a:lnTo>
                  <a:pt x="1500" y="7"/>
                </a:lnTo>
                <a:moveTo>
                  <a:pt x="4200" y="7"/>
                </a:moveTo>
                <a:lnTo>
                  <a:pt x="3000" y="7"/>
                </a:lnTo>
              </a:path>
            </a:pathLst>
          </a:custGeom>
          <a:noFill/>
          <a:ln w="9525" cap="flat">
            <a:solidFill>
              <a:srgbClr val="1A1A1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6" name="table 746"/>
          <p:cNvGraphicFramePr>
            <a:graphicFrameLocks noGrp="1"/>
          </p:cNvGraphicFramePr>
          <p:nvPr/>
        </p:nvGraphicFramePr>
        <p:xfrm>
          <a:off x="9429750" y="3810000"/>
          <a:ext cx="7715250" cy="1857375"/>
        </p:xfrm>
        <a:graphic>
          <a:graphicData uri="http://schemas.openxmlformats.org/drawingml/2006/table">
            <a:tbl>
              <a:tblPr/>
              <a:tblGrid>
                <a:gridCol w="636905"/>
                <a:gridCol w="7078344"/>
              </a:tblGrid>
              <a:tr h="1857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" algn="l" rtl="0" eaLnBrk="0">
                        <a:lnSpc>
                          <a:spcPts val="2240"/>
                        </a:lnSpc>
                        <a:tabLst/>
                      </a:pPr>
                      <a:r>
                        <a:rPr sz="3300" b="1" i="1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02</a:t>
                      </a:r>
                      <a:endParaRPr sz="33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71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L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 G   W I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OW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885" algn="l" rtl="0" eaLnBrk="0">
                        <a:lnSpc>
                          <a:spcPct val="89000"/>
                        </a:lnSpc>
                        <a:spcBef>
                          <a:spcPts val="1094"/>
                        </a:spcBef>
                        <a:tabLst/>
                      </a:pP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最近</a:t>
                      </a:r>
                      <a:r>
                        <a:rPr sz="2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n_</a:t>
                      </a: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win</a:t>
                      </a:r>
                      <a:r>
                        <a:rPr sz="2200" kern="0" spc="-6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r>
                        <a:rPr sz="2200" kern="0" spc="-1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token</a:t>
                      </a: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不压缩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indent="-3175" algn="l" rtl="0" eaLnBrk="0">
                        <a:lnSpc>
                          <a:spcPct val="13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压缩会吃掉局部细节一但最近的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</a:t>
                      </a:r>
                      <a:r>
                        <a:rPr sz="12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恰恰最重要。 额外开一个滑动窗</a:t>
                      </a:r>
                      <a:r>
                        <a:rPr sz="12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口分支</a:t>
                      </a:r>
                      <a:r>
                        <a:rPr sz="1200" kern="0" spc="-1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r>
                        <a:rPr sz="1200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不压缩地保留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最近 </a:t>
                      </a:r>
                      <a:r>
                        <a:rPr sz="1200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n_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win</a:t>
                      </a:r>
                      <a:r>
                        <a:rPr sz="1200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</a:t>
                      </a:r>
                      <a:r>
                        <a:rPr sz="1200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</a:t>
                      </a:r>
                      <a:r>
                        <a:rPr sz="12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r>
                        <a:rPr sz="1200" kern="0" spc="-2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和压缩块一起进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core</a:t>
                      </a:r>
                      <a:r>
                        <a:rPr sz="12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attention</a:t>
                      </a:r>
                      <a:r>
                        <a:rPr sz="12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8" name="textbox 748"/>
          <p:cNvSpPr/>
          <p:nvPr/>
        </p:nvSpPr>
        <p:spPr>
          <a:xfrm>
            <a:off x="1130300" y="1479143"/>
            <a:ext cx="10255250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0 3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那 些 让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/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真 正 好 用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细 节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5579"/>
              </a:lnSpc>
              <a:spcBef>
                <a:spcPts val="1403"/>
              </a:spcBef>
              <a:tabLst/>
            </a:pP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主结构之外</a:t>
            </a:r>
            <a:r>
              <a:rPr sz="4500" kern="0" spc="-8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500" kern="0" spc="-13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600" b="1" i="1" kern="0" spc="-1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还有四个决定成</a:t>
            </a:r>
            <a:r>
              <a:rPr sz="4600" b="1" i="1" kern="0" spc="-1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败的小零件</a:t>
            </a:r>
            <a:endParaRPr sz="4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286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单看每一项都不起眼，但少了任何一个，百万上下文的表现都会崩一块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CSA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和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HCA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共享这套底座。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750" name="picture 7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752" name="textbox 752"/>
          <p:cNvSpPr/>
          <p:nvPr/>
        </p:nvSpPr>
        <p:spPr>
          <a:xfrm>
            <a:off x="1860372" y="4086250"/>
            <a:ext cx="6752590" cy="1178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 H A R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  K V   ·   M QA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2789"/>
              </a:lnSpc>
              <a:spcBef>
                <a:spcPts val="804"/>
              </a:spcBef>
              <a:tabLst/>
            </a:pP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所有</a:t>
            </a:r>
            <a:r>
              <a:rPr sz="2200" kern="0" spc="-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head</a:t>
            </a: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共用一份</a:t>
            </a:r>
            <a:r>
              <a:rPr sz="22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KV</a:t>
            </a:r>
            <a:endParaRPr sz="22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35000"/>
              </a:lnSpc>
              <a:spcBef>
                <a:spcPts val="3"/>
              </a:spcBef>
              <a:tabLst/>
            </a:pP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每个压缩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entry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同时充当所有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head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和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</a:t>
            </a:r>
            <a:r>
              <a:rPr sz="12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head</a:t>
            </a:r>
            <a:r>
              <a:rPr sz="1200" kern="0" spc="1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数越多，省得越</a:t>
            </a:r>
            <a:r>
              <a:rPr sz="1200" kern="0" spc="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</a:t>
            </a:r>
            <a:r>
              <a:rPr sz="1200" kern="0" spc="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配合压缩本身，</a:t>
            </a:r>
            <a:r>
              <a:rPr sz="1200" kern="0" spc="-1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cache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又小了一个量级。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754" name="textbox 754"/>
          <p:cNvSpPr/>
          <p:nvPr/>
        </p:nvSpPr>
        <p:spPr>
          <a:xfrm>
            <a:off x="1860515" y="6624472"/>
            <a:ext cx="663384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10" indent="-3810" algn="l" rtl="0" eaLnBrk="0">
              <a:lnSpc>
                <a:spcPct val="130000"/>
              </a:lnSpc>
              <a:tabLst/>
            </a:pP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每个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head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配一个可学习的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sink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logit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200" kern="0" spc="-3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加到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softmax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的分母里</a:t>
            </a:r>
            <a:r>
              <a:rPr sz="1200" kern="0" spc="-1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 让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总和可以不等于</a:t>
            </a:r>
            <a:r>
              <a:rPr sz="1200" kern="0" spc="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sz="1200" kern="0" spc="-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200" kern="0" spc="-2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甚至接近 0一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200" kern="0" spc="10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在没话可说时就弃权</a:t>
            </a:r>
            <a:r>
              <a:rPr sz="12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，不强行关注噪声。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756" name="rect 756"/>
          <p:cNvSpPr/>
          <p:nvPr/>
        </p:nvSpPr>
        <p:spPr>
          <a:xfrm>
            <a:off x="14154150" y="6657975"/>
            <a:ext cx="1162050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8" name="textbox 758"/>
          <p:cNvSpPr/>
          <p:nvPr/>
        </p:nvSpPr>
        <p:spPr>
          <a:xfrm>
            <a:off x="10145646" y="6624472"/>
            <a:ext cx="6496050" cy="497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175" algn="l" rtl="0" eaLnBrk="0">
              <a:lnSpc>
                <a:spcPct val="132000"/>
              </a:lnSpc>
              <a:tabLst/>
            </a:pP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其余维度保留无位置信息的通用表示。</a:t>
            </a:r>
            <a:r>
              <a:rPr sz="12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配合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output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上用 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position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=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−i</a:t>
            </a:r>
            <a:r>
              <a:rPr sz="1000" kern="0" spc="24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再做一次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RoPE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trick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 </a:t>
            </a: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把绝对位置偷偷换成相对位置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2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百万长度下依然稳定。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760" name="picture 7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762" name="textbox 762"/>
          <p:cNvSpPr/>
          <p:nvPr/>
        </p:nvSpPr>
        <p:spPr>
          <a:xfrm>
            <a:off x="1134510" y="9632544"/>
            <a:ext cx="16007080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38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764" name="textbox 764"/>
          <p:cNvSpPr/>
          <p:nvPr/>
        </p:nvSpPr>
        <p:spPr>
          <a:xfrm>
            <a:off x="1858086" y="5907811"/>
            <a:ext cx="3562984" cy="612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 T E N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   S I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789"/>
              </a:lnSpc>
              <a:spcBef>
                <a:spcPts val="3"/>
              </a:spcBef>
              <a:tabLst/>
            </a:pP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给</a:t>
            </a:r>
            <a:r>
              <a:rPr sz="22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query</a:t>
            </a: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一个「弃权」</a:t>
            </a:r>
            <a:r>
              <a:rPr sz="2200" kern="0" spc="-1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出又</a:t>
            </a:r>
            <a:endParaRPr sz="2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766" name="textbox 766"/>
          <p:cNvSpPr/>
          <p:nvPr/>
        </p:nvSpPr>
        <p:spPr>
          <a:xfrm>
            <a:off x="10150666" y="5907811"/>
            <a:ext cx="3420745" cy="588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PA R T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 A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  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 O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RoPE</a:t>
            </a: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只作用在最后</a:t>
            </a:r>
            <a:r>
              <a:rPr sz="22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64 </a:t>
            </a: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维</a:t>
            </a:r>
            <a:endParaRPr sz="2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768" name="textbox 768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770" name="picture 7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772" name="textbox 772"/>
          <p:cNvSpPr/>
          <p:nvPr/>
        </p:nvSpPr>
        <p:spPr>
          <a:xfrm>
            <a:off x="9437586" y="6024245"/>
            <a:ext cx="570865" cy="338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62"/>
              </a:lnSpc>
              <a:tabLst/>
            </a:pPr>
            <a:r>
              <a:rPr sz="3300" b="1" i="1" kern="0" spc="-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04</a:t>
            </a:r>
            <a:endParaRPr sz="3300" dirty="0">
              <a:latin typeface="Georgia"/>
              <a:ea typeface="Georgia"/>
              <a:cs typeface="Georgia"/>
            </a:endParaRPr>
          </a:p>
        </p:txBody>
      </p:sp>
      <p:sp>
        <p:nvSpPr>
          <p:cNvPr id="774" name="textbox 774"/>
          <p:cNvSpPr/>
          <p:nvPr/>
        </p:nvSpPr>
        <p:spPr>
          <a:xfrm>
            <a:off x="1150835" y="6024245"/>
            <a:ext cx="560705" cy="338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62"/>
              </a:lnSpc>
              <a:tabLst/>
            </a:pPr>
            <a:r>
              <a:rPr sz="3300" b="1" i="1" kern="0" spc="-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03</a:t>
            </a:r>
            <a:endParaRPr sz="3300" dirty="0">
              <a:latin typeface="Georgia"/>
              <a:ea typeface="Georgia"/>
              <a:cs typeface="Georgia"/>
            </a:endParaRPr>
          </a:p>
        </p:txBody>
      </p:sp>
      <p:sp>
        <p:nvSpPr>
          <p:cNvPr id="776" name="textbox 776"/>
          <p:cNvSpPr/>
          <p:nvPr/>
        </p:nvSpPr>
        <p:spPr>
          <a:xfrm>
            <a:off x="16064271" y="517118"/>
            <a:ext cx="107124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21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配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套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小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巧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778" name="picture 7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780" name="textbox 780"/>
          <p:cNvSpPr/>
          <p:nvPr/>
        </p:nvSpPr>
        <p:spPr>
          <a:xfrm>
            <a:off x="1150835" y="4176395"/>
            <a:ext cx="504190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40"/>
              </a:lnSpc>
              <a:tabLst/>
            </a:pPr>
            <a:r>
              <a:rPr sz="3300" b="1" i="1" kern="0" spc="-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01</a:t>
            </a:r>
            <a:endParaRPr sz="3300" dirty="0">
              <a:latin typeface="Georgia"/>
              <a:ea typeface="Georgia"/>
              <a:cs typeface="Georgia"/>
            </a:endParaRPr>
          </a:p>
        </p:txBody>
      </p:sp>
      <p:pic>
        <p:nvPicPr>
          <p:cNvPr id="782" name="picture 7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3810000"/>
            <a:ext cx="7715250" cy="9525"/>
          </a:xfrm>
          <a:prstGeom prst="rect">
            <a:avLst/>
          </a:prstGeom>
        </p:spPr>
      </p:pic>
      <p:pic>
        <p:nvPicPr>
          <p:cNvPr id="784" name="picture 7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5657850"/>
            <a:ext cx="771525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rect 786"/>
          <p:cNvSpPr/>
          <p:nvPr/>
        </p:nvSpPr>
        <p:spPr>
          <a:xfrm>
            <a:off x="3524250" y="5753100"/>
            <a:ext cx="6191250" cy="685800"/>
          </a:xfrm>
          <a:prstGeom prst="rect">
            <a:avLst/>
          </a:prstGeom>
          <a:solidFill>
            <a:srgbClr val="4D6B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8" name="rect 788"/>
          <p:cNvSpPr/>
          <p:nvPr/>
        </p:nvSpPr>
        <p:spPr>
          <a:xfrm>
            <a:off x="3524250" y="6724650"/>
            <a:ext cx="6191250" cy="685800"/>
          </a:xfrm>
          <a:prstGeom prst="rect">
            <a:avLst/>
          </a:prstGeom>
          <a:solidFill>
            <a:srgbClr val="4D6B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90" name="table 790"/>
          <p:cNvGraphicFramePr>
            <a:graphicFrameLocks noGrp="1"/>
          </p:cNvGraphicFramePr>
          <p:nvPr/>
        </p:nvGraphicFramePr>
        <p:xfrm>
          <a:off x="3524250" y="3810000"/>
          <a:ext cx="6191250" cy="3600450"/>
        </p:xfrm>
        <a:graphic>
          <a:graphicData uri="http://schemas.openxmlformats.org/drawingml/2006/table">
            <a:tbl>
              <a:tblPr/>
              <a:tblGrid>
                <a:gridCol w="3095625"/>
                <a:gridCol w="3095625"/>
              </a:tblGrid>
              <a:tr h="685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5960" algn="l" rtl="0" eaLnBrk="0">
                        <a:lnSpc>
                          <a:spcPts val="1252"/>
                        </a:lnSpc>
                        <a:tabLst/>
                      </a:pP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bit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·</a:t>
                      </a:r>
                      <a:r>
                        <a:rPr sz="10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容错最高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4515" algn="l" rtl="0" eaLnBrk="0">
                        <a:lnSpc>
                          <a:spcPts val="1252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bit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·</a:t>
                      </a:r>
                      <a:r>
                        <a:rPr sz="1000" kern="0" spc="1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主体存一半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5" algn="l" rtl="0" eaLnBrk="0">
                        <a:lnSpc>
                          <a:spcPct val="7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9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BF</a:t>
                      </a:r>
                      <a:r>
                        <a:rPr sz="19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16</a:t>
                      </a:r>
                      <a:endParaRPr sz="19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5160" algn="l" rtl="0" eaLnBrk="0">
                        <a:lnSpc>
                          <a:spcPts val="1252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 </a:t>
                      </a:r>
                      <a:r>
                        <a:rPr sz="1000" kern="0" spc="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bit</a:t>
                      </a:r>
                      <a:r>
                        <a:rPr sz="1000" kern="0" spc="7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1000" kern="0" spc="13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位置保真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5" algn="l" rtl="0" eaLnBrk="0">
                        <a:lnSpc>
                          <a:spcPct val="7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9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BF</a:t>
                      </a:r>
                      <a:r>
                        <a:rPr sz="19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16</a:t>
                      </a:r>
                      <a:endParaRPr sz="19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81860" algn="l" rtl="0" eaLnBrk="0">
                        <a:lnSpc>
                          <a:spcPts val="1252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 </a:t>
                      </a:r>
                      <a:r>
                        <a:rPr sz="1000" kern="0" spc="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bit</a:t>
                      </a:r>
                      <a:r>
                        <a:rPr sz="1000" kern="0" spc="7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1000" kern="0" spc="13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FFFFFF">
                              <a:alpha val="74901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精算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92" name="textbox 792"/>
          <p:cNvSpPr/>
          <p:nvPr/>
        </p:nvSpPr>
        <p:spPr>
          <a:xfrm>
            <a:off x="1130300" y="1479143"/>
            <a:ext cx="8455025" cy="1408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3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精 度 栈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5560" algn="l" rtl="0" eaLnBrk="0">
              <a:lnSpc>
                <a:spcPts val="5579"/>
              </a:lnSpc>
              <a:spcBef>
                <a:spcPts val="1403"/>
              </a:spcBef>
              <a:tabLst/>
            </a:pPr>
            <a:r>
              <a:rPr sz="4500" b="1" kern="0" spc="-1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省位宽</a:t>
            </a:r>
            <a:r>
              <a:rPr sz="4500" kern="0" spc="-8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1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600" b="1" i="1" kern="0" spc="-1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但只在可以省的</a:t>
            </a:r>
            <a:r>
              <a:rPr sz="4600" b="1" i="1" kern="0" spc="-1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地方省</a:t>
            </a:r>
            <a:endParaRPr sz="4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越粗糙的任务用越少的比特，越精细的环节留高精度。结果是同一个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里并存三种数值格怯。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794" name="picture 7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796" name="textbox 796"/>
          <p:cNvSpPr/>
          <p:nvPr/>
        </p:nvSpPr>
        <p:spPr>
          <a:xfrm>
            <a:off x="10470286" y="3894226"/>
            <a:ext cx="6496050" cy="1144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ts val="3162"/>
              </a:lnSpc>
              <a:tabLst/>
            </a:pPr>
            <a:r>
              <a:rPr sz="25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混合精度的选择哲学</a:t>
            </a:r>
            <a:endParaRPr sz="25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7780" indent="-5080" algn="l" rtl="0" eaLnBrk="0">
              <a:lnSpc>
                <a:spcPct val="136000"/>
              </a:lnSpc>
              <a:spcBef>
                <a:spcPts val="4"/>
              </a:spcBef>
              <a:tabLst/>
            </a:pP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13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里并不是所有数值都同等重要。</a:t>
            </a:r>
            <a:r>
              <a:rPr sz="1300" kern="0" spc="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打分可以糙，选</a:t>
            </a:r>
            <a:r>
              <a:rPr sz="13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好了再精算</a:t>
            </a:r>
            <a:r>
              <a:rPr sz="13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一这就是 </a:t>
            </a:r>
            <a:r>
              <a:rPr sz="13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3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13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indexer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做到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FP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4、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core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留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BF</a:t>
            </a: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sz="13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6 的原因。</a:t>
            </a:r>
            <a:endParaRPr sz="13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798" name="textbox 798"/>
          <p:cNvSpPr/>
          <p:nvPr/>
        </p:nvSpPr>
        <p:spPr>
          <a:xfrm>
            <a:off x="1134633" y="3950900"/>
            <a:ext cx="1525270" cy="3350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3000"/>
              </a:lnSpc>
              <a:tabLst/>
            </a:pP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Indexer QK</a:t>
            </a:r>
            <a:endParaRPr sz="1600" dirty="0">
              <a:latin typeface="Georgia"/>
              <a:ea typeface="Georgia"/>
              <a:cs typeface="Georgia"/>
            </a:endParaRPr>
          </a:p>
          <a:p>
            <a:pPr marL="16510" algn="l" rtl="0" eaLnBrk="0">
              <a:lnSpc>
                <a:spcPct val="86000"/>
              </a:lnSpc>
              <a:spcBef>
                <a:spcPts val="587"/>
              </a:spcBef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只打相关性分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8000"/>
              </a:lnSpc>
              <a:spcBef>
                <a:spcPts val="488"/>
              </a:spcBef>
              <a:tabLst/>
            </a:pPr>
            <a:r>
              <a:rPr sz="1600" b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KV cache</a:t>
            </a:r>
            <a:endParaRPr sz="1600" dirty="0">
              <a:latin typeface="Georgia"/>
              <a:ea typeface="Georgia"/>
              <a:cs typeface="Georgia"/>
            </a:endParaRPr>
          </a:p>
          <a:p>
            <a:pPr marL="15240" algn="l" rtl="0" eaLnBrk="0">
              <a:lnSpc>
                <a:spcPct val="86000"/>
              </a:lnSpc>
              <a:spcBef>
                <a:spcPts val="689"/>
              </a:spcBef>
              <a:tabLst/>
            </a:pP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主体存储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2045"/>
              </a:lnSpc>
              <a:spcBef>
                <a:spcPts val="480"/>
              </a:spcBef>
              <a:tabLst/>
            </a:pP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RoPE</a:t>
            </a:r>
            <a:r>
              <a:rPr sz="1600" b="1" kern="0" spc="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维度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86000"/>
              </a:lnSpc>
              <a:spcBef>
                <a:spcPts val="569"/>
              </a:spcBef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位置编码敏感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2000"/>
              </a:lnSpc>
              <a:spcBef>
                <a:spcPts val="484"/>
              </a:spcBef>
              <a:tabLst/>
            </a:pP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Core compute</a:t>
            </a:r>
            <a:endParaRPr sz="16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163"/>
              </a:lnSpc>
              <a:spcBef>
                <a:spcPts val="3"/>
              </a:spcBef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主体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</a:t>
            </a:r>
            <a:r>
              <a:rPr sz="900" kern="0" spc="1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计算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800" name="picture 8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802" name="textbox 802"/>
          <p:cNvSpPr/>
          <p:nvPr/>
        </p:nvSpPr>
        <p:spPr>
          <a:xfrm>
            <a:off x="1134510" y="9632544"/>
            <a:ext cx="16007080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38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/  7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04" name="textbox 804"/>
          <p:cNvSpPr/>
          <p:nvPr/>
        </p:nvSpPr>
        <p:spPr>
          <a:xfrm>
            <a:off x="3524250" y="4781550"/>
            <a:ext cx="3095625" cy="685800"/>
          </a:xfrm>
          <a:prstGeom prst="rect">
            <a:avLst/>
          </a:prstGeom>
          <a:solidFill>
            <a:srgbClr val="B8C4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7805" algn="l" rtl="0" eaLnBrk="0">
              <a:lnSpc>
                <a:spcPct val="74000"/>
              </a:lnSpc>
              <a:spcBef>
                <a:spcPts val="1"/>
              </a:spcBef>
              <a:tabLst/>
            </a:pPr>
            <a:r>
              <a:rPr sz="19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FP</a:t>
            </a:r>
            <a:r>
              <a:rPr sz="1900" b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8</a:t>
            </a:r>
            <a:endParaRPr sz="1900" dirty="0">
              <a:latin typeface="Georgia"/>
              <a:ea typeface="Georgia"/>
              <a:cs typeface="Georgia"/>
            </a:endParaRPr>
          </a:p>
        </p:txBody>
      </p:sp>
      <p:sp>
        <p:nvSpPr>
          <p:cNvPr id="806" name="textbox 806"/>
          <p:cNvSpPr/>
          <p:nvPr/>
        </p:nvSpPr>
        <p:spPr>
          <a:xfrm>
            <a:off x="3524250" y="3810000"/>
            <a:ext cx="1552575" cy="685800"/>
          </a:xfrm>
          <a:prstGeom prst="rect">
            <a:avLst/>
          </a:prstGeom>
          <a:solidFill>
            <a:srgbClr val="DEE4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6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805" algn="l" rtl="0" eaLnBrk="0">
              <a:lnSpc>
                <a:spcPct val="75000"/>
              </a:lnSpc>
              <a:tabLst/>
            </a:pPr>
            <a:r>
              <a:rPr sz="19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FP</a:t>
            </a:r>
            <a:r>
              <a:rPr sz="1900" b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</a:t>
            </a:r>
            <a:endParaRPr sz="1900" dirty="0">
              <a:latin typeface="Georgia"/>
              <a:ea typeface="Georgia"/>
              <a:cs typeface="Georgia"/>
            </a:endParaRPr>
          </a:p>
        </p:txBody>
      </p:sp>
      <p:sp>
        <p:nvSpPr>
          <p:cNvPr id="808" name="textbox 808"/>
          <p:cNvSpPr/>
          <p:nvPr/>
        </p:nvSpPr>
        <p:spPr>
          <a:xfrm>
            <a:off x="10690571" y="6841261"/>
            <a:ext cx="2088515" cy="455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073"/>
              </a:lnSpc>
              <a:tabLst/>
            </a:pP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3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62"/>
              </a:lnSpc>
              <a:spcBef>
                <a:spcPts val="353"/>
              </a:spcBef>
              <a:tabLst/>
            </a:pPr>
            <a:r>
              <a:rPr sz="14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位置</a:t>
            </a:r>
            <a:r>
              <a:rPr sz="1400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 </a:t>
            </a:r>
            <a:r>
              <a:rPr sz="14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最终计算 → 高比特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810" name="textbox 810"/>
          <p:cNvSpPr/>
          <p:nvPr/>
        </p:nvSpPr>
        <p:spPr>
          <a:xfrm>
            <a:off x="10688942" y="5364886"/>
            <a:ext cx="1736725" cy="438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ts val="1073"/>
              </a:lnSpc>
              <a:tabLst/>
            </a:pP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4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粗粒度判断 → 低比特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812" name="textbox 812"/>
          <p:cNvSpPr/>
          <p:nvPr/>
        </p:nvSpPr>
        <p:spPr>
          <a:xfrm>
            <a:off x="10688400" y="6107836"/>
            <a:ext cx="1375410" cy="439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ts val="1073"/>
              </a:lnSpc>
              <a:tabLst/>
            </a:pP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8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6"/>
              </a:spcBef>
              <a:tabLst/>
            </a:pPr>
            <a:r>
              <a:rPr sz="14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存储 → 中等比特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814" name="textbox 81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816" name="picture 8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818" name="picture 8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820" name="textbox 820"/>
          <p:cNvSpPr/>
          <p:nvPr/>
        </p:nvSpPr>
        <p:spPr>
          <a:xfrm>
            <a:off x="16193157" y="517118"/>
            <a:ext cx="94233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2 2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混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合</a:t>
            </a:r>
            <a:r>
              <a:rPr sz="900" kern="0" spc="-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精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822" name="picture 8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477500" y="5314950"/>
            <a:ext cx="28575" cy="571500"/>
          </a:xfrm>
          <a:prstGeom prst="rect">
            <a:avLst/>
          </a:prstGeom>
        </p:spPr>
      </p:pic>
      <p:pic>
        <p:nvPicPr>
          <p:cNvPr id="824" name="picture 8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477500" y="6791325"/>
            <a:ext cx="28575" cy="571500"/>
          </a:xfrm>
          <a:prstGeom prst="rect">
            <a:avLst/>
          </a:prstGeom>
        </p:spPr>
      </p:pic>
      <p:pic>
        <p:nvPicPr>
          <p:cNvPr id="826" name="picture 8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477500" y="6057900"/>
            <a:ext cx="28575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21600000">
            <a:off x="1143000" y="3429000"/>
            <a:ext cx="7744346" cy="5419801"/>
            <a:chOff x="0" y="0"/>
            <a:chExt cx="7744346" cy="5419801"/>
          </a:xfrm>
        </p:grpSpPr>
        <p:pic>
          <p:nvPicPr>
            <p:cNvPr id="828" name="picture 8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715250" cy="5410200"/>
            </a:xfrm>
            <a:prstGeom prst="rect">
              <a:avLst/>
            </a:prstGeom>
          </p:spPr>
        </p:pic>
        <p:sp>
          <p:nvSpPr>
            <p:cNvPr id="830" name="textbox 830"/>
            <p:cNvSpPr/>
            <p:nvPr/>
          </p:nvSpPr>
          <p:spPr>
            <a:xfrm>
              <a:off x="-2870" y="4701146"/>
              <a:ext cx="4685665" cy="7315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3284855" algn="l" rtl="0" eaLnBrk="0">
                <a:lnSpc>
                  <a:spcPct val="88000"/>
                </a:lnSpc>
                <a:tabLst/>
              </a:pP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8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POS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IT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IO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</a:t>
              </a:r>
              <a:r>
                <a:rPr sz="8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</a:t>
              </a: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)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 N F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 C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10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</a:t>
              </a:r>
              <a:r>
                <a:rPr sz="900" kern="0" spc="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 O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 S</a:t>
              </a:r>
              <a:r>
                <a:rPr sz="900" kern="0" spc="10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  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V 4 -</a:t>
              </a:r>
              <a:r>
                <a:rPr sz="900" kern="0" spc="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   V S   V 3 .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9685" algn="l" rtl="0" eaLnBrk="0">
                <a:lnSpc>
                  <a:spcPct val="76000"/>
                </a:lnSpc>
                <a:spcBef>
                  <a:spcPts val="749"/>
                </a:spcBef>
                <a:tabLst/>
              </a:pPr>
              <a:r>
                <a:rPr sz="3300" b="1" kern="0" spc="-6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9.8</a:t>
              </a:r>
              <a:r>
                <a:rPr sz="3300" b="1" kern="0" spc="-22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800" i="1" kern="0" spc="-6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× lowe</a:t>
              </a:r>
              <a:r>
                <a:rPr sz="1800" i="1" kern="0" spc="-7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r</a:t>
              </a:r>
              <a:endParaRPr sz="1800" dirty="0">
                <a:latin typeface="Georgia"/>
                <a:ea typeface="Georgia"/>
                <a:cs typeface="Georgia"/>
              </a:endParaRPr>
            </a:p>
          </p:txBody>
        </p:sp>
        <p:sp>
          <p:nvSpPr>
            <p:cNvPr id="832" name="textbox 832"/>
            <p:cNvSpPr/>
            <p:nvPr/>
          </p:nvSpPr>
          <p:spPr>
            <a:xfrm>
              <a:off x="270021" y="255199"/>
              <a:ext cx="4489450" cy="7118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33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/>
              </a:pP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Single</a:t>
              </a:r>
              <a:r>
                <a:rPr sz="1600" b="1" kern="0" spc="10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-</a:t>
              </a: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Token</a:t>
              </a:r>
              <a:r>
                <a:rPr sz="1600" b="1" kern="0" spc="10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Inference</a:t>
              </a:r>
              <a:r>
                <a:rPr sz="1600" b="1" kern="0" spc="10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FLOPs</a:t>
              </a:r>
              <a:r>
                <a:rPr sz="1600" b="1" kern="0" spc="10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(T)</a:t>
              </a:r>
              <a:endParaRPr sz="1600" dirty="0">
                <a:latin typeface="Georgia"/>
                <a:ea typeface="Georgia"/>
                <a:cs typeface="Georgia"/>
              </a:endParaRPr>
            </a:p>
            <a:p>
              <a:pPr marL="13334" algn="l" rtl="0" eaLnBrk="0">
                <a:lnSpc>
                  <a:spcPct val="87000"/>
                </a:lnSpc>
                <a:spcBef>
                  <a:spcPts val="544"/>
                </a:spcBef>
                <a:tabLst/>
              </a:pPr>
              <a:r>
                <a:rPr sz="9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COMPUTE</a:t>
              </a:r>
              <a:r>
                <a:rPr sz="900" kern="0" spc="2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COST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PER</a:t>
              </a:r>
              <a:r>
                <a:rPr sz="900" kern="0" spc="2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OKEN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900" kern="0" spc="2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数值越低越好</a:t>
              </a:r>
              <a:endParaRPr sz="9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163"/>
                </a:lnSpc>
                <a:spcBef>
                  <a:spcPts val="7"/>
                </a:spcBef>
                <a:tabLst/>
              </a:pP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DeepSeek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-V3.2        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DeepSeek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-V4-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DeepSeek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-V4-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Flash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834" name="textbox 834"/>
            <p:cNvSpPr/>
            <p:nvPr/>
          </p:nvSpPr>
          <p:spPr>
            <a:xfrm>
              <a:off x="884721" y="4240936"/>
              <a:ext cx="6204585" cy="3333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1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tabLst/>
              </a:pPr>
              <a:r>
                <a:rPr sz="9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9000"/>
                </a:lnSpc>
                <a:tabLst/>
              </a:pPr>
              <a:r>
                <a:rPr sz="900" kern="0" spc="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0                                         256                                       512                                       768               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1024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836" name="textbox 836"/>
            <p:cNvSpPr/>
            <p:nvPr/>
          </p:nvSpPr>
          <p:spPr>
            <a:xfrm>
              <a:off x="5521629" y="4793386"/>
              <a:ext cx="2235835" cy="6426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1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tabLst/>
              </a:pP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 V</a:t>
              </a:r>
              <a:r>
                <a:rPr sz="900" kern="0" spc="9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CAC H E   ·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 4 - P R O</a:t>
              </a:r>
              <a:r>
                <a:rPr sz="900" kern="0" spc="9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 S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 3 . 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6669" algn="l" rtl="0" eaLnBrk="0">
                <a:lnSpc>
                  <a:spcPts val="2561"/>
                </a:lnSpc>
                <a:spcBef>
                  <a:spcPts val="1"/>
                </a:spcBef>
                <a:tabLst/>
              </a:pPr>
              <a:r>
                <a:rPr sz="3300" b="1" kern="0" spc="-6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13.7</a:t>
              </a:r>
              <a:r>
                <a:rPr sz="3300" b="1" kern="0" spc="-20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800" i="1" kern="0" spc="-6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× smaller</a:t>
              </a:r>
              <a:endParaRPr sz="1800" dirty="0">
                <a:latin typeface="Georgia"/>
                <a:ea typeface="Georgia"/>
                <a:cs typeface="Georgia"/>
              </a:endParaRPr>
            </a:p>
          </p:txBody>
        </p:sp>
        <p:sp>
          <p:nvSpPr>
            <p:cNvPr id="838" name="textbox 838"/>
            <p:cNvSpPr/>
            <p:nvPr/>
          </p:nvSpPr>
          <p:spPr>
            <a:xfrm>
              <a:off x="5895427" y="2565450"/>
              <a:ext cx="696595" cy="14706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780" algn="l" rtl="0" eaLnBrk="0">
                <a:lnSpc>
                  <a:spcPts val="1252"/>
                </a:lnSpc>
                <a:tabLst/>
              </a:pPr>
              <a:r>
                <a:rPr sz="1000" kern="0" spc="10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3.7× </a:t>
              </a: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lower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252"/>
                </a:lnSpc>
                <a:tabLst/>
              </a:pPr>
              <a:r>
                <a:rPr sz="1000" kern="0" spc="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9.8× </a:t>
              </a:r>
              <a:r>
                <a:rPr sz="1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lower</a:t>
              </a:r>
              <a:endParaRPr sz="10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840" name="textbox 840"/>
            <p:cNvSpPr/>
            <p:nvPr/>
          </p:nvSpPr>
          <p:spPr>
            <a:xfrm>
              <a:off x="785006" y="1383436"/>
              <a:ext cx="189865" cy="24479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3020" algn="l" rtl="0" eaLnBrk="0">
                <a:lnSpc>
                  <a:spcPts val="1073"/>
                </a:lnSpc>
                <a:tabLst/>
              </a:pPr>
              <a:r>
                <a:rPr sz="7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7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7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.2</a:t>
              </a:r>
              <a:endParaRPr sz="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99000"/>
                </a:lnSpc>
                <a:spcBef>
                  <a:spcPts val="275"/>
                </a:spcBef>
                <a:tabLst/>
              </a:pP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605" algn="l" rtl="0" eaLnBrk="0">
                <a:lnSpc>
                  <a:spcPct val="99000"/>
                </a:lnSpc>
                <a:spcBef>
                  <a:spcPts val="275"/>
                </a:spcBef>
                <a:tabLst/>
              </a:pP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spcBef>
                  <a:spcPts val="275"/>
                </a:spcBef>
                <a:tabLst/>
              </a:pP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99000"/>
                </a:lnSpc>
                <a:spcBef>
                  <a:spcPts val="2"/>
                </a:spcBef>
                <a:tabLst/>
              </a:pP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9429750" y="3429000"/>
            <a:ext cx="7715250" cy="5418543"/>
            <a:chOff x="0" y="0"/>
            <a:chExt cx="7715250" cy="5418543"/>
          </a:xfrm>
        </p:grpSpPr>
        <p:pic>
          <p:nvPicPr>
            <p:cNvPr id="842" name="picture 8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7715250" cy="5410200"/>
            </a:xfrm>
            <a:prstGeom prst="rect">
              <a:avLst/>
            </a:prstGeom>
          </p:spPr>
        </p:pic>
        <p:sp>
          <p:nvSpPr>
            <p:cNvPr id="844" name="textbox 844"/>
            <p:cNvSpPr/>
            <p:nvPr/>
          </p:nvSpPr>
          <p:spPr>
            <a:xfrm>
              <a:off x="258076" y="255199"/>
              <a:ext cx="6831330" cy="51809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71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0000"/>
                </a:lnSpc>
                <a:tabLst/>
              </a:pP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Accumulated</a:t>
              </a:r>
              <a:r>
                <a:rPr sz="1600" b="1" kern="0" spc="1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KV</a:t>
              </a:r>
              <a:r>
                <a:rPr sz="1600" b="1" kern="0" spc="1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Cache</a:t>
              </a:r>
              <a:r>
                <a:rPr sz="1600" b="1" kern="0" spc="1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(</a:t>
              </a: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GB</a:t>
              </a:r>
              <a:r>
                <a:rPr sz="1600" b="1" kern="0" spc="1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)</a:t>
              </a:r>
              <a:endParaRPr sz="1600" dirty="0">
                <a:latin typeface="Georgia"/>
                <a:ea typeface="Georgia"/>
                <a:cs typeface="Georgia"/>
              </a:endParaRPr>
            </a:p>
            <a:p>
              <a:pPr marL="28575" algn="l" rtl="0" eaLnBrk="0">
                <a:lnSpc>
                  <a:spcPts val="1163"/>
                </a:lnSpc>
                <a:spcBef>
                  <a:spcPts val="534"/>
                </a:spcBef>
                <a:tabLst/>
              </a:pPr>
              <a:r>
                <a:rPr sz="9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MEMORY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FOOTPRINT</a:t>
              </a:r>
              <a:r>
                <a:rPr sz="9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900" kern="0" spc="2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9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数值越低越好</a:t>
              </a:r>
              <a:endParaRPr sz="900" dirty="0">
                <a:latin typeface="PingFang SC"/>
                <a:ea typeface="PingFang SC"/>
                <a:cs typeface="PingFang SC"/>
              </a:endParaRPr>
            </a:p>
            <a:p>
              <a:pPr marL="333375" algn="l" rtl="0" eaLnBrk="0">
                <a:lnSpc>
                  <a:spcPts val="1163"/>
                </a:lnSpc>
                <a:spcBef>
                  <a:spcPts val="1012"/>
                </a:spcBef>
                <a:tabLst/>
              </a:pP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DeepSeek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-V3.2        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DeepSeek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-V4-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DeepSeek</a:t>
              </a:r>
              <a:r>
                <a:rPr sz="9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-V4-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Flash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69595" algn="l" rtl="0" eaLnBrk="0">
                <a:lnSpc>
                  <a:spcPct val="99000"/>
                </a:lnSpc>
                <a:spcBef>
                  <a:spcPts val="272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64515" algn="l" rtl="0" eaLnBrk="0">
                <a:lnSpc>
                  <a:spcPct val="99000"/>
                </a:lnSpc>
                <a:spcBef>
                  <a:spcPts val="275"/>
                </a:spcBef>
                <a:tabLst/>
              </a:pP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67690" algn="l" rtl="0" eaLnBrk="0">
                <a:lnSpc>
                  <a:spcPct val="99000"/>
                </a:lnSpc>
                <a:spcBef>
                  <a:spcPts val="275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70865" indent="5066665" algn="l" rtl="0" eaLnBrk="0">
                <a:lnSpc>
                  <a:spcPct val="131000"/>
                </a:lnSpc>
                <a:spcBef>
                  <a:spcPts val="303"/>
                </a:spcBef>
                <a:tabLst/>
              </a:pPr>
              <a:r>
                <a:rPr sz="1000" kern="0" spc="6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9.5× smalle</a:t>
              </a:r>
              <a:r>
                <a:rPr sz="1000" kern="0" spc="5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</a:t>
              </a: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86105" algn="l" rtl="0" eaLnBrk="0">
                <a:lnSpc>
                  <a:spcPct val="99000"/>
                </a:lnSpc>
                <a:spcBef>
                  <a:spcPts val="274"/>
                </a:spcBef>
                <a:tabLst/>
              </a:pP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5609590" algn="l" rtl="0" eaLnBrk="0">
                <a:lnSpc>
                  <a:spcPts val="1252"/>
                </a:lnSpc>
                <a:spcBef>
                  <a:spcPts val="733"/>
                </a:spcBef>
                <a:tabLst/>
              </a:pPr>
              <a:r>
                <a:rPr sz="1000" kern="0" spc="1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13.7× </a:t>
              </a:r>
              <a:r>
                <a:rPr sz="1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smaller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marL="638810" algn="l" rtl="0" eaLnBrk="0">
                <a:lnSpc>
                  <a:spcPct val="99000"/>
                </a:lnSpc>
                <a:spcBef>
                  <a:spcPts val="1445"/>
                </a:spcBef>
                <a:tabLst/>
              </a:pPr>
              <a:r>
                <a:rPr sz="9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9000"/>
                </a:lnSpc>
                <a:spcBef>
                  <a:spcPts val="281"/>
                </a:spcBef>
                <a:tabLst/>
              </a:pPr>
              <a:r>
                <a:rPr sz="900" kern="0" spc="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0                                         256                                       512                                       768               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1024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952750" algn="l" rtl="0" eaLnBrk="0">
                <a:lnSpc>
                  <a:spcPct val="81000"/>
                </a:lnSpc>
                <a:spcBef>
                  <a:spcPts val="1203"/>
                </a:spcBef>
                <a:tabLst/>
              </a:pPr>
              <a:r>
                <a:rPr sz="800" kern="0" spc="10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SEQUENCE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10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LENGTH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(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</a:t>
              </a: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)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marL="2510155" algn="l" rtl="0" eaLnBrk="0">
                <a:lnSpc>
                  <a:spcPct val="93000"/>
                </a:lnSpc>
                <a:spcBef>
                  <a:spcPts val="16"/>
                </a:spcBef>
                <a:tabLst/>
              </a:pP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 O M PA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   W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I T H   V 3 . 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526665" algn="l" rtl="0" eaLnBrk="0">
                <a:lnSpc>
                  <a:spcPts val="2561"/>
                </a:lnSpc>
                <a:spcBef>
                  <a:spcPts val="1"/>
                </a:spcBef>
                <a:tabLst/>
              </a:pPr>
              <a:r>
                <a:rPr sz="3300" b="1" kern="0" spc="-4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27</a:t>
              </a:r>
              <a:r>
                <a:rPr sz="3300" b="1" kern="0" spc="-34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800" i="1" kern="0" spc="-4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%</a:t>
              </a:r>
              <a:r>
                <a:rPr sz="1800" i="1" kern="0" spc="-10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800" i="1" kern="0" spc="-4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FLOPs · 10% cache</a:t>
              </a:r>
              <a:endParaRPr sz="1800" dirty="0">
                <a:latin typeface="Georgia"/>
                <a:ea typeface="Georgia"/>
                <a:cs typeface="Georgia"/>
              </a:endParaRPr>
            </a:p>
          </p:txBody>
        </p:sp>
      </p:grpSp>
      <p:sp>
        <p:nvSpPr>
          <p:cNvPr id="846" name="textbox 846"/>
          <p:cNvSpPr/>
          <p:nvPr/>
        </p:nvSpPr>
        <p:spPr>
          <a:xfrm>
            <a:off x="1114298" y="1383893"/>
            <a:ext cx="13260705" cy="1577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1475" algn="l" rtl="0" eaLnBrk="0">
              <a:lnSpc>
                <a:spcPts val="1163"/>
              </a:lnSpc>
              <a:tabLst>
                <a:tab pos="49276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 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0 3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 Y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 S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208"/>
              </a:lnSpc>
              <a:spcBef>
                <a:spcPts val="1159"/>
              </a:spcBef>
              <a:tabLst/>
            </a:pPr>
            <a:r>
              <a:rPr sz="4200" b="1" kern="0" spc="-1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V3.2</a:t>
            </a:r>
            <a:r>
              <a:rPr sz="4200" b="1" kern="0" spc="3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200" b="1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的曲线还在往上爬</a:t>
            </a:r>
            <a:r>
              <a:rPr sz="4200" kern="0" spc="-8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200" b="1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200" b="1" i="1" kern="0" spc="-1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V4</a:t>
            </a:r>
            <a:r>
              <a:rPr sz="4200" b="1" i="1" kern="0" spc="7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300" b="1" i="1" kern="0" spc="-1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的曲线</a:t>
            </a:r>
            <a:r>
              <a:rPr sz="4300" b="1" i="1" kern="0" spc="-1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几乎是贴着地面走</a:t>
            </a:r>
            <a:endParaRPr sz="43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5560" indent="10160" algn="l" rtl="0" eaLnBrk="0">
              <a:lnSpc>
                <a:spcPct val="123000"/>
              </a:lnSpc>
              <a:spcBef>
                <a:spcPts val="4"/>
              </a:spcBef>
              <a:tabLst/>
            </a:pP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同样推到 </a:t>
            </a: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1024K token </a:t>
            </a: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长度，</a:t>
            </a:r>
            <a:r>
              <a:rPr sz="1400" kern="0" spc="-3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DeepSeek-V3.2 </a:t>
            </a: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</a:t>
            </a: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LOPs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和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 cache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线性攀升；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V4-Pro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的曲线被压扁到贴近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x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轴。差距来自</a:t>
            </a:r>
            <a:r>
              <a:rPr sz="1400" kern="0" spc="2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CSA/HCA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双压缩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+ FP4 indexer +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混合精</a:t>
            </a: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度存储。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848" name="picture 8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1457325"/>
            <a:ext cx="342900" cy="19050"/>
          </a:xfrm>
          <a:prstGeom prst="rect">
            <a:avLst/>
          </a:prstGeom>
        </p:spPr>
      </p:pic>
      <p:pic>
        <p:nvPicPr>
          <p:cNvPr id="850" name="picture 8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852" name="textbox 852"/>
          <p:cNvSpPr/>
          <p:nvPr/>
        </p:nvSpPr>
        <p:spPr>
          <a:xfrm>
            <a:off x="1134510" y="9632544"/>
            <a:ext cx="16006445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38"/>
              </a:lnSpc>
              <a:tabLst/>
            </a:pP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  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SOURCE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SEEK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-V4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FIG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.1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1500" kern="0" spc="100" baseline="62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0" baseline="62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100" baseline="62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100" baseline="62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0" baseline="62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500" baseline="6260" dirty="0">
              <a:latin typeface="Arial"/>
              <a:ea typeface="Arial"/>
              <a:cs typeface="Arial"/>
            </a:endParaRPr>
          </a:p>
        </p:txBody>
      </p:sp>
      <p:sp>
        <p:nvSpPr>
          <p:cNvPr id="854" name="textbox 854"/>
          <p:cNvSpPr/>
          <p:nvPr/>
        </p:nvSpPr>
        <p:spPr>
          <a:xfrm>
            <a:off x="1138701" y="8956726"/>
            <a:ext cx="13331189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2"/>
              </a:lnSpc>
              <a:tabLst/>
            </a:pP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0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context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下单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前向算力                                                                                  累积显存占用</a:t>
            </a:r>
            <a:r>
              <a:rPr sz="1000" kern="0" spc="-1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000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同为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1024K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长度）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                     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来自</a:t>
            </a:r>
            <a:r>
              <a:rPr sz="1000" kern="0" spc="2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-V4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abstract</a:t>
            </a:r>
            <a:r>
              <a:rPr sz="10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明确披露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856" name="textbox 85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858" name="picture 8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001000"/>
            <a:ext cx="16002000" cy="19050"/>
          </a:xfrm>
          <a:prstGeom prst="rect">
            <a:avLst/>
          </a:prstGeom>
        </p:spPr>
      </p:pic>
      <p:pic>
        <p:nvPicPr>
          <p:cNvPr id="860" name="picture 8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862" name="textbox 862"/>
          <p:cNvSpPr/>
          <p:nvPr/>
        </p:nvSpPr>
        <p:spPr>
          <a:xfrm>
            <a:off x="15174131" y="517118"/>
            <a:ext cx="193484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63"/>
              </a:lnSpc>
              <a:tabLst/>
            </a:pP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2 3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效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率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对 比 （ 复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刻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Fig . 1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864" name="picture 8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textbox 866"/>
          <p:cNvSpPr/>
          <p:nvPr/>
        </p:nvSpPr>
        <p:spPr>
          <a:xfrm>
            <a:off x="1131538" y="3612743"/>
            <a:ext cx="7654290" cy="3681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1</a:t>
            </a:r>
            <a:r>
              <a:rPr sz="9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6 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QA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indent="46990" algn="l" rtl="0" eaLnBrk="0">
              <a:lnSpc>
                <a:spcPct val="110000"/>
              </a:lnSpc>
              <a:spcBef>
                <a:spcPts val="2"/>
              </a:spcBef>
              <a:tabLst/>
            </a:pPr>
            <a:r>
              <a:rPr sz="2000" i="1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在最常见的</a:t>
            </a:r>
            <a:r>
              <a:rPr sz="2000" kern="0" spc="-1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b="1" kern="0" spc="-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BF16 GQA-8</a:t>
            </a:r>
            <a:r>
              <a:rPr sz="1900" b="1" kern="0" spc="-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900" b="1" kern="0" spc="-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head</a:t>
            </a:r>
            <a:r>
              <a:rPr sz="1900" b="1" kern="0" spc="-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dim</a:t>
            </a:r>
            <a:r>
              <a:rPr sz="1900" b="1" kern="0" spc="1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900" b="1" kern="0" spc="-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=</a:t>
            </a:r>
            <a:r>
              <a:rPr sz="19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900" b="1" kern="0" spc="-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128</a:t>
            </a:r>
            <a:r>
              <a:rPr sz="1900" b="1" kern="0" spc="-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</a:t>
            </a:r>
            <a:r>
              <a:rPr sz="1900" kern="0" spc="-2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000" i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对照组下，</a:t>
            </a:r>
            <a:r>
              <a:rPr sz="1900" i="1" kern="0" spc="-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V4  </a:t>
            </a:r>
            <a:r>
              <a:rPr sz="2000" i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系列把</a:t>
            </a:r>
            <a:r>
              <a:rPr sz="1900" i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1M</a:t>
            </a:r>
            <a:r>
              <a:rPr sz="1900" i="1" kern="0" spc="2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000" i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上下文的</a:t>
            </a:r>
            <a:r>
              <a:rPr sz="2000" kern="0" spc="-3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i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KVcache</a:t>
            </a:r>
            <a:r>
              <a:rPr sz="1900" i="1" kern="0" spc="3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000" i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压到只剩</a:t>
            </a:r>
            <a:r>
              <a:rPr sz="2000" kern="0" spc="-2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i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2%</a:t>
            </a:r>
            <a:r>
              <a:rPr sz="1900" i="1" kern="0" spc="2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000" i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量级。</a:t>
            </a:r>
            <a:endParaRPr sz="2000" dirty="0"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10668000" y="4048811"/>
            <a:ext cx="6477000" cy="3037789"/>
            <a:chOff x="0" y="0"/>
            <a:chExt cx="6477000" cy="3037789"/>
          </a:xfrm>
        </p:grpSpPr>
        <p:pic>
          <p:nvPicPr>
            <p:cNvPr id="868" name="picture 86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275539"/>
              <a:ext cx="6477000" cy="2762250"/>
            </a:xfrm>
            <a:prstGeom prst="rect">
              <a:avLst/>
            </a:prstGeom>
          </p:spPr>
        </p:pic>
        <p:sp>
          <p:nvSpPr>
            <p:cNvPr id="870" name="textbox 870"/>
            <p:cNvSpPr/>
            <p:nvPr/>
          </p:nvSpPr>
          <p:spPr>
            <a:xfrm>
              <a:off x="-6413" y="-12700"/>
              <a:ext cx="6496050" cy="24485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45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5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BF16 GQA-8 Baseline                                                    </a:t>
              </a:r>
              <a:r>
                <a:rPr sz="1500" b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</a:t>
              </a:r>
              <a:r>
                <a:rPr sz="1600" b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100%</a:t>
              </a:r>
              <a:endParaRPr sz="1600" dirty="0">
                <a:latin typeface="Georgia"/>
                <a:ea typeface="Georgia"/>
                <a:cs typeface="Georgia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9000"/>
                </a:lnSpc>
                <a:spcBef>
                  <a:spcPts val="484"/>
                </a:spcBef>
                <a:tabLst/>
              </a:pPr>
              <a:r>
                <a:rPr sz="15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DeepSeek-V3.2                                                                                           </a:t>
              </a: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~20%</a:t>
              </a:r>
              <a:endParaRPr sz="1600" dirty="0">
                <a:latin typeface="Georgia"/>
                <a:ea typeface="Georgia"/>
                <a:cs typeface="Georgia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9000"/>
                </a:lnSpc>
                <a:spcBef>
                  <a:spcPts val="1"/>
                </a:spcBef>
                <a:tabLst/>
              </a:pPr>
              <a:r>
                <a:rPr sz="15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DeepSeek-V4-Pro                                                                                    </a:t>
              </a:r>
              <a:r>
                <a:rPr sz="1500" b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</a:t>
              </a:r>
              <a:r>
                <a:rPr sz="1600" b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~2%</a:t>
              </a:r>
              <a:endParaRPr sz="1600" dirty="0">
                <a:latin typeface="Georgia"/>
                <a:ea typeface="Georgia"/>
                <a:cs typeface="Georgia"/>
              </a:endParaRPr>
            </a:p>
          </p:txBody>
        </p:sp>
      </p:grpSp>
      <p:sp>
        <p:nvSpPr>
          <p:cNvPr id="872" name="textbox 872"/>
          <p:cNvSpPr/>
          <p:nvPr/>
        </p:nvSpPr>
        <p:spPr>
          <a:xfrm>
            <a:off x="1130300" y="1479143"/>
            <a:ext cx="8241030" cy="1050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 A P 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   S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endParaRPr sz="9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ts val="5579"/>
              </a:lnSpc>
              <a:spcBef>
                <a:spcPts val="1328"/>
              </a:spcBef>
              <a:tabLst/>
            </a:pPr>
            <a:r>
              <a:rPr sz="4500" b="1" kern="0" spc="-1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KV cache</a:t>
            </a:r>
            <a:r>
              <a:rPr sz="4500" b="1" kern="0" spc="5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600" b="1" i="1" kern="0" spc="-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只剩</a:t>
            </a:r>
            <a:r>
              <a:rPr sz="4600" kern="0" spc="-5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i="1" kern="0" spc="-1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baseline</a:t>
            </a:r>
            <a:r>
              <a:rPr sz="4500" b="1" i="1" kern="0" spc="7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600" b="1" i="1" kern="0" spc="-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4600" kern="0" spc="-8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i="1" kern="0" spc="-1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2%</a:t>
            </a:r>
            <a:endParaRPr sz="4500" dirty="0">
              <a:latin typeface="Georgia"/>
              <a:ea typeface="Georgia"/>
              <a:cs typeface="Georgia"/>
            </a:endParaRPr>
          </a:p>
        </p:txBody>
      </p:sp>
      <p:pic>
        <p:nvPicPr>
          <p:cNvPr id="874" name="picture 8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876" name="textbox 876"/>
          <p:cNvSpPr/>
          <p:nvPr/>
        </p:nvSpPr>
        <p:spPr>
          <a:xfrm>
            <a:off x="1319657" y="4559300"/>
            <a:ext cx="4417695" cy="184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298"/>
              </a:lnSpc>
              <a:tabLst/>
            </a:pPr>
            <a:r>
              <a:rPr sz="21000" b="1" kern="0" spc="-10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~2</a:t>
            </a:r>
            <a:r>
              <a:rPr sz="10500" b="1" kern="0" spc="-4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%</a:t>
            </a:r>
            <a:endParaRPr sz="10500" dirty="0">
              <a:latin typeface="Georgia"/>
              <a:ea typeface="Georgia"/>
              <a:cs typeface="Georgia"/>
            </a:endParaRPr>
          </a:p>
        </p:txBody>
      </p:sp>
      <p:sp>
        <p:nvSpPr>
          <p:cNvPr id="878" name="textbox 878"/>
          <p:cNvSpPr/>
          <p:nvPr/>
        </p:nvSpPr>
        <p:spPr>
          <a:xfrm>
            <a:off x="1140015" y="8996197"/>
            <a:ext cx="1298575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521"/>
              </a:lnSpc>
              <a:tabLst/>
            </a:pP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2%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不是单点优化的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战果，</a:t>
            </a:r>
            <a:r>
              <a:rPr sz="1200" kern="0" spc="-2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CSA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HCA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双压缩 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+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MQA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+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FP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8 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主存</a:t>
            </a:r>
            <a:r>
              <a:rPr sz="1200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/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BF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位置维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四件事叠加的结果。 说人话：</a:t>
            </a:r>
            <a:r>
              <a:rPr sz="1200" kern="0" spc="-2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50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份缩成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200" kern="0" spc="1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份，</a:t>
            </a:r>
            <a:r>
              <a:rPr sz="1200" kern="0" spc="-2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百万上下文就能从机房搬进一张卡。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880" name="textbox 880"/>
          <p:cNvSpPr/>
          <p:nvPr/>
        </p:nvSpPr>
        <p:spPr>
          <a:xfrm>
            <a:off x="1134510" y="9642069"/>
            <a:ext cx="327596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  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SOURCE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§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3.4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82" name="textbox 88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884" name="textbox 884"/>
          <p:cNvSpPr/>
          <p:nvPr/>
        </p:nvSpPr>
        <p:spPr>
          <a:xfrm>
            <a:off x="10659187" y="3621811"/>
            <a:ext cx="237363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I S UA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   R AT I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   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相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对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 A S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886" name="picture 8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888" name="picture 8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pic>
        <p:nvPicPr>
          <p:cNvPr id="890" name="picture 8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743950"/>
            <a:ext cx="13335000" cy="19050"/>
          </a:xfrm>
          <a:prstGeom prst="rect">
            <a:avLst/>
          </a:prstGeom>
        </p:spPr>
      </p:pic>
      <p:sp>
        <p:nvSpPr>
          <p:cNvPr id="892" name="textbox 892"/>
          <p:cNvSpPr/>
          <p:nvPr/>
        </p:nvSpPr>
        <p:spPr>
          <a:xfrm>
            <a:off x="15556916" y="517118"/>
            <a:ext cx="157861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24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KV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减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肥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记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894" name="picture 8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896" name="textbox 896"/>
          <p:cNvSpPr/>
          <p:nvPr/>
        </p:nvSpPr>
        <p:spPr>
          <a:xfrm>
            <a:off x="16619846" y="9632544"/>
            <a:ext cx="5213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  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8" name="table 898"/>
          <p:cNvGraphicFramePr>
            <a:graphicFrameLocks noGrp="1"/>
          </p:cNvGraphicFramePr>
          <p:nvPr/>
        </p:nvGraphicFramePr>
        <p:xfrm>
          <a:off x="1143000" y="3810000"/>
          <a:ext cx="8571865" cy="3961765"/>
        </p:xfrm>
        <a:graphic>
          <a:graphicData uri="http://schemas.openxmlformats.org/drawingml/2006/table">
            <a:tbl>
              <a:tblPr/>
              <a:tblGrid>
                <a:gridCol w="470535"/>
                <a:gridCol w="8101330"/>
              </a:tblGrid>
              <a:tr h="14763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5285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N A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 O G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Y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669" indent="-6350" algn="l" rtl="0" eaLnBrk="0">
                        <a:lnSpc>
                          <a:spcPct val="12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i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像健身时</a:t>
                      </a:r>
                      <a:r>
                        <a:rPr sz="18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只练一侧肌肉</a:t>
                      </a:r>
                      <a:r>
                        <a:rPr sz="18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800" i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：强的越练越强，弱</a:t>
                      </a:r>
                      <a:r>
                        <a:rPr sz="1800" i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的几乎没刺激，最后整体动作反而</a:t>
                      </a:r>
                      <a:r>
                        <a:rPr sz="18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</a:t>
                      </a:r>
                      <a:r>
                        <a:rPr sz="1800" i="1" kern="0" spc="-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变形。</a:t>
                      </a:r>
                      <a:endParaRPr sz="1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34734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" algn="l" rtl="0" eaLnBrk="0">
                        <a:lnSpc>
                          <a:spcPts val="1299"/>
                        </a:lnSpc>
                        <a:tabLst/>
                      </a:pPr>
                      <a:r>
                        <a:rPr sz="19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01</a:t>
                      </a:r>
                      <a:endParaRPr sz="19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4465" algn="l" rtl="0" eaLnBrk="0">
                        <a:lnSpc>
                          <a:spcPts val="2045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每维度独立归一化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indent="-2540" algn="l" rtl="0" eaLnBrk="0">
                        <a:lnSpc>
                          <a:spcPct val="12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AdamW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对每个参数除以它自己历史梯度的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平方根。这让大梯度方向被压缩，小梯度方向被放大</a:t>
                      </a:r>
                      <a:r>
                        <a:rPr sz="1200" kern="0" spc="-2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，但各维度之间的相对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关系被悄悄改写。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6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" algn="l" rtl="0" eaLnBrk="0">
                        <a:lnSpc>
                          <a:spcPts val="1299"/>
                        </a:lnSpc>
                        <a:tabLst/>
                      </a:pPr>
                      <a:r>
                        <a:rPr sz="19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02</a:t>
                      </a:r>
                      <a:endParaRPr sz="19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ts val="2046"/>
                        </a:lnSpc>
                        <a:tabLst/>
                      </a:pPr>
                      <a:r>
                        <a:rPr sz="1600" b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某些方向过更新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195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权重矩阵里存在「奇您方向J  一梯度天然偏大的主奇您向量。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AdamW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容易顺着它们反复推，把整个矩阵推到病态。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0" name="group 20"/>
          <p:cNvGrpSpPr/>
          <p:nvPr/>
        </p:nvGrpSpPr>
        <p:grpSpPr>
          <a:xfrm rot="21600000">
            <a:off x="10858500" y="4715256"/>
            <a:ext cx="6564252" cy="4573190"/>
            <a:chOff x="0" y="0"/>
            <a:chExt cx="6564252" cy="4573190"/>
          </a:xfrm>
        </p:grpSpPr>
        <p:pic>
          <p:nvPicPr>
            <p:cNvPr id="900" name="picture 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171069"/>
              <a:ext cx="6096000" cy="4139565"/>
            </a:xfrm>
            <a:prstGeom prst="rect">
              <a:avLst/>
            </a:prstGeom>
          </p:spPr>
        </p:pic>
        <p:sp>
          <p:nvSpPr>
            <p:cNvPr id="902" name="textbox 902"/>
            <p:cNvSpPr/>
            <p:nvPr/>
          </p:nvSpPr>
          <p:spPr>
            <a:xfrm>
              <a:off x="2205877" y="2791688"/>
              <a:ext cx="4371340" cy="18078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76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6000"/>
                </a:lnSpc>
                <a:tabLst/>
              </a:pPr>
              <a:r>
                <a:rPr sz="1000" i="1" kern="0" spc="2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理想均</a:t>
              </a:r>
              <a:endParaRPr sz="10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594100" algn="l" rtl="0" eaLnBrk="0">
                <a:lnSpc>
                  <a:spcPct val="85000"/>
                </a:lnSpc>
                <a:spcBef>
                  <a:spcPts val="273"/>
                </a:spcBef>
                <a:tabLst/>
              </a:pPr>
              <a:r>
                <a:rPr sz="900" kern="0" spc="7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欠更新</a:t>
              </a:r>
              <a:endParaRPr sz="9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5000"/>
                </a:lnSpc>
                <a:tabLst/>
              </a:pP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PA</a:t>
              </a:r>
              <a:r>
                <a:rPr sz="8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RA</a:t>
              </a:r>
              <a:r>
                <a:rPr sz="8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</a:t>
              </a:r>
              <a:r>
                <a:rPr sz="8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ET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</a:t>
              </a:r>
              <a:r>
                <a:rPr sz="8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ECT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IO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NS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904" name="textbox 904"/>
            <p:cNvSpPr/>
            <p:nvPr/>
          </p:nvSpPr>
          <p:spPr>
            <a:xfrm>
              <a:off x="1824871" y="-12700"/>
              <a:ext cx="396875" cy="1428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8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/>
              </a:pPr>
              <a:r>
                <a:rPr sz="900" kern="0" spc="8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过更新</a:t>
              </a:r>
              <a:endParaRPr sz="900" dirty="0">
                <a:latin typeface="PingFang SC"/>
                <a:ea typeface="PingFang SC"/>
                <a:cs typeface="PingFang SC"/>
              </a:endParaRPr>
            </a:p>
          </p:txBody>
        </p:sp>
      </p:grpSp>
      <p:sp>
        <p:nvSpPr>
          <p:cNvPr id="906" name="textbox 906"/>
          <p:cNvSpPr/>
          <p:nvPr/>
        </p:nvSpPr>
        <p:spPr>
          <a:xfrm>
            <a:off x="1114450" y="1479143"/>
            <a:ext cx="8776970" cy="143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0840" algn="l" rtl="0" eaLnBrk="0">
              <a:lnSpc>
                <a:spcPts val="1163"/>
              </a:lnSpc>
              <a:tabLst>
                <a:tab pos="492125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优 化 器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1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AdamW</a:t>
            </a:r>
            <a:r>
              <a:rPr sz="4800" b="1" kern="0" spc="4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800" b="1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的毛病不在慢</a:t>
            </a:r>
            <a:r>
              <a:rPr sz="4800" kern="0" spc="-9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900" b="1" i="1" kern="0" spc="-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在偏科</a:t>
            </a:r>
            <a:endParaRPr sz="4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35560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每个参数独立调学习率，梯度差距大的方向迟早被拉开。大模型规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模越大越明显。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08" name="picture 9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910" name="textbox 910"/>
          <p:cNvSpPr/>
          <p:nvPr/>
        </p:nvSpPr>
        <p:spPr>
          <a:xfrm>
            <a:off x="1142682" y="7954086"/>
            <a:ext cx="8279130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900" b="1" kern="0" spc="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03</a:t>
            </a:r>
            <a:r>
              <a:rPr sz="19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</a:t>
            </a: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另一些方向几乎</a:t>
            </a:r>
            <a:r>
              <a:rPr sz="1600" b="1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不动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3"/>
              </a:spcBef>
              <a:tabLst/>
            </a:pP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相应地，信号弱的方向学不起来。放到 1.6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参数的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4-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上，这种方向不均衡会直接影响收敛速度和</a:t>
            </a:r>
            <a:r>
              <a:rPr sz="12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最终 </a:t>
            </a:r>
            <a:r>
              <a:rPr sz="12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loss</a:t>
            </a:r>
            <a:r>
              <a:rPr sz="12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12" name="picture 9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914" name="textbox 914"/>
          <p:cNvSpPr/>
          <p:nvPr/>
        </p:nvSpPr>
        <p:spPr>
          <a:xfrm>
            <a:off x="1134510" y="9632544"/>
            <a:ext cx="16007080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38"/>
              </a:lnSpc>
              <a:tabLst/>
            </a:pP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  /  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916" name="textbox 91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18" name="picture 9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920" name="textbox 920"/>
          <p:cNvSpPr/>
          <p:nvPr/>
        </p:nvSpPr>
        <p:spPr>
          <a:xfrm>
            <a:off x="15435323" y="517118"/>
            <a:ext cx="17005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2 5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Ad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偏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科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问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题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922" name="textbox 922"/>
          <p:cNvSpPr/>
          <p:nvPr/>
        </p:nvSpPr>
        <p:spPr>
          <a:xfrm>
            <a:off x="10470400" y="3921163"/>
            <a:ext cx="2065020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示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意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 DA M W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更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新 强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布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24" name="picture 9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" name="picture 9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84291" y="5010150"/>
            <a:ext cx="5341471" cy="2495550"/>
          </a:xfrm>
          <a:prstGeom prst="rect">
            <a:avLst/>
          </a:prstGeom>
        </p:spPr>
      </p:pic>
      <p:sp>
        <p:nvSpPr>
          <p:cNvPr id="928" name="textbox 928"/>
          <p:cNvSpPr/>
          <p:nvPr/>
        </p:nvSpPr>
        <p:spPr>
          <a:xfrm>
            <a:off x="1130300" y="1479143"/>
            <a:ext cx="9687560" cy="1398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 A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0 4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   C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579"/>
              </a:lnSpc>
              <a:spcBef>
                <a:spcPts val="1328"/>
              </a:spcBef>
              <a:tabLst/>
            </a:pPr>
            <a:r>
              <a:rPr sz="4500" b="1" kern="0" spc="-1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先拿走方向间的不平衡</a:t>
            </a:r>
            <a:r>
              <a:rPr sz="4500" kern="0" spc="-8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1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500" kern="0" spc="-13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600" b="1" i="1" kern="0" spc="-1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再去更新参数</a:t>
            </a:r>
            <a:endParaRPr sz="4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AdamW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直接拿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momentum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更新参数；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Muon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先把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momentum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矩阵投影成正交矩阵，让所有方向的步长一样大。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30" name="picture 9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932" name="rect 932"/>
          <p:cNvSpPr/>
          <p:nvPr/>
        </p:nvSpPr>
        <p:spPr>
          <a:xfrm>
            <a:off x="6191250" y="8220075"/>
            <a:ext cx="923925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34" name="rect 934"/>
          <p:cNvSpPr/>
          <p:nvPr/>
        </p:nvSpPr>
        <p:spPr>
          <a:xfrm>
            <a:off x="3371850" y="8220075"/>
            <a:ext cx="190500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36" name="textbox 936"/>
          <p:cNvSpPr/>
          <p:nvPr/>
        </p:nvSpPr>
        <p:spPr>
          <a:xfrm>
            <a:off x="1138072" y="7597593"/>
            <a:ext cx="7541894" cy="1072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0785" algn="l" rtl="0" eaLnBrk="0">
              <a:lnSpc>
                <a:spcPct val="76000"/>
              </a:lnSpc>
              <a:tabLst/>
            </a:pP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NG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VA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8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EQ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UA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40000"/>
              </a:lnSpc>
              <a:spcBef>
                <a:spcPts val="3"/>
              </a:spcBef>
              <a:tabLst/>
            </a:pP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SGD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+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momentum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算出的矩阵 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M</a:t>
            </a:r>
            <a:r>
              <a:rPr sz="1000" kern="0" spc="28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的奇您值参差不齐</a:t>
            </a:r>
            <a:r>
              <a:rPr sz="1200" kern="0" spc="-2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 做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SVD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会得到</a:t>
            </a:r>
            <a:r>
              <a:rPr sz="1200" kern="0" spc="4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M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=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U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Σ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Vᵀ</a:t>
            </a:r>
            <a:r>
              <a:rPr sz="1000" kern="0" spc="-10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___Σ </a:t>
            </a:r>
            <a:r>
              <a:rPr sz="12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是对角阵，</a:t>
            </a:r>
            <a:r>
              <a:rPr sz="12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对角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线上那些值就是每个方向的「步长J</a:t>
            </a:r>
            <a:r>
              <a:rPr sz="1200" kern="0" spc="-1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938" name="rect 938"/>
          <p:cNvSpPr/>
          <p:nvPr/>
        </p:nvSpPr>
        <p:spPr>
          <a:xfrm>
            <a:off x="10182225" y="8220075"/>
            <a:ext cx="190500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0" name="rect 940"/>
          <p:cNvSpPr/>
          <p:nvPr/>
        </p:nvSpPr>
        <p:spPr>
          <a:xfrm>
            <a:off x="11553825" y="8220075"/>
            <a:ext cx="752475" cy="1714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2" name="textbox 942"/>
          <p:cNvSpPr/>
          <p:nvPr/>
        </p:nvSpPr>
        <p:spPr>
          <a:xfrm>
            <a:off x="9520234" y="7597593"/>
            <a:ext cx="7536180" cy="1072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38095" algn="l" rtl="0" eaLnBrk="0">
              <a:lnSpc>
                <a:spcPct val="76000"/>
              </a:lnSpc>
              <a:tabLst/>
            </a:pP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 I NG U LA R</a:t>
            </a:r>
            <a:r>
              <a:rPr sz="8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VA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 L</a:t>
            </a:r>
            <a:r>
              <a:rPr sz="8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139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Muon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 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Σ</a:t>
            </a:r>
            <a:r>
              <a:rPr sz="1000" kern="0" spc="23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替换成单位阵：</a:t>
            </a:r>
            <a:r>
              <a:rPr sz="1200" kern="0" spc="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M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→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U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V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ᵀ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 所有方向同等步长</a:t>
            </a:r>
            <a:r>
              <a:rPr sz="1200" kern="0" spc="-1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200" kern="0" spc="-2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训练在参数空</a:t>
            </a:r>
            <a:r>
              <a:rPr sz="12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间里向外均匀扩张，</a:t>
            </a:r>
            <a:r>
              <a:rPr sz="1200" kern="0" spc="-2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而不是沿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一条窄道滑下去。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44" name="picture 9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8987" y="5014912"/>
            <a:ext cx="2486025" cy="2485864"/>
          </a:xfrm>
          <a:prstGeom prst="rect">
            <a:avLst/>
          </a:prstGeom>
        </p:spPr>
      </p:pic>
      <p:sp>
        <p:nvSpPr>
          <p:cNvPr id="946" name="textbox 946"/>
          <p:cNvSpPr/>
          <p:nvPr/>
        </p:nvSpPr>
        <p:spPr>
          <a:xfrm>
            <a:off x="5852660" y="6182160"/>
            <a:ext cx="389890" cy="151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000" i="1" kern="0" spc="-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理想圆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48" name="picture 9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897856" y="5679281"/>
            <a:ext cx="5348287" cy="1157287"/>
          </a:xfrm>
          <a:prstGeom prst="rect">
            <a:avLst/>
          </a:prstGeom>
        </p:spPr>
      </p:pic>
      <p:pic>
        <p:nvPicPr>
          <p:cNvPr id="950" name="picture 9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952" name="textbox 952"/>
          <p:cNvSpPr/>
          <p:nvPr/>
        </p:nvSpPr>
        <p:spPr>
          <a:xfrm>
            <a:off x="1134510" y="9632544"/>
            <a:ext cx="16006445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38"/>
              </a:lnSpc>
              <a:tabLst/>
            </a:pP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0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  /  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954" name="textbox 954"/>
          <p:cNvSpPr/>
          <p:nvPr/>
        </p:nvSpPr>
        <p:spPr>
          <a:xfrm>
            <a:off x="1140129" y="3829075"/>
            <a:ext cx="2949575" cy="579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 E</a:t>
            </a:r>
            <a:r>
              <a:rPr sz="9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 O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   ·   A DA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 W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ts val="2604"/>
              </a:lnSpc>
              <a:spcBef>
                <a:spcPts val="1"/>
              </a:spcBef>
              <a:tabLst/>
            </a:pPr>
            <a:r>
              <a:rPr sz="2100" b="1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更新矩阵是个拉长的椭圆</a:t>
            </a:r>
            <a:endParaRPr sz="2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956" name="textbox 956"/>
          <p:cNvSpPr/>
          <p:nvPr/>
        </p:nvSpPr>
        <p:spPr>
          <a:xfrm>
            <a:off x="1140587" y="8977605"/>
            <a:ext cx="6624955" cy="230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10"/>
              </a:lnSpc>
              <a:tabLst/>
            </a:pP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这件事直接做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SVD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代价太大</a:t>
            </a:r>
            <a:r>
              <a:rPr sz="1300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300" kern="0" spc="-2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Muon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用</a:t>
            </a:r>
            <a:r>
              <a:rPr sz="1300" kern="0" spc="1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Newton</a:t>
            </a:r>
            <a:r>
              <a:rPr sz="13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3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Schulz</a:t>
            </a:r>
            <a:r>
              <a:rPr sz="13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迭代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近似投影一下一页展开。</a:t>
            </a:r>
            <a:endParaRPr sz="13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958" name="textbox 958"/>
          <p:cNvSpPr/>
          <p:nvPr/>
        </p:nvSpPr>
        <p:spPr>
          <a:xfrm>
            <a:off x="9516187" y="3829075"/>
            <a:ext cx="2421890" cy="579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 F T</a:t>
            </a:r>
            <a:r>
              <a:rPr sz="9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9685" algn="l" rtl="0" eaLnBrk="0">
              <a:lnSpc>
                <a:spcPts val="2604"/>
              </a:lnSpc>
              <a:spcBef>
                <a:spcPts val="1"/>
              </a:spcBef>
              <a:tabLst/>
            </a:pPr>
            <a:r>
              <a:rPr sz="2100" b="1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正交化后变成一个圆</a:t>
            </a:r>
            <a:endParaRPr sz="2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960" name="textbox 960"/>
          <p:cNvSpPr/>
          <p:nvPr/>
        </p:nvSpPr>
        <p:spPr>
          <a:xfrm>
            <a:off x="4559300" y="6183903"/>
            <a:ext cx="2706370" cy="154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92375" algn="l" rtl="0" eaLnBrk="0">
              <a:lnSpc>
                <a:spcPct val="84000"/>
              </a:lnSpc>
              <a:tabLst>
                <a:tab pos="2570480" algn="l"/>
              </a:tabLst>
            </a:pP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	</a:t>
            </a:r>
            <a:r>
              <a:rPr sz="10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⼤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62" name="picture 9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572000" y="6213435"/>
            <a:ext cx="2479694" cy="88979"/>
          </a:xfrm>
          <a:prstGeom prst="rect">
            <a:avLst/>
          </a:prstGeom>
        </p:spPr>
      </p:pic>
      <p:sp>
        <p:nvSpPr>
          <p:cNvPr id="964" name="textbox 96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66" name="picture 9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968" name="picture 9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43000" y="8753475"/>
            <a:ext cx="13335000" cy="19050"/>
          </a:xfrm>
          <a:prstGeom prst="rect">
            <a:avLst/>
          </a:prstGeom>
        </p:spPr>
      </p:pic>
      <p:sp>
        <p:nvSpPr>
          <p:cNvPr id="970" name="textbox 970"/>
          <p:cNvSpPr/>
          <p:nvPr/>
        </p:nvSpPr>
        <p:spPr>
          <a:xfrm>
            <a:off x="15720479" y="517118"/>
            <a:ext cx="141541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26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正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交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化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972" name="picture 97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974" name="picture 97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533900" y="5781675"/>
            <a:ext cx="76200" cy="476250"/>
          </a:xfrm>
          <a:prstGeom prst="rect">
            <a:avLst/>
          </a:prstGeom>
        </p:spPr>
      </p:pic>
      <p:sp>
        <p:nvSpPr>
          <p:cNvPr id="976" name="textbox 976"/>
          <p:cNvSpPr/>
          <p:nvPr/>
        </p:nvSpPr>
        <p:spPr>
          <a:xfrm>
            <a:off x="4658950" y="5604745"/>
            <a:ext cx="149860" cy="15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0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⼩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978" name="path 978"/>
          <p:cNvSpPr/>
          <p:nvPr/>
        </p:nvSpPr>
        <p:spPr>
          <a:xfrm>
            <a:off x="4527510" y="5778480"/>
            <a:ext cx="50879" cy="82589"/>
          </a:xfrm>
          <a:custGeom>
            <a:avLst/>
            <a:gdLst/>
            <a:ahLst/>
            <a:cxnLst/>
            <a:rect l="0" t="0" r="0" b="0"/>
            <a:pathLst>
              <a:path w="80" h="130">
                <a:moveTo>
                  <a:pt x="70" y="5"/>
                </a:moveTo>
                <a:lnTo>
                  <a:pt x="10" y="125"/>
                </a:lnTo>
              </a:path>
            </a:pathLst>
          </a:custGeom>
          <a:noFill/>
          <a:ln w="14287" cap="flat">
            <a:solidFill>
              <a:srgbClr val="1A1A1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0" name="path 980"/>
          <p:cNvSpPr/>
          <p:nvPr/>
        </p:nvSpPr>
        <p:spPr>
          <a:xfrm>
            <a:off x="4565610" y="5778480"/>
            <a:ext cx="50879" cy="82589"/>
          </a:xfrm>
          <a:custGeom>
            <a:avLst/>
            <a:gdLst/>
            <a:ahLst/>
            <a:cxnLst/>
            <a:rect l="0" t="0" r="0" b="0"/>
            <a:pathLst>
              <a:path w="80" h="130">
                <a:moveTo>
                  <a:pt x="70" y="125"/>
                </a:moveTo>
                <a:lnTo>
                  <a:pt x="10" y="5"/>
                </a:lnTo>
              </a:path>
            </a:pathLst>
          </a:custGeom>
          <a:noFill/>
          <a:ln w="14287" cap="flat">
            <a:solidFill>
              <a:srgbClr val="1A1A1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2"/>
          <p:cNvGrpSpPr/>
          <p:nvPr/>
        </p:nvGrpSpPr>
        <p:grpSpPr>
          <a:xfrm rot="21600000">
            <a:off x="1447619" y="4153509"/>
            <a:ext cx="9478482" cy="3391862"/>
            <a:chOff x="0" y="0"/>
            <a:chExt cx="9478482" cy="3391862"/>
          </a:xfrm>
        </p:grpSpPr>
        <p:pic>
          <p:nvPicPr>
            <p:cNvPr id="982" name="picture 98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419281" y="227990"/>
              <a:ext cx="9029700" cy="2672715"/>
            </a:xfrm>
            <a:prstGeom prst="rect">
              <a:avLst/>
            </a:prstGeom>
          </p:spPr>
        </p:pic>
        <p:sp>
          <p:nvSpPr>
            <p:cNvPr id="984" name="textbox 984"/>
            <p:cNvSpPr/>
            <p:nvPr/>
          </p:nvSpPr>
          <p:spPr>
            <a:xfrm>
              <a:off x="3096648" y="-12700"/>
              <a:ext cx="6382385" cy="15601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8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6000"/>
                </a:lnSpc>
                <a:tabLst/>
              </a:pP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 HAS E   1   ·  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冲</a:t>
              </a:r>
              <a:r>
                <a:rPr sz="900" kern="0" spc="-8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刺</a:t>
              </a:r>
              <a:r>
                <a:rPr sz="900" kern="0" spc="-1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（ 步  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1 - 8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）                                                                     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 HAS E   2</a:t>
              </a:r>
              <a:r>
                <a:rPr sz="900" kern="0" spc="-2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·   </a:t>
              </a:r>
              <a:r>
                <a:rPr sz="900" kern="0" spc="-2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精</a:t>
              </a:r>
              <a:r>
                <a:rPr sz="900" kern="0" spc="-7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-2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调</a:t>
              </a:r>
              <a:r>
                <a:rPr sz="900" kern="0" spc="-1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-2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（ 步   </a:t>
              </a:r>
              <a:r>
                <a:rPr sz="900" kern="0" spc="-2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9 - 1 0</a:t>
              </a:r>
              <a:r>
                <a:rPr sz="900" kern="0" spc="-6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）</a:t>
              </a:r>
              <a:endParaRPr sz="9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5389880" algn="l" rtl="0" eaLnBrk="0">
                <a:lnSpc>
                  <a:spcPts val="1163"/>
                </a:lnSpc>
                <a:spcBef>
                  <a:spcPts val="1"/>
                </a:spcBef>
                <a:tabLst/>
              </a:pPr>
              <a:r>
                <a:rPr sz="900" kern="0" spc="5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target</a:t>
              </a:r>
              <a:r>
                <a:rPr sz="900" kern="0" spc="7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5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=</a:t>
              </a:r>
              <a:r>
                <a:rPr sz="900" kern="0" spc="11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5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986" name="textbox 986"/>
            <p:cNvSpPr/>
            <p:nvPr/>
          </p:nvSpPr>
          <p:spPr>
            <a:xfrm>
              <a:off x="414034" y="2657576"/>
              <a:ext cx="9077325" cy="5086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39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98755" algn="l" rtl="0" eaLnBrk="0">
                <a:lnSpc>
                  <a:spcPct val="86000"/>
                </a:lnSpc>
                <a:tabLst/>
              </a:pPr>
              <a:r>
                <a:rPr sz="1000" kern="0" spc="40" dirty="0">
                  <a:solidFill>
                    <a:srgbClr val="8FA2F8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小奇您值（被抬上去）</a:t>
              </a:r>
              <a:endParaRPr sz="10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tabLst/>
              </a:pPr>
              <a:r>
                <a:rPr sz="900" kern="0" spc="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</a:t>
              </a:r>
              <a:r>
                <a:rPr sz="900" kern="0" spc="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1                          2                         3                         4                          5                         6                         7                         8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9                        10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988" name="textbox 988"/>
            <p:cNvSpPr/>
            <p:nvPr/>
          </p:nvSpPr>
          <p:spPr>
            <a:xfrm>
              <a:off x="196149" y="135508"/>
              <a:ext cx="198755" cy="21736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ts val="1163"/>
                </a:lnSpc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1115" algn="l" rtl="0" eaLnBrk="0">
                <a:lnSpc>
                  <a:spcPts val="1163"/>
                </a:lnSpc>
                <a:spcBef>
                  <a:spcPts val="247"/>
                </a:spcBef>
                <a:tabLst/>
              </a:pPr>
              <a:r>
                <a:rPr sz="8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.5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0480" algn="l" rtl="0" eaLnBrk="0">
                <a:lnSpc>
                  <a:spcPts val="1163"/>
                </a:lnSpc>
                <a:spcBef>
                  <a:spcPts val="247"/>
                </a:spcBef>
                <a:tabLst/>
              </a:pP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8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.0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990" name="textbox 990"/>
            <p:cNvSpPr/>
            <p:nvPr/>
          </p:nvSpPr>
          <p:spPr>
            <a:xfrm>
              <a:off x="601481" y="352526"/>
              <a:ext cx="1332230" cy="1574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39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6000"/>
                </a:lnSpc>
                <a:tabLst/>
              </a:pPr>
              <a:r>
                <a:rPr sz="1000" kern="0" spc="-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大奇您值（被压下来）</a:t>
              </a:r>
              <a:endParaRPr sz="1000" dirty="0">
                <a:latin typeface="PingFang SC"/>
                <a:ea typeface="PingFang SC"/>
                <a:cs typeface="PingFang SC"/>
              </a:endParaRPr>
            </a:p>
          </p:txBody>
        </p:sp>
        <p:sp>
          <p:nvSpPr>
            <p:cNvPr id="992" name="textbox 992"/>
            <p:cNvSpPr/>
            <p:nvPr/>
          </p:nvSpPr>
          <p:spPr>
            <a:xfrm rot="16200000">
              <a:off x="-542022" y="1504552"/>
              <a:ext cx="1162050" cy="1301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6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5000"/>
                </a:lnSpc>
                <a:spcBef>
                  <a:spcPts val="1"/>
                </a:spcBef>
                <a:tabLst/>
              </a:pP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 I N</a:t>
              </a:r>
              <a:r>
                <a:rPr sz="8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 U L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 R</a:t>
              </a:r>
              <a:r>
                <a:rPr sz="800" kern="0" spc="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VA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 U E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994" name="textbox 994"/>
            <p:cNvSpPr/>
            <p:nvPr/>
          </p:nvSpPr>
          <p:spPr>
            <a:xfrm>
              <a:off x="4376751" y="3301209"/>
              <a:ext cx="1104265" cy="116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20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5000"/>
                </a:lnSpc>
                <a:tabLst/>
              </a:pP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IT E RAT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IO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</a:t>
              </a:r>
              <a:r>
                <a:rPr sz="8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r>
                <a:rPr sz="8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996" name="textbox 996"/>
            <p:cNvSpPr/>
            <p:nvPr/>
          </p:nvSpPr>
          <p:spPr>
            <a:xfrm>
              <a:off x="299138" y="2802508"/>
              <a:ext cx="95885" cy="1733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tabLst/>
              </a:pP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98" name="textbox 998"/>
          <p:cNvSpPr/>
          <p:nvPr/>
        </p:nvSpPr>
        <p:spPr>
          <a:xfrm>
            <a:off x="1130300" y="1479143"/>
            <a:ext cx="12663805" cy="1408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4   ·   1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步 迭 代 的 两 段 怯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5579"/>
              </a:lnSpc>
              <a:spcBef>
                <a:spcPts val="1403"/>
              </a:spcBef>
              <a:tabLst/>
            </a:pP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前</a:t>
            </a:r>
            <a:r>
              <a:rPr sz="4500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8 </a:t>
            </a: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步冲刺把奇异值拉到</a:t>
            </a:r>
            <a:r>
              <a:rPr sz="4500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r>
              <a:rPr sz="4500" b="1" kern="0" spc="2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附近</a:t>
            </a:r>
            <a:r>
              <a:rPr sz="4500" kern="0" spc="-8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500" kern="0" spc="-12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600" b="1" i="1" kern="0" spc="-1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后</a:t>
            </a:r>
            <a:r>
              <a:rPr sz="4600" kern="0" spc="-8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i="1" kern="0" spc="-1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</a:t>
            </a:r>
            <a:r>
              <a:rPr sz="4500" b="1" i="1" kern="0" spc="4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600" b="1" i="1" kern="0" spc="-1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步</a:t>
            </a:r>
            <a:r>
              <a:rPr sz="4600" b="1" i="1" kern="0" spc="-1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精调稳定</a:t>
            </a:r>
            <a:endParaRPr sz="4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2860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直接做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SVD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开销太大</a:t>
            </a:r>
            <a:r>
              <a:rPr sz="1500" kern="0" spc="-2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Newton-Schulz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用多项怯迭代近似。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hybrid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版本把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步分两段，换不同的系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000" name="picture 1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002" name="textbox 1002"/>
          <p:cNvSpPr/>
          <p:nvPr/>
        </p:nvSpPr>
        <p:spPr>
          <a:xfrm>
            <a:off x="11801519" y="5955436"/>
            <a:ext cx="5273040" cy="1320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9000"/>
              </a:lnSpc>
              <a:tabLst/>
            </a:pP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H A S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   2 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·   S T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S   9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- 1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18"/>
              </a:lnSpc>
              <a:spcBef>
                <a:spcPts val="583"/>
              </a:spcBef>
              <a:tabLst/>
            </a:pPr>
            <a:r>
              <a:rPr sz="19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精调：把值精确钉在</a:t>
            </a:r>
            <a:r>
              <a:rPr sz="19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endParaRPr sz="1900" dirty="0">
              <a:latin typeface="Georgia"/>
              <a:ea typeface="Georgia"/>
              <a:cs typeface="Georgia"/>
            </a:endParaRPr>
          </a:p>
          <a:p>
            <a:pPr marL="38735" algn="l" rtl="0" eaLnBrk="0">
              <a:lnSpc>
                <a:spcPts val="1698"/>
              </a:lnSpc>
              <a:spcBef>
                <a:spcPts val="558"/>
              </a:spcBef>
              <a:tabLst/>
            </a:pPr>
            <a:r>
              <a:rPr sz="1200" kern="0" spc="-4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(a,</a:t>
            </a:r>
            <a:r>
              <a:rPr sz="1200" kern="0" spc="11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4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b,</a:t>
            </a:r>
            <a:r>
              <a:rPr sz="1200" kern="0" spc="11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4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c)</a:t>
            </a:r>
            <a:r>
              <a:rPr sz="1200" kern="0" spc="-4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4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=</a:t>
            </a:r>
            <a:r>
              <a:rPr sz="1200" kern="0" spc="23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4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(2,</a:t>
            </a:r>
            <a:r>
              <a:rPr sz="1200" kern="0" spc="5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4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−1.5</a:t>
            </a:r>
            <a:r>
              <a:rPr sz="1200" kern="0" spc="-5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,</a:t>
            </a:r>
            <a:r>
              <a:rPr sz="1200" kern="0" spc="7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5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0.5)</a:t>
            </a:r>
            <a:endParaRPr sz="1200" dirty="0">
              <a:latin typeface="Menlo"/>
              <a:ea typeface="Menlo"/>
              <a:cs typeface="Menlo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970" indent="3175" algn="l" rtl="0" eaLnBrk="0">
              <a:lnSpc>
                <a:spcPct val="128000"/>
              </a:lnSpc>
              <a:spcBef>
                <a:spcPts val="1"/>
              </a:spcBef>
              <a:tabLst/>
            </a:pP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系数温和、单调，用来收尾。让所有奇您值稳定精确地停在 1</a:t>
            </a:r>
            <a:r>
              <a:rPr sz="1100" kern="0" spc="-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避免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Phase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sz="1100" kern="0" spc="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遗留的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微小抖动。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004" name="textbox 1004"/>
          <p:cNvSpPr/>
          <p:nvPr/>
        </p:nvSpPr>
        <p:spPr>
          <a:xfrm>
            <a:off x="11805730" y="4012336"/>
            <a:ext cx="5237480" cy="1321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ts val="1073"/>
              </a:lnSpc>
              <a:tabLst/>
            </a:pP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8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8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1   ·  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8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1</a:t>
            </a:r>
            <a:r>
              <a:rPr sz="8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ts val="2418"/>
              </a:lnSpc>
              <a:spcBef>
                <a:spcPts val="583"/>
              </a:spcBef>
              <a:tabLst/>
            </a:pPr>
            <a:r>
              <a:rPr sz="1900" b="1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冲刺：把奇异值快速拉到</a:t>
            </a:r>
            <a:r>
              <a:rPr sz="19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r>
              <a:rPr sz="1900" b="1" kern="0" spc="1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9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附近</a:t>
            </a:r>
            <a:endParaRPr sz="1900" dirty="0">
              <a:latin typeface="PingFang SC"/>
              <a:ea typeface="PingFang SC"/>
              <a:cs typeface="PingFang SC"/>
            </a:endParaRPr>
          </a:p>
          <a:p>
            <a:pPr marL="34290" algn="l" rtl="0" eaLnBrk="0">
              <a:lnSpc>
                <a:spcPts val="1698"/>
              </a:lnSpc>
              <a:spcBef>
                <a:spcPts val="558"/>
              </a:spcBef>
              <a:tabLst/>
            </a:pPr>
            <a:r>
              <a:rPr sz="1200" kern="0" spc="-2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(a,</a:t>
            </a:r>
            <a:r>
              <a:rPr sz="1200" kern="0" spc="-2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2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b,</a:t>
            </a:r>
            <a:r>
              <a:rPr sz="1200" kern="0" spc="11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2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c)</a:t>
            </a:r>
            <a:r>
              <a:rPr sz="1200" kern="0" spc="5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2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=</a:t>
            </a:r>
            <a:r>
              <a:rPr sz="1200" kern="0" spc="23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3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(3.4445,</a:t>
            </a:r>
            <a:r>
              <a:rPr sz="1200" kern="0" spc="5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3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−4.7750,</a:t>
            </a:r>
            <a:r>
              <a:rPr sz="1200" kern="0" spc="8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kern="0" spc="-30" dirty="0">
                <a:solidFill>
                  <a:srgbClr val="4D6BFE">
                    <a:alpha val="100000"/>
                  </a:srgbClr>
                </a:solidFill>
                <a:latin typeface="Menlo"/>
                <a:ea typeface="Menlo"/>
                <a:cs typeface="Menlo"/>
              </a:rPr>
              <a:t>2.0315)</a:t>
            </a:r>
            <a:endParaRPr sz="1200" dirty="0">
              <a:latin typeface="Menlo"/>
              <a:ea typeface="Menlo"/>
              <a:cs typeface="Menlo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128000"/>
              </a:lnSpc>
              <a:spcBef>
                <a:spcPts val="2"/>
              </a:spcBef>
              <a:tabLst/>
            </a:pPr>
            <a:r>
              <a:rPr sz="11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系数绝对值偏大</a:t>
            </a:r>
            <a:r>
              <a:rPr sz="1100" kern="0" spc="-1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，迭代对偏离 1</a:t>
            </a:r>
            <a:r>
              <a:rPr sz="1100" kern="0" spc="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的奇您值响应剧烈，代价是会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overshoot</a:t>
            </a:r>
            <a:r>
              <a:rPr sz="11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一但越界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无所谓，继续迭代就好。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006" name="textbox 1006"/>
          <p:cNvSpPr/>
          <p:nvPr/>
        </p:nvSpPr>
        <p:spPr>
          <a:xfrm>
            <a:off x="1136986" y="8146644"/>
            <a:ext cx="9336405" cy="667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示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意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所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有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奇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您</a:t>
            </a:r>
            <a:r>
              <a:rPr sz="9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值</a:t>
            </a:r>
            <a:r>
              <a:rPr sz="9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步 内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汇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聚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到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 从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大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/   </a:t>
            </a:r>
            <a:r>
              <a:rPr sz="900" kern="0" spc="0" dirty="0">
                <a:solidFill>
                  <a:srgbClr val="8FA2F8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小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</a:t>
            </a:r>
            <a:r>
              <a:rPr sz="9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侧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逼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近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6000"/>
              </a:lnSpc>
              <a:spcBef>
                <a:spcPts val="4"/>
              </a:spcBef>
              <a:tabLst/>
            </a:pP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注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Newton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Schulz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是一个只用矩阵乘法的多项怯迭代，每步把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替换成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aM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+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900" kern="0" spc="-1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MMT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)M +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-1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MMT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)2M</a:t>
            </a:r>
            <a:r>
              <a:rPr sz="900" kern="0" spc="-1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。合理选择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a/b/c</a:t>
            </a:r>
            <a:r>
              <a:rPr sz="900" kern="0" spc="-1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900" kern="0" spc="-1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迭代就能把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的所有奇您值逐步推向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，从而无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需真正做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SVD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就能完成正交化。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008" name="textbox 1008"/>
          <p:cNvSpPr/>
          <p:nvPr/>
        </p:nvSpPr>
        <p:spPr>
          <a:xfrm>
            <a:off x="1134510" y="9642069"/>
            <a:ext cx="637984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  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M_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K  =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AM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K-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}  +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B (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^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M_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K-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}  +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 (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^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M_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K-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}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010" name="textbox 101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012" name="picture 10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014" name="picture 10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016" name="textbox 101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7874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018" name="textbox 1018"/>
          <p:cNvSpPr/>
          <p:nvPr/>
        </p:nvSpPr>
        <p:spPr>
          <a:xfrm>
            <a:off x="15965084" y="517118"/>
            <a:ext cx="117094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z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020" name="picture 10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022" name="textbox 1022"/>
          <p:cNvSpPr/>
          <p:nvPr/>
        </p:nvSpPr>
        <p:spPr>
          <a:xfrm>
            <a:off x="15028873" y="517118"/>
            <a:ext cx="87312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2 7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y b r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024" name="picture 10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811000" y="3810000"/>
            <a:ext cx="5334000" cy="19050"/>
          </a:xfrm>
          <a:prstGeom prst="rect">
            <a:avLst/>
          </a:prstGeom>
        </p:spPr>
      </p:pic>
      <p:pic>
        <p:nvPicPr>
          <p:cNvPr id="1026" name="picture 10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811000" y="5753100"/>
            <a:ext cx="533400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8" name="table 1028"/>
          <p:cNvGraphicFramePr>
            <a:graphicFrameLocks noGrp="1"/>
          </p:cNvGraphicFramePr>
          <p:nvPr/>
        </p:nvGraphicFramePr>
        <p:xfrm>
          <a:off x="1143000" y="3810000"/>
          <a:ext cx="7620000" cy="3267075"/>
        </p:xfrm>
        <a:graphic>
          <a:graphicData uri="http://schemas.openxmlformats.org/drawingml/2006/table">
            <a:tbl>
              <a:tblPr/>
              <a:tblGrid>
                <a:gridCol w="7620000"/>
              </a:tblGrid>
              <a:tr h="1152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592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 I T H O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T   R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S CA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7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655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5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直接替换</a:t>
                      </a:r>
                      <a:r>
                        <a:rPr sz="25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5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= </a:t>
                      </a:r>
                      <a:r>
                        <a:rPr sz="25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超参全部重扫</a:t>
                      </a:r>
                      <a:endParaRPr sz="2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7695" algn="l" rtl="0" eaLnBrk="0">
                        <a:lnSpc>
                          <a:spcPts val="227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500" kern="0" spc="0" baseline="6265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</a:t>
                      </a:r>
                      <a:r>
                        <a:rPr sz="2100" kern="0" spc="0" baseline="7459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</a:t>
                      </a:r>
                      <a:r>
                        <a:rPr sz="1300" kern="0" spc="2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= 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HybridNewtonSchulz</a:t>
                      </a:r>
                      <a:r>
                        <a:rPr sz="16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(µ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</a:t>
                      </a:r>
                      <a:r>
                        <a:rPr sz="13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-1</a:t>
                      </a:r>
                      <a:r>
                        <a:rPr sz="16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+ 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</a:t>
                      </a:r>
                      <a:r>
                        <a:rPr sz="16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)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7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0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6555" indent="2540" algn="l" rtl="0" eaLnBrk="0">
                        <a:lnSpc>
                          <a:spcPct val="131000"/>
                        </a:lnSpc>
                        <a:tabLst/>
                      </a:pPr>
                      <a:r>
                        <a:rPr sz="12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正交化后，</a:t>
                      </a:r>
                      <a:r>
                        <a:rPr sz="1200" kern="0" spc="-2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更新矩阵的每个元素幅度由矩阵维度决定一 </a:t>
                      </a:r>
                      <a:r>
                        <a:rPr sz="11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Menlo"/>
                          <a:ea typeface="Menlo"/>
                          <a:cs typeface="Menlo"/>
                        </a:rPr>
                        <a:t>n</a:t>
                      </a:r>
                      <a:r>
                        <a:rPr sz="11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Menlo"/>
                          <a:ea typeface="Menlo"/>
                          <a:cs typeface="Menlo"/>
                        </a:rPr>
                        <a:t> </a:t>
                      </a:r>
                      <a:r>
                        <a:rPr sz="11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Menlo"/>
                          <a:ea typeface="Menlo"/>
                          <a:cs typeface="Menlo"/>
                        </a:rPr>
                        <a:t>×</a:t>
                      </a:r>
                      <a:r>
                        <a:rPr sz="11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Menlo"/>
                          <a:ea typeface="Menlo"/>
                          <a:cs typeface="Menlo"/>
                        </a:rPr>
                        <a:t> </a:t>
                      </a:r>
                      <a:r>
                        <a:rPr sz="11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Menlo"/>
                          <a:ea typeface="Menlo"/>
                          <a:cs typeface="Menlo"/>
                        </a:rPr>
                        <a:t>m</a:t>
                      </a:r>
                      <a:r>
                        <a:rPr sz="11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Menlo"/>
                          <a:ea typeface="Menlo"/>
                          <a:cs typeface="Menlo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越大</a:t>
                      </a:r>
                      <a:r>
                        <a:rPr sz="1200" kern="0" spc="-2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r>
                        <a:rPr sz="12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RMS</a:t>
                      </a:r>
                      <a:r>
                        <a:rPr sz="12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越小</a:t>
                      </a:r>
                      <a:r>
                        <a:rPr sz="1200" kern="0" spc="-2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r>
                        <a:rPr sz="1200" kern="0" spc="-2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这意味着原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</a:t>
                      </a:r>
                      <a:r>
                        <a:rPr sz="12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AdamW</a:t>
                      </a:r>
                      <a:r>
                        <a:rPr sz="12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下调好的学习率</a:t>
                      </a:r>
                      <a:r>
                        <a:rPr sz="1200" kern="0" spc="-2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  <a:r>
                        <a:rPr sz="12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decay</a:t>
                      </a:r>
                      <a:r>
                        <a:rPr sz="12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到了</a:t>
                      </a:r>
                      <a:r>
                        <a:rPr sz="12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Muon</a:t>
                      </a:r>
                      <a:r>
                        <a:rPr sz="12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上全得重调。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70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i="1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代价：一次大规模调参实验，几万卡时起步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30" name="picture 10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973246" y="6017419"/>
            <a:ext cx="12625" cy="11906"/>
          </a:xfrm>
          <a:prstGeom prst="rect">
            <a:avLst/>
          </a:prstGeom>
        </p:spPr>
      </p:pic>
      <p:graphicFrame>
        <p:nvGraphicFramePr>
          <p:cNvPr id="1032" name="table 1032"/>
          <p:cNvGraphicFramePr>
            <a:graphicFrameLocks noGrp="1"/>
          </p:cNvGraphicFramePr>
          <p:nvPr/>
        </p:nvGraphicFramePr>
        <p:xfrm>
          <a:off x="9525000" y="3810000"/>
          <a:ext cx="7620000" cy="326707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7620000"/>
              </a:tblGrid>
              <a:tr h="3257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592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 I T H   R E</a:t>
                      </a:r>
                      <a:r>
                        <a:rPr sz="9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  ·   V 4  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</a:t>
                      </a:r>
                      <a:r>
                        <a:rPr sz="900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</a:t>
                      </a:r>
                      <a:r>
                        <a:rPr sz="900" kern="0" spc="-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法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77190" algn="l" rtl="0" eaLnBrk="0">
                        <a:lnSpc>
                          <a:spcPts val="3577"/>
                        </a:lnSpc>
                        <a:spcBef>
                          <a:spcPts val="731"/>
                        </a:spcBef>
                        <a:tabLst/>
                      </a:pPr>
                      <a:r>
                        <a:rPr sz="25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乘一个</a:t>
                      </a:r>
                      <a:r>
                        <a:rPr sz="2500" kern="0" spc="-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5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√</a:t>
                      </a:r>
                      <a:r>
                        <a:rPr sz="25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max</a:t>
                      </a:r>
                      <a:r>
                        <a:rPr sz="25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(n,m)</a:t>
                      </a:r>
                      <a:r>
                        <a:rPr sz="2500" b="1" kern="0" spc="1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5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γ</a:t>
                      </a:r>
                      <a:endParaRPr sz="25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7060" algn="l" rtl="0" eaLnBrk="0">
                        <a:lnSpc>
                          <a:spcPts val="2313"/>
                        </a:lnSpc>
                        <a:spcBef>
                          <a:spcPts val="499"/>
                        </a:spcBef>
                        <a:tabLst/>
                      </a:pPr>
                      <a:r>
                        <a:rPr sz="2500" b="1" kern="0" spc="0" baseline="4046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</a:t>
                      </a:r>
                      <a:r>
                        <a:rPr sz="2100" b="1" kern="0" spc="0" baseline="4817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</a:t>
                      </a:r>
                      <a:r>
                        <a:rPr sz="1300" b="1" kern="0" spc="2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= O,</a:t>
                      </a:r>
                      <a:r>
                        <a:rPr sz="13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</a:t>
                      </a:r>
                      <a:r>
                        <a:rPr sz="1300" b="1" kern="0" spc="2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√max(n, m)</a:t>
                      </a:r>
                      <a:r>
                        <a:rPr sz="1600" b="1" kern="0" spc="1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γ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6555" indent="1270" algn="l" rtl="0" eaLnBrk="0">
                        <a:lnSpc>
                          <a:spcPct val="142000"/>
                        </a:lnSpc>
                        <a:spcBef>
                          <a:spcPts val="370"/>
                        </a:spcBef>
                        <a:tabLst/>
                      </a:pPr>
                      <a:r>
                        <a:rPr sz="12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把正交矩阵的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RMS</a:t>
                      </a:r>
                      <a:r>
                        <a:rPr sz="12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</a:t>
                      </a:r>
                      <a:r>
                        <a:rPr sz="12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调回和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AdamW</a:t>
                      </a:r>
                      <a:r>
                        <a:rPr sz="12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更新相近的量级。</a:t>
                      </a:r>
                      <a:r>
                        <a:rPr sz="1200" kern="0" spc="-2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这样  </a:t>
                      </a:r>
                      <a:r>
                        <a:rPr sz="11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Menlo"/>
                          <a:ea typeface="Menlo"/>
                          <a:cs typeface="Menlo"/>
                        </a:rPr>
                        <a:t>η</a:t>
                      </a:r>
                      <a:r>
                        <a:rPr sz="11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Menlo"/>
                          <a:ea typeface="Menlo"/>
                          <a:cs typeface="Menlo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</a:t>
                      </a:r>
                      <a:r>
                        <a:rPr sz="1200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Menlo"/>
                          <a:ea typeface="Menlo"/>
                          <a:cs typeface="Menlo"/>
                        </a:rPr>
                        <a:t>λ</a:t>
                      </a:r>
                      <a:r>
                        <a:rPr sz="11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Menlo"/>
                          <a:ea typeface="Menlo"/>
                          <a:cs typeface="Menlo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这些超参 </a:t>
                      </a:r>
                      <a:r>
                        <a:rPr sz="1200" kern="0" spc="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可以直接复用</a:t>
                      </a:r>
                      <a:r>
                        <a:rPr sz="12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</a:t>
                      </a:r>
                      <a:r>
                        <a:rPr sz="12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AdamW</a:t>
                      </a:r>
                      <a:r>
                        <a:rPr sz="1200" kern="0" spc="1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的经验值</a:t>
                      </a:r>
                      <a:r>
                        <a:rPr sz="1200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一不需要为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Muon</a:t>
                      </a:r>
                      <a:r>
                        <a:rPr sz="1200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重新跑一轮调参。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97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i="1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好处：复用</a:t>
                      </a:r>
                      <a:r>
                        <a:rPr sz="12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i="1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V3</a:t>
                      </a:r>
                      <a:r>
                        <a:rPr sz="1200" i="1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200" i="1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时代的调参经验</a:t>
                      </a:r>
                      <a:r>
                        <a:rPr sz="1200" i="1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，直接起训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34" name="textbox 1034"/>
          <p:cNvSpPr/>
          <p:nvPr/>
        </p:nvSpPr>
        <p:spPr>
          <a:xfrm>
            <a:off x="1130300" y="1479143"/>
            <a:ext cx="9723755" cy="1408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4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 用 重 调 超 参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9050" algn="l" rtl="0" eaLnBrk="0">
              <a:lnSpc>
                <a:spcPts val="5579"/>
              </a:lnSpc>
              <a:spcBef>
                <a:spcPts val="1403"/>
              </a:spcBef>
              <a:tabLst/>
            </a:pP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换优化器</a:t>
            </a:r>
            <a:r>
              <a:rPr sz="4500" kern="0" spc="-7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500" kern="0" spc="-13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600" b="1" i="1" kern="0" spc="-1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不换学习率</a:t>
            </a:r>
            <a:endParaRPr sz="4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Muon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的更新幅度和</a:t>
            </a:r>
            <a:r>
              <a:rPr sz="15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AdamW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不是同一个量纲，原本要重新扫学习率。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加一次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MS rescale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把它们拉回同一规模。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036" name="picture 10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038" name="textbox 1038"/>
          <p:cNvSpPr/>
          <p:nvPr/>
        </p:nvSpPr>
        <p:spPr>
          <a:xfrm>
            <a:off x="1138701" y="8998007"/>
            <a:ext cx="11398250" cy="200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3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一个不起眼的细节，但在工程上非</a:t>
            </a:r>
            <a:r>
              <a:rPr sz="13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常关键：</a:t>
            </a:r>
            <a:r>
              <a:rPr sz="13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它让换优化器这件事，从「重新探索J  变成「直接上车J</a:t>
            </a:r>
            <a:r>
              <a:rPr sz="1300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。对千卡起步的训练，</a:t>
            </a:r>
            <a:r>
              <a:rPr sz="1300" kern="0" spc="-3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这省下的就是整条关键路径。</a:t>
            </a:r>
            <a:endParaRPr sz="13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040" name="textbox 1040"/>
          <p:cNvSpPr/>
          <p:nvPr/>
        </p:nvSpPr>
        <p:spPr>
          <a:xfrm>
            <a:off x="1134510" y="9642069"/>
            <a:ext cx="363791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  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ALGORITHM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1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042" name="textbox 104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044" name="picture 10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046" name="picture 104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048" name="textbox 1048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985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8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1050" name="picture 10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753475"/>
            <a:ext cx="13335000" cy="19050"/>
          </a:xfrm>
          <a:prstGeom prst="rect">
            <a:avLst/>
          </a:prstGeom>
        </p:spPr>
      </p:pic>
      <p:sp>
        <p:nvSpPr>
          <p:cNvPr id="1052" name="textbox 1052"/>
          <p:cNvSpPr/>
          <p:nvPr/>
        </p:nvSpPr>
        <p:spPr>
          <a:xfrm>
            <a:off x="15778820" y="517118"/>
            <a:ext cx="135763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2 8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 M S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 e s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 l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054" name="picture 10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1056" name="picture 10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378836" y="5607349"/>
            <a:ext cx="12688" cy="12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8"/>
          <p:cNvGrpSpPr/>
          <p:nvPr/>
        </p:nvGrpSpPr>
        <p:grpSpPr>
          <a:xfrm rot="21600000">
            <a:off x="1447619" y="4206468"/>
            <a:ext cx="9907674" cy="3643703"/>
            <a:chOff x="0" y="0"/>
            <a:chExt cx="9907674" cy="3643703"/>
          </a:xfrm>
        </p:grpSpPr>
        <p:pic>
          <p:nvPicPr>
            <p:cNvPr id="1058" name="picture 10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444045" y="79781"/>
              <a:ext cx="9395460" cy="3101340"/>
            </a:xfrm>
            <a:prstGeom prst="rect">
              <a:avLst/>
            </a:prstGeom>
          </p:spPr>
        </p:pic>
        <p:sp>
          <p:nvSpPr>
            <p:cNvPr id="1060" name="textbox 1060"/>
            <p:cNvSpPr/>
            <p:nvPr/>
          </p:nvSpPr>
          <p:spPr>
            <a:xfrm>
              <a:off x="193866" y="1054100"/>
              <a:ext cx="5523230" cy="2202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9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605" indent="4088130" algn="l" rtl="0" eaLnBrk="0">
                <a:lnSpc>
                  <a:spcPct val="126000"/>
                </a:lnSpc>
                <a:tabLst/>
              </a:pPr>
              <a:r>
                <a:rPr sz="9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Muon</a:t>
              </a:r>
              <a:r>
                <a:rPr sz="900" kern="0" spc="1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11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到同 </a:t>
              </a:r>
              <a:r>
                <a:rPr sz="9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loss</a:t>
              </a:r>
              <a:r>
                <a:rPr sz="900" kern="0" spc="1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11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提前一截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spcBef>
                  <a:spcPts val="279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ts val="1163"/>
                </a:lnSpc>
                <a:spcBef>
                  <a:spcPts val="280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5240" algn="l" rtl="0" eaLnBrk="0">
                <a:lnSpc>
                  <a:spcPts val="1163"/>
                </a:lnSpc>
                <a:spcBef>
                  <a:spcPts val="2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2.0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62" name="textbox 1062"/>
            <p:cNvSpPr/>
            <p:nvPr/>
          </p:nvSpPr>
          <p:spPr>
            <a:xfrm>
              <a:off x="414034" y="3263900"/>
              <a:ext cx="9506585" cy="405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tabLst/>
              </a:pP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r>
                <a:rPr sz="900" kern="0" spc="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8T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16T</a:t>
              </a:r>
              <a:r>
                <a:rPr sz="900" kern="0" spc="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24T</a:t>
              </a:r>
              <a:r>
                <a:rPr sz="900" kern="0" spc="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32T</a:t>
              </a:r>
              <a:r>
                <a:rPr sz="900" kern="0" spc="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</a:t>
              </a:r>
              <a:r>
                <a:rPr sz="9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40T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9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896359" algn="l" rtl="0" eaLnBrk="0">
                <a:lnSpc>
                  <a:spcPct val="75000"/>
                </a:lnSpc>
                <a:tabLst/>
              </a:pP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 RA I N I NG</a:t>
              </a:r>
              <a:r>
                <a:rPr sz="8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 K E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NS</a:t>
              </a:r>
              <a:r>
                <a:rPr sz="8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 E</a:t>
              </a:r>
              <a:r>
                <a:rPr sz="8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 N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64" name="textbox 1064"/>
            <p:cNvSpPr/>
            <p:nvPr/>
          </p:nvSpPr>
          <p:spPr>
            <a:xfrm>
              <a:off x="8490748" y="1998446"/>
              <a:ext cx="1221740" cy="760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4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58469" algn="l" rtl="0" eaLnBrk="0">
                <a:lnSpc>
                  <a:spcPct val="99000"/>
                </a:lnSpc>
                <a:tabLst/>
              </a:pPr>
              <a:r>
                <a:rPr sz="12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Muon</a:t>
              </a:r>
              <a:r>
                <a:rPr sz="1200" kern="0" spc="9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5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(V4)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spcBef>
                  <a:spcPts val="2"/>
                </a:spcBef>
                <a:tabLst/>
              </a:pPr>
              <a:r>
                <a:rPr sz="12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AdamW baseline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66" name="textbox 1066"/>
            <p:cNvSpPr/>
            <p:nvPr/>
          </p:nvSpPr>
          <p:spPr>
            <a:xfrm>
              <a:off x="7170663" y="2406650"/>
              <a:ext cx="675640" cy="1733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163"/>
                </a:lnSpc>
                <a:tabLst/>
              </a:pPr>
              <a:r>
                <a:rPr sz="900" kern="0" spc="4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更低 </a:t>
              </a:r>
              <a:r>
                <a:rPr sz="9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loss</a:t>
              </a:r>
              <a:r>
                <a:rPr sz="900" kern="0" spc="9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4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↓</a:t>
              </a:r>
              <a:endParaRPr sz="900" dirty="0">
                <a:latin typeface="PingFang SC"/>
                <a:ea typeface="PingFang SC"/>
                <a:cs typeface="PingFang SC"/>
              </a:endParaRPr>
            </a:p>
          </p:txBody>
        </p:sp>
        <p:sp>
          <p:nvSpPr>
            <p:cNvPr id="1068" name="textbox 1068"/>
            <p:cNvSpPr/>
            <p:nvPr/>
          </p:nvSpPr>
          <p:spPr>
            <a:xfrm rot="16200000">
              <a:off x="-482300" y="1547514"/>
              <a:ext cx="1042670" cy="1301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5000"/>
                </a:lnSpc>
                <a:spcBef>
                  <a:spcPts val="1"/>
                </a:spcBef>
                <a:tabLst/>
              </a:pP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 RA I N I N</a:t>
              </a:r>
              <a:r>
                <a:rPr sz="8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</a:t>
              </a:r>
              <a:r>
                <a:rPr sz="800" kern="0" spc="9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</a:t>
              </a:r>
              <a:r>
                <a:rPr sz="8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</a:t>
              </a:r>
              <a:r>
                <a:rPr sz="8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r>
                <a:rPr sz="8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70" name="textbox 1070"/>
            <p:cNvSpPr/>
            <p:nvPr/>
          </p:nvSpPr>
          <p:spPr>
            <a:xfrm>
              <a:off x="195056" y="606425"/>
              <a:ext cx="199390" cy="1733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2.8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72" name="textbox 1072"/>
            <p:cNvSpPr/>
            <p:nvPr/>
          </p:nvSpPr>
          <p:spPr>
            <a:xfrm>
              <a:off x="195628" y="-12700"/>
              <a:ext cx="199390" cy="1733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63"/>
                </a:lnSpc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3.0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074" name="textbox 1074"/>
          <p:cNvSpPr/>
          <p:nvPr/>
        </p:nvSpPr>
        <p:spPr>
          <a:xfrm>
            <a:off x="1130300" y="1479143"/>
            <a:ext cx="11546205" cy="1398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LT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579"/>
              </a:lnSpc>
              <a:spcBef>
                <a:spcPts val="1328"/>
              </a:spcBef>
              <a:tabLst/>
            </a:pP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同样的数据、</a:t>
            </a:r>
            <a:r>
              <a:rPr sz="4500" kern="0" spc="-6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同样的算力，</a:t>
            </a:r>
            <a:r>
              <a:rPr sz="4500" b="1" i="1" kern="0" spc="-1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Muon</a:t>
            </a:r>
            <a:r>
              <a:rPr sz="4500" b="1" i="1" kern="0" spc="4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600" b="1" i="1" kern="0" spc="-1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先一步到位</a:t>
            </a:r>
            <a:endParaRPr sz="4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论文未披露完整对照曲线，</a:t>
            </a:r>
            <a:r>
              <a:rPr sz="1500" kern="0" spc="-3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以下为根据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Jordan 2024</a:t>
            </a:r>
            <a:r>
              <a:rPr sz="1500" kern="0" spc="-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/ Liu 2025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原始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Muon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论文和</a:t>
            </a:r>
            <a:r>
              <a:rPr sz="15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训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练描述综合示意。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076" name="picture 10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graphicFrame>
        <p:nvGraphicFramePr>
          <p:cNvPr id="1078" name="table 1078"/>
          <p:cNvGraphicFramePr>
            <a:graphicFrameLocks noGrp="1"/>
          </p:cNvGraphicFramePr>
          <p:nvPr/>
        </p:nvGraphicFramePr>
        <p:xfrm>
          <a:off x="12192000" y="4667250"/>
          <a:ext cx="4953000" cy="2800350"/>
        </p:xfrm>
        <a:graphic>
          <a:graphicData uri="http://schemas.openxmlformats.org/drawingml/2006/table">
            <a:tbl>
              <a:tblPr/>
              <a:tblGrid>
                <a:gridCol w="4953000"/>
              </a:tblGrid>
              <a:tr h="1400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ct val="7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5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FASTER</a:t>
                      </a:r>
                      <a:endParaRPr sz="25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7620" algn="l" rtl="0" eaLnBrk="0">
                        <a:lnSpc>
                          <a:spcPct val="85000"/>
                        </a:lnSpc>
                        <a:spcBef>
                          <a:spcPts val="747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收敛速度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indent="7620" algn="l" rtl="0" eaLnBrk="0">
                        <a:lnSpc>
                          <a:spcPct val="129000"/>
                        </a:lnSpc>
                        <a:tabLst/>
                      </a:pP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同样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水平，</a:t>
                      </a:r>
                      <a:r>
                        <a:rPr sz="1000" kern="0" spc="-2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Muon</a:t>
                      </a:r>
                      <a:r>
                        <a:rPr sz="10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AdamW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少吃一截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</a:t>
                      </a:r>
                      <a:r>
                        <a:rPr sz="1000" kern="0" spc="-1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论文明确列为换优化器的核</a:t>
                      </a:r>
                      <a:r>
                        <a:rPr sz="10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心动机。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0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2500" b="1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SMOOTHER</a:t>
                      </a:r>
                      <a:endParaRPr sz="25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5715" algn="l" rtl="0" eaLnBrk="0">
                        <a:lnSpc>
                          <a:spcPct val="85000"/>
                        </a:lnSpc>
                        <a:spcBef>
                          <a:spcPts val="75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训练稳定性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12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正交化让梯度主方向不再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垄断更新，</a:t>
                      </a:r>
                      <a:r>
                        <a:rPr sz="1000" kern="0" spc="-2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  <a:r>
                        <a:rPr sz="10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曲线抖动明显收敛，大规模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MoE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训练里尤</a:t>
                      </a:r>
                      <a:r>
                        <a:rPr sz="10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其明显。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80" name="textbox 1080"/>
          <p:cNvSpPr/>
          <p:nvPr/>
        </p:nvSpPr>
        <p:spPr>
          <a:xfrm>
            <a:off x="12183701" y="7630331"/>
            <a:ext cx="4956810" cy="1002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25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NO</a:t>
            </a:r>
            <a:r>
              <a:rPr sz="25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5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QK</a:t>
            </a:r>
            <a:r>
              <a:rPr sz="25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-</a:t>
            </a:r>
            <a:r>
              <a:rPr sz="25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CLIP</a:t>
            </a:r>
            <a:endParaRPr sz="2500" dirty="0">
              <a:latin typeface="Georgia"/>
              <a:ea typeface="Georgia"/>
              <a:cs typeface="Georgia"/>
            </a:endParaRPr>
          </a:p>
          <a:p>
            <a:pPr marL="14605" algn="l" rtl="0" eaLnBrk="0">
              <a:lnSpc>
                <a:spcPct val="99000"/>
              </a:lnSpc>
              <a:spcBef>
                <a:spcPts val="438"/>
              </a:spcBef>
              <a:tabLst/>
            </a:pP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省掉配套</a:t>
            </a:r>
            <a:r>
              <a:rPr sz="1200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trick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24000"/>
              </a:lnSpc>
              <a:spcBef>
                <a:spcPts val="1"/>
              </a:spcBef>
              <a:tabLst/>
            </a:pP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 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对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都做了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RMSNorm</a:t>
            </a:r>
            <a:r>
              <a:rPr sz="1000" kern="0" spc="-1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logit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天然不炸，不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需要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Muon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原版论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文的 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QK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0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Clip</a:t>
            </a:r>
            <a:r>
              <a:rPr sz="10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082" name="textbox 1082"/>
          <p:cNvSpPr/>
          <p:nvPr/>
        </p:nvSpPr>
        <p:spPr>
          <a:xfrm>
            <a:off x="12183187" y="3802786"/>
            <a:ext cx="3107690" cy="686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'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TA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AWAY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ts val="3348"/>
              </a:lnSpc>
              <a:spcBef>
                <a:spcPts val="781"/>
              </a:spcBef>
              <a:tabLst/>
            </a:pPr>
            <a:r>
              <a:rPr sz="27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收敛更快、</a:t>
            </a:r>
            <a:r>
              <a:rPr sz="2700" kern="0" spc="-6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b="1" kern="0" spc="-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训练更稳</a:t>
            </a:r>
            <a:endParaRPr sz="27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084" name="textbox 1084"/>
          <p:cNvSpPr/>
          <p:nvPr/>
        </p:nvSpPr>
        <p:spPr>
          <a:xfrm>
            <a:off x="1138158" y="9033383"/>
            <a:ext cx="11389995" cy="196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42"/>
              </a:lnSpc>
              <a:tabLst/>
            </a:pPr>
            <a:r>
              <a:rPr sz="11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范围说明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1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Embedding</a:t>
            </a:r>
            <a:r>
              <a:rPr sz="1100" kern="0" spc="-1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100" kern="0" spc="-2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prediction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head</a:t>
            </a:r>
            <a:r>
              <a:rPr sz="1100" kern="0" spc="-1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、静态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bias</a:t>
            </a:r>
            <a:r>
              <a:rPr sz="1100" kern="0" spc="-1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100" kern="0" spc="-2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RMSNorm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这几类仍用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AdamW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；其余模块全部换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Muon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。这是工程折衷一小部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件继续用经过千锤百炼的老家伙，主力换新。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086" name="textbox 1086"/>
          <p:cNvSpPr/>
          <p:nvPr/>
        </p:nvSpPr>
        <p:spPr>
          <a:xfrm>
            <a:off x="1137605" y="8180924"/>
            <a:ext cx="5104765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示</a:t>
            </a:r>
            <a:r>
              <a:rPr sz="900" kern="0" spc="-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意  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UO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9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曲</a:t>
            </a:r>
            <a:r>
              <a:rPr sz="900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线</a:t>
            </a:r>
            <a:r>
              <a:rPr sz="900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更</a:t>
            </a:r>
            <a:r>
              <a:rPr sz="900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平</a:t>
            </a:r>
            <a:r>
              <a:rPr sz="900" kern="0" spc="-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滑 ，</a:t>
            </a:r>
            <a:r>
              <a:rPr sz="900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下</a:t>
            </a:r>
            <a:r>
              <a:rPr sz="900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降</a:t>
            </a:r>
            <a:r>
              <a:rPr sz="900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更</a:t>
            </a:r>
            <a:r>
              <a:rPr sz="900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快  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1000" i="1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论文未披露完整训练曲线，</a:t>
            </a:r>
            <a:r>
              <a:rPr sz="1000" kern="0" spc="-1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此图为趋势示意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088" name="textbox 1088"/>
          <p:cNvSpPr/>
          <p:nvPr/>
        </p:nvSpPr>
        <p:spPr>
          <a:xfrm>
            <a:off x="1134510" y="9642069"/>
            <a:ext cx="240411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090" name="textbox 109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092" name="picture 10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094" name="picture 109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096" name="textbox 109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7048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1098" name="picture 10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801100"/>
            <a:ext cx="13335000" cy="19050"/>
          </a:xfrm>
          <a:prstGeom prst="rect">
            <a:avLst/>
          </a:prstGeom>
        </p:spPr>
      </p:pic>
      <p:sp>
        <p:nvSpPr>
          <p:cNvPr id="1100" name="textbox 1100"/>
          <p:cNvSpPr/>
          <p:nvPr/>
        </p:nvSpPr>
        <p:spPr>
          <a:xfrm>
            <a:off x="15720479" y="517118"/>
            <a:ext cx="141541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实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测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效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果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102" name="picture 11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textbox 1104"/>
          <p:cNvSpPr/>
          <p:nvPr/>
        </p:nvSpPr>
        <p:spPr>
          <a:xfrm>
            <a:off x="1130300" y="1479143"/>
            <a:ext cx="13194030" cy="1907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 A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0 5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900" dirty="0">
              <a:latin typeface="Arial"/>
              <a:ea typeface="Arial"/>
              <a:cs typeface="Arial"/>
            </a:endParaRPr>
          </a:p>
          <a:p>
            <a:pPr marL="32385" algn="l" rtl="0" eaLnBrk="0">
              <a:lnSpc>
                <a:spcPts val="6836"/>
              </a:lnSpc>
              <a:spcBef>
                <a:spcPts val="1432"/>
              </a:spcBef>
              <a:tabLst/>
            </a:pPr>
            <a:r>
              <a:rPr sz="4900" b="1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每一条缝都抠过：</a:t>
            </a:r>
            <a:r>
              <a:rPr sz="4900" kern="0" spc="-10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100" b="1" i="1" kern="0" spc="-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基建的六个模块</a:t>
            </a:r>
            <a:endParaRPr sz="5100" dirty="0">
              <a:latin typeface="PingFang SC"/>
              <a:ea typeface="PingFang SC"/>
              <a:cs typeface="PingFang SC"/>
            </a:endParaRPr>
          </a:p>
          <a:p>
            <a:pPr marL="19050" indent="-2540" algn="l" rtl="0" eaLnBrk="0">
              <a:lnSpc>
                <a:spcPct val="130000"/>
              </a:lnSpc>
              <a:spcBef>
                <a:spcPts val="396"/>
              </a:spcBef>
              <a:tabLst/>
            </a:pP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 的</a:t>
            </a:r>
            <a:r>
              <a:rPr sz="16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Section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16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是整篇报告里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infra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味最浓的部分。</a:t>
            </a:r>
            <a:r>
              <a:rPr sz="16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把训练和推</a:t>
            </a:r>
            <a:r>
              <a:rPr sz="16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理的每一个工程=隙都抠了一遍一下面是这份「工程</a:t>
            </a:r>
            <a:r>
              <a:rPr sz="16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checklist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J</a:t>
            </a:r>
            <a:r>
              <a:rPr sz="16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的六</a:t>
            </a:r>
            <a:r>
              <a:rPr sz="16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个入口</a:t>
            </a:r>
            <a:r>
              <a:rPr sz="16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106" name="picture 1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graphicFrame>
        <p:nvGraphicFramePr>
          <p:cNvPr id="1108" name="table 1108"/>
          <p:cNvGraphicFramePr>
            <a:graphicFrameLocks noGrp="1"/>
          </p:cNvGraphicFramePr>
          <p:nvPr/>
        </p:nvGraphicFramePr>
        <p:xfrm>
          <a:off x="1143000" y="3905250"/>
          <a:ext cx="5143499" cy="2381250"/>
        </p:xfrm>
        <a:graphic>
          <a:graphicData uri="http://schemas.openxmlformats.org/drawingml/2006/table">
            <a:tbl>
              <a:tblPr/>
              <a:tblGrid>
                <a:gridCol w="4685030"/>
                <a:gridCol w="458469"/>
              </a:tblGrid>
              <a:tr h="2381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090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b="1" kern="0" spc="1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COMMUNICAT</a:t>
                      </a:r>
                      <a:r>
                        <a:rPr sz="1300" b="1" kern="0" spc="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ION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37820" algn="l" rtl="0" eaLnBrk="0">
                        <a:lnSpc>
                          <a:spcPts val="2789"/>
                        </a:lnSpc>
                        <a:spcBef>
                          <a:spcPts val="1098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MoE</a:t>
                      </a:r>
                      <a:r>
                        <a:rPr sz="2200" b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200" b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42265" algn="l" rtl="0" eaLnBrk="0">
                        <a:lnSpc>
                          <a:spcPct val="88000"/>
                        </a:lnSpc>
                        <a:spcBef>
                          <a:spcPts val="12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计算重叠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360" indent="-635" algn="l" rtl="0" eaLnBrk="0">
                        <a:lnSpc>
                          <a:spcPct val="130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MoE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层拆成四段、用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wave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调度做细粒度流水</a:t>
                      </a:r>
                      <a:r>
                        <a:rPr sz="1200" kern="0" spc="-2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。理论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1.92×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速，</a:t>
                      </a:r>
                      <a:r>
                        <a:rPr sz="1200" kern="0" spc="-3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RL rollout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测最高</a:t>
                      </a:r>
                      <a:r>
                        <a:rPr sz="12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1.96×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0 1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10" name="table 1110"/>
          <p:cNvGraphicFramePr>
            <a:graphicFrameLocks noGrp="1"/>
          </p:cNvGraphicFramePr>
          <p:nvPr/>
        </p:nvGraphicFramePr>
        <p:xfrm>
          <a:off x="6572250" y="3905250"/>
          <a:ext cx="5142865" cy="2380615"/>
        </p:xfrm>
        <a:graphic>
          <a:graphicData uri="http://schemas.openxmlformats.org/drawingml/2006/table">
            <a:tbl>
              <a:tblPr/>
              <a:tblGrid>
                <a:gridCol w="3365500"/>
                <a:gridCol w="1777365"/>
              </a:tblGrid>
              <a:tr h="1394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5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13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DSL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34645" algn="l" rtl="0" eaLnBrk="0">
                        <a:lnSpc>
                          <a:spcPct val="84000"/>
                        </a:lnSpc>
                        <a:spcBef>
                          <a:spcPts val="1492"/>
                        </a:spcBef>
                        <a:tabLst/>
                      </a:pP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TileLang</a:t>
                      </a:r>
                      <a:endParaRPr sz="22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37185" algn="l" rtl="0" eaLnBrk="0">
                        <a:lnSpc>
                          <a:spcPts val="2789"/>
                        </a:lnSpc>
                        <a:spcBef>
                          <a:spcPts val="14"/>
                        </a:spcBef>
                        <a:tabLst/>
                      </a:pP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领域专用语言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6040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0 2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98615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360" indent="-1270" algn="l" rtl="0" eaLnBrk="0">
                        <a:lnSpc>
                          <a:spcPct val="13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</a:t>
                      </a:r>
                      <a:r>
                        <a:rPr sz="12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TileLang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融合内核，</a:t>
                      </a:r>
                      <a:r>
                        <a:rPr sz="1200" kern="0" spc="-2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Host Codegen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CPU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校验从几十微秒压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到 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1200" kern="0" spc="2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微秒。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SMT 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求解器辅助整数分析。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12" name="table 1112"/>
          <p:cNvGraphicFramePr>
            <a:graphicFrameLocks noGrp="1"/>
          </p:cNvGraphicFramePr>
          <p:nvPr/>
        </p:nvGraphicFramePr>
        <p:xfrm>
          <a:off x="12001500" y="3905250"/>
          <a:ext cx="5143500" cy="2381250"/>
        </p:xfrm>
        <a:graphic>
          <a:graphicData uri="http://schemas.openxmlformats.org/drawingml/2006/table">
            <a:tbl>
              <a:tblPr/>
              <a:tblGrid>
                <a:gridCol w="4634865"/>
                <a:gridCol w="508635"/>
              </a:tblGrid>
              <a:tr h="2381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5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1300" b="1" kern="0" spc="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DETERMINISM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46075" algn="l" rtl="0" eaLnBrk="0">
                        <a:lnSpc>
                          <a:spcPts val="2707"/>
                        </a:lnSpc>
                        <a:spcBef>
                          <a:spcPts val="1099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批次无关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41630" algn="l" rtl="0" eaLnBrk="0">
                        <a:lnSpc>
                          <a:spcPts val="2707"/>
                        </a:lnSpc>
                        <a:tabLst/>
                      </a:pPr>
                      <a:r>
                        <a:rPr sz="2200" b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确定性</a:t>
                      </a:r>
                      <a:r>
                        <a:rPr sz="2200" kern="0" spc="-1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kernel</a:t>
                      </a:r>
                      <a:endParaRPr sz="22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360" indent="-635" algn="l" rtl="0" eaLnBrk="0">
                        <a:lnSpc>
                          <a:spcPct val="13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训练与推理比特级一致。双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kernel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策略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独立累加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ffer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，弃用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cuBLAS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换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DeepGEMM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135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0 3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14" name="table 1114"/>
          <p:cNvGraphicFramePr>
            <a:graphicFrameLocks noGrp="1"/>
          </p:cNvGraphicFramePr>
          <p:nvPr/>
        </p:nvGraphicFramePr>
        <p:xfrm>
          <a:off x="1143000" y="6572250"/>
          <a:ext cx="5142865" cy="2381250"/>
        </p:xfrm>
        <a:graphic>
          <a:graphicData uri="http://schemas.openxmlformats.org/drawingml/2006/table">
            <a:tbl>
              <a:tblPr/>
              <a:tblGrid>
                <a:gridCol w="3348355"/>
                <a:gridCol w="1794510"/>
              </a:tblGrid>
              <a:tr h="1376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090" algn="l" rtl="0" eaLnBrk="0">
                        <a:lnSpc>
                          <a:spcPct val="8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b="1" kern="0" spc="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QUANTIZATION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42900" algn="l" rtl="0" eaLnBrk="0">
                        <a:lnSpc>
                          <a:spcPct val="81000"/>
                        </a:lnSpc>
                        <a:spcBef>
                          <a:spcPts val="1364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FP</a:t>
                      </a: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 </a:t>
                      </a: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量化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40360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感知训练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8740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8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00457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725" indent="6985" algn="l" rtl="0" eaLnBrk="0">
                        <a:lnSpc>
                          <a:spcPct val="13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MoE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权重和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exer QK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全上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FP4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r>
                        <a:rPr sz="1200" kern="0" spc="-3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FP4</a:t>
                      </a:r>
                      <a:r>
                        <a:rPr sz="1200" kern="0" spc="-2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</a:t>
                      </a:r>
                      <a:r>
                        <a:rPr sz="1200" kern="0" spc="-3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FP8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反量化无损，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top-k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提速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2×</a:t>
                      </a:r>
                      <a:r>
                        <a:rPr sz="1200" kern="0" spc="-2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,</a:t>
                      </a:r>
                      <a:r>
                        <a:rPr sz="12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 recall 99.7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16" name="table 1116"/>
          <p:cNvGraphicFramePr>
            <a:graphicFrameLocks noGrp="1"/>
          </p:cNvGraphicFramePr>
          <p:nvPr/>
        </p:nvGraphicFramePr>
        <p:xfrm>
          <a:off x="6572250" y="6572250"/>
          <a:ext cx="5142865" cy="2381250"/>
        </p:xfrm>
        <a:graphic>
          <a:graphicData uri="http://schemas.openxmlformats.org/drawingml/2006/table">
            <a:tbl>
              <a:tblPr/>
              <a:tblGrid>
                <a:gridCol w="4519295"/>
                <a:gridCol w="623570"/>
              </a:tblGrid>
              <a:tr h="2381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4010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b="1" kern="0" spc="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TRAIN</a:t>
                      </a:r>
                      <a:r>
                        <a:rPr sz="1300" b="1" kern="0" spc="3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300" b="1" kern="0" spc="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FRAMEWORK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46075" algn="l" rtl="0" eaLnBrk="0">
                        <a:lnSpc>
                          <a:spcPct val="82000"/>
                        </a:lnSpc>
                        <a:spcBef>
                          <a:spcPts val="1435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训练框架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46075" algn="l" rtl="0" eaLnBrk="0">
                        <a:lnSpc>
                          <a:spcPct val="98000"/>
                        </a:lnSpc>
                        <a:spcBef>
                          <a:spcPts val="18"/>
                        </a:spcBef>
                        <a:tabLst/>
                      </a:pPr>
                      <a:r>
                        <a:rPr sz="22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三板斧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265" indent="3810" algn="l" rtl="0" eaLnBrk="0">
                        <a:lnSpc>
                          <a:spcPct val="12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Muon × ZeRO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</a:t>
                      </a:r>
                      <a:r>
                        <a:rPr sz="12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knapsack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分桶，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HC wall-time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开销压到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6.7%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tensor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级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checkpointing</a:t>
                      </a:r>
                      <a:r>
                        <a:rPr sz="12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自动重计算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340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0 5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18" name="table 1118"/>
          <p:cNvGraphicFramePr>
            <a:graphicFrameLocks noGrp="1"/>
          </p:cNvGraphicFramePr>
          <p:nvPr/>
        </p:nvGraphicFramePr>
        <p:xfrm>
          <a:off x="12001500" y="6572250"/>
          <a:ext cx="5142864" cy="2380615"/>
        </p:xfrm>
        <a:graphic>
          <a:graphicData uri="http://schemas.openxmlformats.org/drawingml/2006/table">
            <a:tbl>
              <a:tblPr/>
              <a:tblGrid>
                <a:gridCol w="3894455"/>
                <a:gridCol w="1248410"/>
              </a:tblGrid>
              <a:tr h="1376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5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b="1" kern="0" spc="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INFERENCE</a:t>
                      </a:r>
                      <a:r>
                        <a:rPr sz="1300" b="1" kern="0" spc="4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300" b="1" kern="0" spc="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FRAMEWORK</a:t>
                      </a:r>
                      <a:endParaRPr sz="13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40995" algn="l" rtl="0" eaLnBrk="0">
                        <a:lnSpc>
                          <a:spcPct val="86000"/>
                        </a:lnSpc>
                        <a:spcBef>
                          <a:spcPts val="1432"/>
                        </a:spcBef>
                        <a:tabLst/>
                      </a:pP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推理框架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42265" algn="l" rtl="0" eaLnBrk="0">
                        <a:lnSpc>
                          <a:spcPct val="85000"/>
                        </a:lnSpc>
                        <a:spcBef>
                          <a:spcPts val="375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KV</a:t>
                      </a:r>
                      <a:r>
                        <a:rPr sz="22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cache</a:t>
                      </a:r>
                      <a:r>
                        <a:rPr sz="22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2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异构管理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3275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8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00393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360" indent="1270" algn="l" rtl="0" eaLnBrk="0">
                        <a:lnSpc>
                          <a:spcPct val="12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State Cache + KV Cache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两级池。把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shared-prefix KV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落盘，给       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agent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长上下文拉低首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延迟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20" name="textbox 112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122" name="picture 1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124" name="picture 11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126" name="textbox 112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794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28" name="textbox 1128"/>
          <p:cNvSpPr/>
          <p:nvPr/>
        </p:nvSpPr>
        <p:spPr>
          <a:xfrm>
            <a:off x="1134510" y="9642069"/>
            <a:ext cx="1939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130" name="picture 11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132" name="textbox 1132"/>
          <p:cNvSpPr/>
          <p:nvPr/>
        </p:nvSpPr>
        <p:spPr>
          <a:xfrm>
            <a:off x="16187074" y="517118"/>
            <a:ext cx="94868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0 5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基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础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设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施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134" name="textbox 1134"/>
          <p:cNvSpPr/>
          <p:nvPr/>
        </p:nvSpPr>
        <p:spPr>
          <a:xfrm>
            <a:off x="15403599" y="545722"/>
            <a:ext cx="723265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" name="table 1136"/>
          <p:cNvGraphicFramePr>
            <a:graphicFrameLocks noGrp="1"/>
          </p:cNvGraphicFramePr>
          <p:nvPr/>
        </p:nvGraphicFramePr>
        <p:xfrm>
          <a:off x="1143000" y="3429000"/>
          <a:ext cx="8514715" cy="452374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5504815"/>
                <a:gridCol w="3009900"/>
              </a:tblGrid>
              <a:tr h="68453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941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四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段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拆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WAV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度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14141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900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0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传统</a:t>
                      </a: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MoE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7365" algn="l" rtl="0" eaLnBrk="0">
                        <a:lnSpc>
                          <a:spcPct val="86000"/>
                        </a:lnSpc>
                        <a:tabLst>
                          <a:tab pos="570230" algn="l"/>
                        </a:tabLst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	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 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Dispatch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Combine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7365" algn="l" rtl="0" eaLnBrk="0">
                        <a:lnSpc>
                          <a:spcPts val="1495"/>
                        </a:lnSpc>
                        <a:spcBef>
                          <a:spcPts val="155"/>
                        </a:spcBef>
                        <a:tabLst>
                          <a:tab pos="569595" algn="l"/>
                        </a:tabLst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	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 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Linear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-1/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Linear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-2)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53721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9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6464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0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</a:t>
                      </a:r>
                      <a:r>
                        <a:rPr sz="1000" kern="0" spc="2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1000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wave</a:t>
                      </a:r>
                      <a:r>
                        <a:rPr sz="10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调度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39243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3238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3905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D6BFE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D6BFE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810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6509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通信被计算吃掉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6BFE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6BFE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pic>
        <p:nvPicPr>
          <p:cNvPr id="1138" name="picture 1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22008" y="4791075"/>
            <a:ext cx="133350" cy="133350"/>
          </a:xfrm>
          <a:prstGeom prst="rect">
            <a:avLst/>
          </a:prstGeom>
        </p:spPr>
      </p:pic>
      <p:pic>
        <p:nvPicPr>
          <p:cNvPr id="1140" name="picture 1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22008" y="4581525"/>
            <a:ext cx="133350" cy="133350"/>
          </a:xfrm>
          <a:prstGeom prst="rect">
            <a:avLst/>
          </a:prstGeom>
        </p:spPr>
      </p:pic>
      <p:graphicFrame>
        <p:nvGraphicFramePr>
          <p:cNvPr id="1142" name="table 1142"/>
          <p:cNvGraphicFramePr>
            <a:graphicFrameLocks noGrp="1"/>
          </p:cNvGraphicFramePr>
          <p:nvPr/>
        </p:nvGraphicFramePr>
        <p:xfrm>
          <a:off x="10325100" y="3429000"/>
          <a:ext cx="6819900" cy="3048000"/>
        </p:xfrm>
        <a:graphic>
          <a:graphicData uri="http://schemas.openxmlformats.org/drawingml/2006/table">
            <a:tbl>
              <a:tblPr/>
              <a:tblGrid>
                <a:gridCol w="6819900"/>
              </a:tblGrid>
              <a:tr h="1524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1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理论加速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3020" algn="l" rtl="0" eaLnBrk="0">
                        <a:lnSpc>
                          <a:spcPts val="3037"/>
                        </a:lnSpc>
                        <a:spcBef>
                          <a:spcPts val="1926"/>
                        </a:spcBef>
                        <a:tabLst/>
                      </a:pPr>
                      <a:r>
                        <a:rPr sz="4000" b="1" kern="0" spc="-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1.92×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" algn="l" rtl="0" eaLnBrk="0">
                        <a:lnSpc>
                          <a:spcPts val="134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前作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Comet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只做到 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1.42×</a:t>
                      </a:r>
                      <a:r>
                        <a:rPr sz="1100" kern="0" spc="-1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,  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wave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得更细。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2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通用推理实测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3020" algn="l" rtl="0" eaLnBrk="0">
                        <a:lnSpc>
                          <a:spcPts val="3013"/>
                        </a:lnSpc>
                        <a:spcBef>
                          <a:spcPts val="1922"/>
                        </a:spcBef>
                        <a:tabLst/>
                      </a:pPr>
                      <a:r>
                        <a:rPr sz="4000" b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1.50 –</a:t>
                      </a:r>
                      <a:r>
                        <a:rPr sz="4000" b="1" kern="0" spc="1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4000" b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1.7</a:t>
                      </a:r>
                      <a:r>
                        <a:rPr sz="4000" b="1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3×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" algn="l" rtl="0" eaLnBrk="0">
                        <a:lnSpc>
                          <a:spcPts val="1342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NVIDIA GPU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与华为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Ascend NPU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双平台验证。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44" name="textbox 1144"/>
          <p:cNvSpPr/>
          <p:nvPr/>
        </p:nvSpPr>
        <p:spPr>
          <a:xfrm>
            <a:off x="1130300" y="1479143"/>
            <a:ext cx="6842125" cy="1233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8006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 O D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通 信 计 算 重 叠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9050" algn="l" rtl="0" eaLnBrk="0">
              <a:lnSpc>
                <a:spcPts val="6841"/>
              </a:lnSpc>
              <a:spcBef>
                <a:spcPts val="1507"/>
              </a:spcBef>
              <a:tabLst/>
            </a:pPr>
            <a:r>
              <a:rPr sz="4900" b="1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让通信</a:t>
            </a:r>
            <a:r>
              <a:rPr sz="5100" b="1" i="1" kern="0" spc="-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躲进</a:t>
            </a:r>
            <a:r>
              <a:rPr sz="4900" b="1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计算的影子里</a:t>
            </a:r>
            <a:endParaRPr sz="4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146" name="picture 11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148" name="textbox 1148"/>
          <p:cNvSpPr/>
          <p:nvPr/>
        </p:nvSpPr>
        <p:spPr>
          <a:xfrm>
            <a:off x="10321139" y="6667068"/>
            <a:ext cx="2865120" cy="1031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1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RO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LO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UT</a:t>
            </a:r>
            <a:r>
              <a:rPr sz="9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峰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值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6830" algn="l" rtl="0" eaLnBrk="0">
              <a:lnSpc>
                <a:spcPct val="76000"/>
              </a:lnSpc>
              <a:spcBef>
                <a:spcPts val="1241"/>
              </a:spcBef>
              <a:tabLst/>
            </a:pPr>
            <a:r>
              <a:rPr sz="4000" b="1" kern="0" spc="-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1.96×</a:t>
            </a:r>
            <a:endParaRPr sz="40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1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代码开源为 </a:t>
            </a:r>
            <a:r>
              <a:rPr sz="11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MegaMoE</a:t>
            </a:r>
            <a:r>
              <a:rPr sz="11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100" kern="0" spc="-1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DeepGE</a:t>
            </a:r>
            <a:r>
              <a:rPr sz="11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MM </a:t>
            </a:r>
            <a:r>
              <a:rPr sz="1100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组件）。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150" name="textbox 1150"/>
          <p:cNvSpPr/>
          <p:nvPr/>
        </p:nvSpPr>
        <p:spPr>
          <a:xfrm>
            <a:off x="1136291" y="8910472"/>
            <a:ext cx="14280514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521"/>
              </a:lnSpc>
              <a:tabLst/>
            </a:pP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给硬件厂商的锚点</a:t>
            </a:r>
            <a:r>
              <a:rPr sz="1200" kern="0" spc="-1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只要互连带宽满足 </a:t>
            </a:r>
            <a:r>
              <a:rPr sz="1200" b="1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B</a:t>
            </a:r>
            <a:r>
              <a:rPr sz="1200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≤</a:t>
            </a:r>
            <a:r>
              <a:rPr sz="1200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2d</a:t>
            </a:r>
            <a:r>
              <a:rPr sz="1200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200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6144</a:t>
            </a:r>
            <a:r>
              <a:rPr sz="1200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kern="0" spc="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FLOPs</a:t>
            </a:r>
            <a:r>
              <a:rPr sz="1200" b="1" kern="0" spc="7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1" kern="0" spc="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Byte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200" kern="0" spc="-2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通信就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能被算力完全掩盖。</a:t>
            </a:r>
            <a:r>
              <a:rPr sz="12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超过这个阈值，</a:t>
            </a:r>
            <a:r>
              <a:rPr sz="1200" kern="0" spc="-2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继续堆带宽就是浪费硅面积一这是报告里一句写给</a:t>
            </a:r>
            <a:r>
              <a:rPr sz="12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NVIDIA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的「需求文档J</a:t>
            </a:r>
            <a:r>
              <a:rPr sz="1200" kern="0" spc="-2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152" name="rect 1152"/>
          <p:cNvSpPr/>
          <p:nvPr/>
        </p:nvSpPr>
        <p:spPr>
          <a:xfrm>
            <a:off x="2069008" y="4581525"/>
            <a:ext cx="1047750" cy="342900"/>
          </a:xfrm>
          <a:prstGeom prst="rect">
            <a:avLst/>
          </a:prstGeom>
          <a:solidFill>
            <a:srgbClr val="D9DD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54" name="rect 1154"/>
          <p:cNvSpPr/>
          <p:nvPr/>
        </p:nvSpPr>
        <p:spPr>
          <a:xfrm>
            <a:off x="4355008" y="4581525"/>
            <a:ext cx="1047750" cy="342900"/>
          </a:xfrm>
          <a:prstGeom prst="rect">
            <a:avLst/>
          </a:prstGeom>
          <a:solidFill>
            <a:srgbClr val="D9DD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56" name="textbox 1156"/>
          <p:cNvSpPr/>
          <p:nvPr/>
        </p:nvSpPr>
        <p:spPr>
          <a:xfrm>
            <a:off x="2056308" y="4707156"/>
            <a:ext cx="4231640" cy="519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>
                <a:tab pos="292735" algn="l"/>
              </a:tabLst>
            </a:pPr>
            <a:r>
              <a:rPr sz="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Dispatch</a:t>
            </a:r>
            <a:r>
              <a:rPr sz="900" kern="0" spc="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Linear</a:t>
            </a:r>
            <a:r>
              <a:rPr sz="900" kern="0" spc="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-1  </a:t>
            </a:r>
            <a:r>
              <a:rPr sz="9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Combine</a:t>
            </a:r>
            <a:r>
              <a:rPr sz="9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Linear</a:t>
            </a:r>
            <a:r>
              <a:rPr sz="9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-2</a:t>
            </a:r>
            <a:endParaRPr sz="9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2985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通信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计算串行</a:t>
            </a:r>
            <a:r>
              <a:rPr sz="900" kern="0" spc="-1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，总时长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T_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T_compute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158" name="picture 11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69008" y="6162675"/>
            <a:ext cx="2476500" cy="266700"/>
          </a:xfrm>
          <a:prstGeom prst="rect">
            <a:avLst/>
          </a:prstGeom>
        </p:spPr>
      </p:pic>
      <p:pic>
        <p:nvPicPr>
          <p:cNvPr id="1160" name="picture 11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640508" y="6486525"/>
            <a:ext cx="2476500" cy="266700"/>
          </a:xfrm>
          <a:prstGeom prst="rect">
            <a:avLst/>
          </a:prstGeom>
        </p:spPr>
      </p:pic>
      <p:pic>
        <p:nvPicPr>
          <p:cNvPr id="1162" name="picture 11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212008" y="6810375"/>
            <a:ext cx="2476500" cy="266700"/>
          </a:xfrm>
          <a:prstGeom prst="rect">
            <a:avLst/>
          </a:prstGeom>
        </p:spPr>
      </p:pic>
      <p:sp>
        <p:nvSpPr>
          <p:cNvPr id="1164" name="textbox 1164"/>
          <p:cNvSpPr/>
          <p:nvPr/>
        </p:nvSpPr>
        <p:spPr>
          <a:xfrm>
            <a:off x="14875184" y="517118"/>
            <a:ext cx="22612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0 5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RA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CO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OV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166" name="textbox 116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168" name="picture 11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170" name="picture 117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172" name="textbox 1172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8826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74" name="textbox 1174"/>
          <p:cNvSpPr/>
          <p:nvPr/>
        </p:nvSpPr>
        <p:spPr>
          <a:xfrm>
            <a:off x="1134510" y="9642069"/>
            <a:ext cx="1939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176" name="textbox 1176"/>
          <p:cNvSpPr/>
          <p:nvPr/>
        </p:nvSpPr>
        <p:spPr>
          <a:xfrm>
            <a:off x="2286245" y="6245044"/>
            <a:ext cx="2026920" cy="113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7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700" kern="0" spc="-10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7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</a:t>
            </a:r>
            <a:r>
              <a:rPr sz="7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L11                  </a:t>
            </a:r>
            <a:r>
              <a:rPr sz="7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700" kern="0" spc="-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             </a:t>
            </a:r>
            <a:r>
              <a:rPr sz="7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L21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178" name="textbox 1178"/>
          <p:cNvSpPr/>
          <p:nvPr/>
        </p:nvSpPr>
        <p:spPr>
          <a:xfrm>
            <a:off x="3429245" y="6892743"/>
            <a:ext cx="2026920" cy="118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kern="0" spc="-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D3         </a:t>
            </a:r>
            <a:r>
              <a:rPr sz="800" kern="0" spc="-2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L13                  </a:t>
            </a:r>
            <a:r>
              <a:rPr sz="800" kern="0" spc="-2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C3</a:t>
            </a:r>
            <a:r>
              <a:rPr sz="8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8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L23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180" name="textbox 1180"/>
          <p:cNvSpPr/>
          <p:nvPr/>
        </p:nvSpPr>
        <p:spPr>
          <a:xfrm>
            <a:off x="2857745" y="6568893"/>
            <a:ext cx="2016760" cy="113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7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D2</a:t>
            </a:r>
            <a:r>
              <a:rPr sz="7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7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L12                   </a:t>
            </a:r>
            <a:r>
              <a:rPr sz="7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C2                  </a:t>
            </a:r>
            <a:r>
              <a:rPr sz="700" kern="0" spc="-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L22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pic>
        <p:nvPicPr>
          <p:cNvPr id="1182" name="picture 11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1184" name="picture 118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143000" y="8696325"/>
            <a:ext cx="142875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textbox 1186"/>
          <p:cNvSpPr/>
          <p:nvPr/>
        </p:nvSpPr>
        <p:spPr>
          <a:xfrm>
            <a:off x="1130300" y="1479143"/>
            <a:ext cx="14225270" cy="1892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8006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 O D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T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endParaRPr sz="900" dirty="0">
              <a:latin typeface="Arial"/>
              <a:ea typeface="Arial"/>
              <a:cs typeface="Arial"/>
            </a:endParaRPr>
          </a:p>
          <a:p>
            <a:pPr marL="36830" algn="l" rtl="0" eaLnBrk="0">
              <a:lnSpc>
                <a:spcPts val="6572"/>
              </a:lnSpc>
              <a:spcBef>
                <a:spcPts val="1432"/>
              </a:spcBef>
              <a:tabLst/>
            </a:pPr>
            <a:r>
              <a:rPr sz="4900" b="1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开发效率</a:t>
            </a:r>
            <a:r>
              <a:rPr sz="4900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kern="0" spc="-1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× </a:t>
            </a:r>
            <a:r>
              <a:rPr sz="4900" b="1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执行效率</a:t>
            </a:r>
            <a:r>
              <a:rPr sz="4900" kern="0" spc="-8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900" kern="0" spc="-13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100" b="1" i="1" kern="0" spc="-1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它不做单选题</a:t>
            </a:r>
            <a:endParaRPr sz="5100" dirty="0">
              <a:latin typeface="PingFang SC"/>
              <a:ea typeface="PingFang SC"/>
              <a:cs typeface="PingFang SC"/>
            </a:endParaRPr>
          </a:p>
          <a:p>
            <a:pPr marL="16510" algn="l" rtl="0" eaLnBrk="0">
              <a:lnSpc>
                <a:spcPts val="1968"/>
              </a:lnSpc>
              <a:spcBef>
                <a:spcPts val="1139"/>
              </a:spcBef>
              <a:tabLst/>
            </a:pP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 的架构若用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ATen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会产生上百个细粒度算子</a:t>
            </a:r>
            <a:r>
              <a:rPr sz="1600" kern="0" spc="-2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TileLang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是一把折衷的手艺刀一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CUDA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够底层但开发慢，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Triton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够快但不够灵活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TileLang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把两头接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marL="24130" algn="l" rtl="0" eaLnBrk="0">
              <a:lnSpc>
                <a:spcPts val="2419"/>
              </a:lnSpc>
              <a:tabLst/>
            </a:pPr>
            <a:r>
              <a:rPr sz="16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188" name="picture 1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graphicFrame>
        <p:nvGraphicFramePr>
          <p:cNvPr id="1190" name="table 1190"/>
          <p:cNvGraphicFramePr>
            <a:graphicFrameLocks noGrp="1"/>
          </p:cNvGraphicFramePr>
          <p:nvPr/>
        </p:nvGraphicFramePr>
        <p:xfrm>
          <a:off x="1143000" y="4095750"/>
          <a:ext cx="5143500" cy="360045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5143500"/>
              </a:tblGrid>
              <a:tr h="3590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 O S T   C O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265" algn="l" rtl="0" eaLnBrk="0">
                        <a:lnSpc>
                          <a:spcPts val="2604"/>
                        </a:lnSpc>
                        <a:spcBef>
                          <a:spcPts val="1109"/>
                        </a:spcBef>
                        <a:tabLst/>
                      </a:pPr>
                      <a:r>
                        <a:rPr sz="2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CPU </a:t>
                      </a:r>
                      <a:r>
                        <a:rPr sz="2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校验</a:t>
                      </a:r>
                      <a:endParaRPr sz="2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46075" algn="l" rtl="0" eaLnBrk="0">
                        <a:lnSpc>
                          <a:spcPct val="85000"/>
                        </a:lnSpc>
                        <a:spcBef>
                          <a:spcPts val="256"/>
                        </a:spcBef>
                        <a:tabLst/>
                      </a:pPr>
                      <a:r>
                        <a:rPr sz="21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沉到生成代码里</a:t>
                      </a:r>
                      <a:endParaRPr sz="2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37820" indent="1905" algn="l" rtl="0" eaLnBrk="0">
                        <a:lnSpc>
                          <a:spcPct val="136000"/>
                        </a:lnSpc>
                        <a:spcBef>
                          <a:spcPts val="1306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Python host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端的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shape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检查、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layout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校验下沉到生成的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host      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代码，基于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TVM-FFI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实现零拷贝调用。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6710" algn="l" rtl="0" eaLnBrk="0">
                        <a:lnSpc>
                          <a:spcPct val="85000"/>
                        </a:lnSpc>
                        <a:spcBef>
                          <a:spcPts val="752"/>
                        </a:spcBef>
                        <a:tabLst/>
                      </a:pPr>
                      <a:r>
                        <a:rPr sz="2500" b="1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⼏⼗</a:t>
                      </a:r>
                      <a:r>
                        <a:rPr sz="2500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500" b="1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μs</a:t>
                      </a:r>
                      <a:r>
                        <a:rPr sz="2500" b="1" kern="0" spc="2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500" b="1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</a:t>
                      </a:r>
                      <a:r>
                        <a:rPr sz="25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500" b="1" kern="0" spc="-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&lt;1</a:t>
                      </a:r>
                      <a:r>
                        <a:rPr sz="2500" b="1" kern="0" spc="1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500" b="1" kern="0" spc="-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μs</a:t>
                      </a:r>
                      <a:endParaRPr sz="25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CPU</a:t>
                      </a:r>
                      <a:r>
                        <a:rPr sz="1000" kern="0" spc="1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侧校验开销数量级下降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2" name="table 1192"/>
          <p:cNvGraphicFramePr>
            <a:graphicFrameLocks noGrp="1"/>
          </p:cNvGraphicFramePr>
          <p:nvPr/>
        </p:nvGraphicFramePr>
        <p:xfrm>
          <a:off x="6572250" y="4095750"/>
          <a:ext cx="5143500" cy="3600450"/>
        </p:xfrm>
        <a:graphic>
          <a:graphicData uri="http://schemas.openxmlformats.org/drawingml/2006/table">
            <a:tbl>
              <a:tblPr/>
              <a:tblGrid>
                <a:gridCol w="5143500"/>
              </a:tblGrid>
              <a:tr h="3590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09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M T</a:t>
                      </a:r>
                      <a:r>
                        <a:rPr sz="900" kern="0" spc="1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O</a:t>
                      </a:r>
                      <a:r>
                        <a:rPr sz="900" kern="0" spc="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LV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4170" algn="l" rtl="0" eaLnBrk="0">
                        <a:lnSpc>
                          <a:spcPct val="85000"/>
                        </a:lnSpc>
                        <a:spcBef>
                          <a:spcPts val="1427"/>
                        </a:spcBef>
                        <a:tabLst/>
                      </a:pPr>
                      <a:r>
                        <a:rPr sz="21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形式化</a:t>
                      </a:r>
                      <a:endParaRPr sz="2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38455" algn="l" rtl="0" eaLnBrk="0">
                        <a:lnSpc>
                          <a:spcPct val="85000"/>
                        </a:lnSpc>
                        <a:spcBef>
                          <a:spcPts val="438"/>
                        </a:spcBef>
                        <a:tabLst/>
                      </a:pPr>
                      <a:r>
                        <a:rPr sz="21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整数分析</a:t>
                      </a:r>
                      <a:endParaRPr sz="2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725" algn="l" rtl="0" eaLnBrk="0">
                        <a:lnSpc>
                          <a:spcPct val="99000"/>
                        </a:lnSpc>
                        <a:spcBef>
                          <a:spcPts val="368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Z3 SMT solver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集成进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TileLang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代数系统，处理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layout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ct val="99000"/>
                        </a:lnSpc>
                        <a:spcBef>
                          <a:spcPts val="600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inference</a:t>
                      </a:r>
                      <a:r>
                        <a:rPr sz="12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memory</a:t>
                      </a:r>
                      <a:r>
                        <a:rPr sz="12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hazard</a:t>
                      </a:r>
                      <a:r>
                        <a:rPr sz="12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bound</a:t>
                      </a:r>
                      <a:r>
                        <a:rPr sz="12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  <a:r>
                        <a:rPr sz="12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这些编译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  <a:r>
                        <a:rPr sz="12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215" algn="l" rtl="0" eaLnBrk="0">
                        <a:lnSpc>
                          <a:spcPct val="66000"/>
                        </a:lnSpc>
                        <a:spcBef>
                          <a:spcPts val="755"/>
                        </a:spcBef>
                        <a:tabLst/>
                      </a:pPr>
                      <a:r>
                        <a:rPr sz="25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Vectorize</a:t>
                      </a:r>
                      <a:r>
                        <a:rPr sz="2500" b="1" kern="0" spc="2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500" b="1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</a:t>
                      </a:r>
                      <a:r>
                        <a:rPr sz="25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Barrier</a:t>
                      </a:r>
                      <a:r>
                        <a:rPr sz="2500" b="1" kern="0" spc="1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500" b="1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</a:t>
                      </a:r>
                      <a:endParaRPr sz="25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42900" algn="l" rtl="0" eaLnBrk="0">
                        <a:lnSpc>
                          <a:spcPts val="3362"/>
                        </a:lnSpc>
                        <a:tabLst/>
                      </a:pPr>
                      <a:r>
                        <a:rPr sz="25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Simplify</a:t>
                      </a:r>
                      <a:endParaRPr sz="25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0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编译时开销仅增加几秒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94" name="table 1194"/>
          <p:cNvGraphicFramePr>
            <a:graphicFrameLocks noGrp="1"/>
          </p:cNvGraphicFramePr>
          <p:nvPr/>
        </p:nvGraphicFramePr>
        <p:xfrm>
          <a:off x="12001500" y="4095750"/>
          <a:ext cx="5143500" cy="3600450"/>
        </p:xfrm>
        <a:graphic>
          <a:graphicData uri="http://schemas.openxmlformats.org/drawingml/2006/table">
            <a:tbl>
              <a:tblPr/>
              <a:tblGrid>
                <a:gridCol w="5143500"/>
              </a:tblGrid>
              <a:tr h="3590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 U M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9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ts val="2604"/>
                        </a:lnSpc>
                        <a:spcBef>
                          <a:spcPts val="1042"/>
                        </a:spcBef>
                        <a:tabLst/>
                      </a:pPr>
                      <a:r>
                        <a:rPr sz="21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数值精度</a:t>
                      </a:r>
                      <a:endParaRPr sz="2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3782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1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显式可控</a:t>
                      </a:r>
                      <a:endParaRPr sz="2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440055" indent="-99695" algn="l" rtl="0" eaLnBrk="0">
                        <a:lnSpc>
                          <a:spcPct val="134000"/>
                        </a:lnSpc>
                        <a:spcBef>
                          <a:spcPts val="1469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默认关闭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fast-math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。通过 </a:t>
                      </a:r>
                      <a:r>
                        <a:rPr sz="1200" u="dotted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1200" u="sng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exp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</a:t>
                      </a:r>
                      <a:r>
                        <a:rPr sz="1200" u="dotted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1200" u="sng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1200" kern="0" spc="-1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log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或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IEEE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严格模怯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5A5A5A"/>
                                <wpsdc:folHlinkClr xmlns:wpsdc="http://www.wps.cn/officeDocument/2017/drawingmlCustomData" val="5A5A5A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T.ieee_fsqrt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等）让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开发者精确控制每一处数值行为。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759"/>
                        </a:spcBef>
                        <a:tabLst/>
                      </a:pPr>
                      <a:r>
                        <a:rPr sz="25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Opt</a:t>
                      </a:r>
                      <a:r>
                        <a:rPr sz="2500" b="1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25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in</a:t>
                      </a:r>
                      <a:r>
                        <a:rPr sz="2500" b="1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5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only</a:t>
                      </a:r>
                      <a:endParaRPr sz="25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7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为确定性</a:t>
                      </a:r>
                      <a:r>
                        <a:rPr sz="1000" kern="0" spc="1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kernel</a:t>
                      </a:r>
                      <a:r>
                        <a:rPr sz="1000" kern="0" spc="1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铺路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96" name="textbox 1196"/>
          <p:cNvSpPr/>
          <p:nvPr/>
        </p:nvSpPr>
        <p:spPr>
          <a:xfrm>
            <a:off x="1130300" y="8816975"/>
            <a:ext cx="8946515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ct val="86000"/>
              </a:lnSpc>
              <a:spcBef>
                <a:spcPts val="3"/>
              </a:spcBef>
              <a:tabLst>
                <a:tab pos="301625" algn="l"/>
              </a:tabLst>
            </a:pPr>
            <a:r>
              <a:rPr sz="1600" i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	</a:t>
            </a:r>
            <a:r>
              <a:rPr sz="1600" i="1" kern="0" spc="-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Torch</a:t>
            </a:r>
            <a:r>
              <a:rPr sz="1600" i="1" kern="0" spc="-1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-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ATen  </a:t>
            </a:r>
            <a:r>
              <a:rPr sz="1700" i="1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写出上百个算子，</a:t>
            </a:r>
            <a:r>
              <a:rPr sz="1600" i="1" kern="0" spc="-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CUD</a:t>
            </a:r>
            <a:r>
              <a:rPr sz="1600" i="1" kern="0" spc="-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</a:t>
            </a:r>
            <a:r>
              <a:rPr sz="1600" i="1" kern="0" spc="2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700" i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手写工期爆炸</a:t>
            </a:r>
            <a:r>
              <a:rPr sz="1600" i="1" kern="0" spc="-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——TileLang</a:t>
            </a:r>
            <a:r>
              <a:rPr sz="1600" i="1" kern="0" spc="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1700" i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在中间找到那个可落地的点。</a:t>
            </a:r>
            <a:endParaRPr sz="17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198" name="picture 11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8829675"/>
            <a:ext cx="28575" cy="314325"/>
          </a:xfrm>
          <a:prstGeom prst="rect">
            <a:avLst/>
          </a:prstGeom>
        </p:spPr>
      </p:pic>
      <p:sp>
        <p:nvSpPr>
          <p:cNvPr id="1200" name="textbox 120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202" name="picture 1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204" name="picture 120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206" name="textbox 120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7112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208" name="textbox 1208"/>
          <p:cNvSpPr/>
          <p:nvPr/>
        </p:nvSpPr>
        <p:spPr>
          <a:xfrm>
            <a:off x="1134510" y="9642069"/>
            <a:ext cx="1939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210" name="textbox 1210"/>
          <p:cNvSpPr/>
          <p:nvPr/>
        </p:nvSpPr>
        <p:spPr>
          <a:xfrm>
            <a:off x="15366020" y="517118"/>
            <a:ext cx="177037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0 5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 N F RA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 I L E LA N G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212" name="picture 12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1214" name="picture 12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476375" y="6210300"/>
            <a:ext cx="4476750" cy="9525"/>
          </a:xfrm>
          <a:prstGeom prst="rect">
            <a:avLst/>
          </a:prstGeom>
        </p:spPr>
      </p:pic>
      <p:pic>
        <p:nvPicPr>
          <p:cNvPr id="1216" name="picture 12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905625" y="6210300"/>
            <a:ext cx="4476750" cy="9525"/>
          </a:xfrm>
          <a:prstGeom prst="rect">
            <a:avLst/>
          </a:prstGeom>
        </p:spPr>
      </p:pic>
      <p:pic>
        <p:nvPicPr>
          <p:cNvPr id="1218" name="picture 12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2334875" y="6210300"/>
            <a:ext cx="447675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textbox 1220"/>
          <p:cNvSpPr/>
          <p:nvPr/>
        </p:nvSpPr>
        <p:spPr>
          <a:xfrm>
            <a:off x="1130300" y="1479143"/>
            <a:ext cx="14283689" cy="1928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8006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0 3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批 次 无 关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确 定 性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41275" algn="l" rtl="0" eaLnBrk="0">
              <a:lnSpc>
                <a:spcPts val="6816"/>
              </a:lnSpc>
              <a:spcBef>
                <a:spcPts val="1507"/>
              </a:spcBef>
              <a:tabLst/>
            </a:pPr>
            <a:r>
              <a:rPr sz="49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训练与推理的</a:t>
            </a:r>
            <a:r>
              <a:rPr sz="5100" b="1" i="1" kern="0" spc="-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比特级一致</a:t>
            </a:r>
            <a:endParaRPr sz="5100" dirty="0">
              <a:latin typeface="PingFang SC"/>
              <a:ea typeface="PingFang SC"/>
              <a:cs typeface="PingFang SC"/>
            </a:endParaRPr>
          </a:p>
          <a:p>
            <a:pPr marL="24130" indent="8890" algn="l" rtl="0" eaLnBrk="0">
              <a:lnSpc>
                <a:spcPct val="132000"/>
              </a:lnSpc>
              <a:spcBef>
                <a:spcPts val="426"/>
              </a:spcBef>
              <a:tabLst/>
            </a:pPr>
            <a:r>
              <a:rPr sz="16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同一个</a:t>
            </a:r>
            <a:r>
              <a:rPr sz="1600" kern="0" spc="-1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6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无论在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batch</a:t>
            </a:r>
            <a:r>
              <a:rPr sz="16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里的什么位置，</a:t>
            </a:r>
            <a:r>
              <a:rPr sz="1600" kern="0" spc="-4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输出比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特级完全相同。</a:t>
            </a:r>
            <a:r>
              <a:rPr sz="16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Debug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loss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spike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可以直接对齐</a:t>
            </a:r>
            <a:r>
              <a:rPr sz="1600" kern="0" spc="-2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600" kern="0" spc="-4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线上您常能在训练环境精准复现一做后训练的团队，</a:t>
            </a:r>
            <a:r>
              <a:rPr sz="1600" kern="0" spc="-4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是省下无数夜晚的基础能力</a:t>
            </a:r>
            <a:r>
              <a:rPr sz="16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222" name="picture 1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224" name="textbox 1224"/>
          <p:cNvSpPr/>
          <p:nvPr/>
        </p:nvSpPr>
        <p:spPr>
          <a:xfrm>
            <a:off x="1121879" y="4358246"/>
            <a:ext cx="5009515" cy="1301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73000"/>
              </a:lnSpc>
              <a:tabLst/>
            </a:pP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U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TY</a:t>
            </a:r>
            <a:r>
              <a:rPr sz="10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0 1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2700" algn="l" rtl="0" eaLnBrk="0">
              <a:lnSpc>
                <a:spcPct val="78000"/>
              </a:lnSpc>
              <a:spcBef>
                <a:spcPts val="1444"/>
              </a:spcBef>
              <a:tabLst/>
            </a:pPr>
            <a:r>
              <a:rPr sz="2500" b="1" kern="0" spc="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Attention</a:t>
            </a:r>
            <a:endParaRPr sz="25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7940" indent="1270" algn="l" rtl="0" eaLnBrk="0">
              <a:lnSpc>
                <a:spcPct val="137000"/>
              </a:lnSpc>
              <a:tabLst/>
            </a:pP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Split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会造成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wave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quantization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2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同一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在不同位置上累加顺序会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变，输出漂移。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226" name="rect 1226"/>
          <p:cNvSpPr/>
          <p:nvPr/>
        </p:nvSpPr>
        <p:spPr>
          <a:xfrm>
            <a:off x="12801600" y="5219700"/>
            <a:ext cx="857250" cy="171450"/>
          </a:xfrm>
          <a:prstGeom prst="rect">
            <a:avLst/>
          </a:prstGeom>
          <a:solidFill>
            <a:srgbClr val="F0F2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8" name="textbox 1228"/>
          <p:cNvSpPr/>
          <p:nvPr/>
        </p:nvSpPr>
        <p:spPr>
          <a:xfrm>
            <a:off x="11993201" y="4358246"/>
            <a:ext cx="4875530" cy="1282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</a:t>
            </a:r>
            <a:r>
              <a:rPr sz="1000" b="1" kern="0" spc="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</a:t>
            </a:r>
            <a:r>
              <a:rPr sz="1000" b="1" kern="0" spc="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</a:t>
            </a:r>
            <a:r>
              <a:rPr sz="1000" b="1" kern="0" spc="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</a:t>
            </a:r>
            <a:r>
              <a:rPr sz="1000" b="1" kern="0" spc="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</a:t>
            </a:r>
            <a:r>
              <a:rPr sz="1000" b="1" kern="0" spc="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CU</a:t>
            </a:r>
            <a:r>
              <a:rPr sz="1000" b="1" kern="0" spc="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LTY</a:t>
            </a:r>
            <a:r>
              <a:rPr sz="1000" b="1" kern="0" spc="1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1000" b="1" kern="0" spc="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22860" algn="l" rtl="0" eaLnBrk="0">
              <a:lnSpc>
                <a:spcPts val="3162"/>
              </a:lnSpc>
              <a:spcBef>
                <a:spcPts val="950"/>
              </a:spcBef>
              <a:tabLst/>
            </a:pPr>
            <a:r>
              <a:rPr sz="25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反向传播</a:t>
            </a:r>
            <a:endParaRPr sz="25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3000"/>
              </a:lnSpc>
              <a:spcBef>
                <a:spcPts val="366"/>
              </a:spcBef>
              <a:tabLst/>
            </a:pPr>
            <a:r>
              <a:rPr sz="12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罪魁祸首是 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atomicAdd</a:t>
            </a:r>
            <a:r>
              <a:rPr sz="1000" kern="0" spc="280" dirty="0">
                <a:solidFill>
                  <a:srgbClr val="1A1A1A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一浮点加法非结合律，不同执行顺序出不</a:t>
            </a:r>
            <a:r>
              <a:rPr sz="12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同结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marL="14605" algn="l" rtl="0" eaLnBrk="0">
              <a:lnSpc>
                <a:spcPts val="1962"/>
              </a:lnSpc>
              <a:tabLst/>
            </a:pPr>
            <a:r>
              <a:rPr sz="12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果。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230" name="textbox 1230"/>
          <p:cNvSpPr/>
          <p:nvPr/>
        </p:nvSpPr>
        <p:spPr>
          <a:xfrm>
            <a:off x="1138110" y="8587994"/>
            <a:ext cx="10312400" cy="538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175" algn="l" rtl="0" eaLnBrk="0">
              <a:lnSpc>
                <a:spcPct val="114000"/>
              </a:lnSpc>
              <a:tabLst/>
            </a:pP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这三件事合起来的含金量：</a:t>
            </a:r>
            <a:r>
              <a:rPr sz="1500" kern="0" spc="-3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RL rollout </a:t>
            </a:r>
            <a:r>
              <a:rPr sz="15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的每一个</a:t>
            </a:r>
            <a:r>
              <a:rPr sz="1500" kern="0" spc="-1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5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，都能和训练环境比特级对齐</a:t>
            </a:r>
            <a:r>
              <a:rPr sz="1500" kern="0" spc="-2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。对任何做大模型后训练和 </a:t>
            </a: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RL </a:t>
            </a: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的团队来</a:t>
            </a: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说，这是降维打击级的基础能力。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232" name="rect 1232"/>
          <p:cNvSpPr/>
          <p:nvPr/>
        </p:nvSpPr>
        <p:spPr>
          <a:xfrm>
            <a:off x="6572250" y="5219700"/>
            <a:ext cx="609600" cy="171450"/>
          </a:xfrm>
          <a:prstGeom prst="rect">
            <a:avLst/>
          </a:prstGeom>
          <a:solidFill>
            <a:srgbClr val="F0F2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34" name="textbox 1234"/>
          <p:cNvSpPr/>
          <p:nvPr/>
        </p:nvSpPr>
        <p:spPr>
          <a:xfrm>
            <a:off x="6559550" y="4358246"/>
            <a:ext cx="3919220" cy="1044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10" algn="l" rtl="0" eaLnBrk="0">
              <a:lnSpc>
                <a:spcPct val="73000"/>
              </a:lnSpc>
              <a:tabLst/>
            </a:pP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U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TY</a:t>
            </a:r>
            <a:r>
              <a:rPr sz="1000" b="1" kern="0" spc="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10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0 2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7780" algn="l" rtl="0" eaLnBrk="0">
              <a:lnSpc>
                <a:spcPct val="78000"/>
              </a:lnSpc>
              <a:spcBef>
                <a:spcPts val="1442"/>
              </a:spcBef>
              <a:tabLst/>
            </a:pPr>
            <a:r>
              <a:rPr sz="25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Matmul</a:t>
            </a:r>
            <a:endParaRPr sz="25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1"/>
              </a:spcBef>
              <a:tabLst>
                <a:tab pos="85090" algn="l"/>
              </a:tabLst>
            </a:pP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sz="1000" kern="0" spc="-20" dirty="0">
                <a:solidFill>
                  <a:srgbClr val="1A1A1A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cuBLAS</a:t>
            </a:r>
            <a:r>
              <a:rPr sz="1000" kern="0" spc="270" dirty="0">
                <a:solidFill>
                  <a:srgbClr val="1A1A1A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做不到批次不变。放弃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sp</a:t>
            </a:r>
            <a:r>
              <a:rPr sz="12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lit</a:t>
            </a:r>
            <a:r>
              <a:rPr sz="12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2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 </a:t>
            </a:r>
            <a:r>
              <a:rPr sz="12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又会有性能损失。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236" name="textbox 1236"/>
          <p:cNvSpPr/>
          <p:nvPr/>
        </p:nvSpPr>
        <p:spPr>
          <a:xfrm>
            <a:off x="1143000" y="5857875"/>
            <a:ext cx="5143500" cy="72390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77800" indent="-1905" algn="l" rtl="0" eaLnBrk="0">
              <a:lnSpc>
                <a:spcPct val="134000"/>
              </a:lnSpc>
              <a:spcBef>
                <a:spcPts val="3"/>
              </a:spcBef>
              <a:tabLst/>
            </a:pPr>
            <a:r>
              <a:rPr sz="1000" kern="0" spc="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双 </a:t>
            </a:r>
            <a:r>
              <a:rPr sz="10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kernel</a:t>
            </a:r>
            <a:r>
              <a:rPr sz="10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策略</a:t>
            </a:r>
            <a:r>
              <a:rPr sz="1000" kern="0" spc="-1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第一个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kernel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单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SM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处理完整序列保吞吐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，第二个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kernel</a:t>
            </a:r>
            <a:r>
              <a:rPr sz="1000" kern="0" spc="10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SM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处理最后那个半满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wave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降延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迟，两者严格对齐累加顺序。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238" name="textbox 1238"/>
          <p:cNvSpPr/>
          <p:nvPr/>
        </p:nvSpPr>
        <p:spPr>
          <a:xfrm>
            <a:off x="12001500" y="5857875"/>
            <a:ext cx="5143500" cy="72390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5895" indent="635" algn="l" rtl="0" eaLnBrk="0">
              <a:lnSpc>
                <a:spcPct val="134000"/>
              </a:lnSpc>
              <a:spcBef>
                <a:spcPts val="6"/>
              </a:spcBef>
              <a:tabLst/>
            </a:pPr>
            <a:r>
              <a:rPr sz="1000" kern="0" spc="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独立 </a:t>
            </a:r>
            <a:r>
              <a:rPr sz="10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buffer</a:t>
            </a:r>
            <a:r>
              <a:rPr sz="10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+ </a:t>
            </a:r>
            <a:r>
              <a:rPr sz="1000" kern="0" spc="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全局有序 </a:t>
            </a:r>
            <a:r>
              <a:rPr sz="10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reduce</a:t>
            </a:r>
            <a:r>
              <a:rPr sz="1000" kern="0" spc="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 </a:t>
            </a:r>
            <a:r>
              <a:rPr sz="10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每个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SM</a:t>
            </a:r>
            <a:r>
              <a:rPr sz="1000" kern="0" spc="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分独立累加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buffer</a:t>
            </a:r>
            <a:r>
              <a:rPr sz="1000" kern="0" spc="-1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，最后做全局确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定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性求和；</a:t>
            </a:r>
            <a:r>
              <a:rPr sz="1000" kern="0" spc="-2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MoE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用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order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预处</a:t>
            </a:r>
            <a:r>
              <a:rPr sz="10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理。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240" name="textbox 1240"/>
          <p:cNvSpPr/>
          <p:nvPr/>
        </p:nvSpPr>
        <p:spPr>
          <a:xfrm>
            <a:off x="6572250" y="5600700"/>
            <a:ext cx="5143500" cy="714375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800" indent="-3175" algn="l" rtl="0" eaLnBrk="0">
              <a:lnSpc>
                <a:spcPct val="129000"/>
              </a:lnSpc>
              <a:spcBef>
                <a:spcPts val="1"/>
              </a:spcBef>
              <a:tabLst/>
            </a:pPr>
            <a:r>
              <a:rPr sz="1000" kern="0" spc="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换引擎</a:t>
            </a:r>
            <a:r>
              <a:rPr sz="1000" kern="0" spc="-1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 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弃用</a:t>
            </a:r>
            <a:r>
              <a:rPr sz="1000" kern="0" spc="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cuBLAS</a:t>
            </a:r>
            <a:r>
              <a:rPr sz="1000" kern="0" spc="-1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，全部切到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DeepGEMM</a:t>
            </a:r>
            <a:r>
              <a:rPr sz="1000" kern="0" spc="-1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。通过一组针对性优化把放弃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split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-k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的性能损失补回来。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242" name="textbox 1242"/>
          <p:cNvSpPr/>
          <p:nvPr/>
        </p:nvSpPr>
        <p:spPr>
          <a:xfrm>
            <a:off x="14963583" y="8389455"/>
            <a:ext cx="2199005" cy="655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3900" b="1" kern="0" spc="-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bit-exact</a:t>
            </a:r>
            <a:endParaRPr sz="39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tabLst/>
            </a:pPr>
            <a:r>
              <a:rPr sz="900" kern="0" spc="1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9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40" dirty="0">
                <a:solidFill>
                  <a:srgbClr val="5A5A5A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↔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900" kern="0" spc="1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INFERE</a:t>
            </a:r>
            <a:r>
              <a:rPr sz="900" kern="0" spc="1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NCE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244" name="textbox 124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246" name="textbox 1246"/>
          <p:cNvSpPr/>
          <p:nvPr/>
        </p:nvSpPr>
        <p:spPr>
          <a:xfrm>
            <a:off x="15044849" y="517118"/>
            <a:ext cx="20916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0 5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 N F RA   ·   D ET E R M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I N I S M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248" name="picture 12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250" name="picture 12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252" name="textbox 1252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794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254" name="textbox 1254"/>
          <p:cNvSpPr/>
          <p:nvPr/>
        </p:nvSpPr>
        <p:spPr>
          <a:xfrm>
            <a:off x="1134510" y="9642069"/>
            <a:ext cx="1939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256" name="picture 12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1258" name="picture 12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143875"/>
            <a:ext cx="16002000" cy="9525"/>
          </a:xfrm>
          <a:prstGeom prst="rect">
            <a:avLst/>
          </a:prstGeom>
        </p:spPr>
      </p:pic>
      <p:pic>
        <p:nvPicPr>
          <p:cNvPr id="1260" name="picture 12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4095750"/>
            <a:ext cx="5143500" cy="19050"/>
          </a:xfrm>
          <a:prstGeom prst="rect">
            <a:avLst/>
          </a:prstGeom>
        </p:spPr>
      </p:pic>
      <p:pic>
        <p:nvPicPr>
          <p:cNvPr id="1262" name="picture 12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572250" y="4095750"/>
            <a:ext cx="5143500" cy="19050"/>
          </a:xfrm>
          <a:prstGeom prst="rect">
            <a:avLst/>
          </a:prstGeom>
        </p:spPr>
      </p:pic>
      <p:pic>
        <p:nvPicPr>
          <p:cNvPr id="1264" name="picture 12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2001500" y="4095750"/>
            <a:ext cx="514350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textbox 1266"/>
          <p:cNvSpPr/>
          <p:nvPr/>
        </p:nvSpPr>
        <p:spPr>
          <a:xfrm>
            <a:off x="1130300" y="1479143"/>
            <a:ext cx="13837920" cy="1926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8006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 4   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4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量 化 感 知 训 练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0480" algn="l" rtl="0" eaLnBrk="0">
              <a:lnSpc>
                <a:spcPts val="6479"/>
              </a:lnSpc>
              <a:spcBef>
                <a:spcPts val="1507"/>
              </a:spcBef>
              <a:tabLst/>
            </a:pPr>
            <a:r>
              <a:rPr sz="49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把最重的两个位置</a:t>
            </a:r>
            <a:r>
              <a:rPr sz="5100" b="1" i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压到</a:t>
            </a:r>
            <a:r>
              <a:rPr sz="5100" kern="0" spc="-9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FP4</a:t>
            </a:r>
            <a:endParaRPr sz="49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6035" algn="l" rtl="0" eaLnBrk="0">
              <a:lnSpc>
                <a:spcPct val="126000"/>
              </a:lnSpc>
              <a:spcBef>
                <a:spcPts val="1"/>
              </a:spcBef>
              <a:tabLst/>
            </a:pP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post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training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阶段做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QAT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6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MoE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权重和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CSA indexer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路径全上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MXFP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4。</a:t>
            </a:r>
            <a:r>
              <a:rPr sz="1600" kern="0" spc="-4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关键是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FP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1600" kern="0" spc="-3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→</a:t>
            </a:r>
            <a:r>
              <a:rPr sz="1600" kern="0" spc="-4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FP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8</a:t>
            </a:r>
            <a:r>
              <a:rPr sz="16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反量化无损一不用重写训练框架就能复用</a:t>
            </a:r>
            <a:r>
              <a:rPr sz="1600" kern="0" spc="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FP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8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pipeline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268" name="picture 1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graphicFrame>
        <p:nvGraphicFramePr>
          <p:cNvPr id="1270" name="table 1270"/>
          <p:cNvGraphicFramePr>
            <a:graphicFrameLocks noGrp="1"/>
          </p:cNvGraphicFramePr>
          <p:nvPr/>
        </p:nvGraphicFramePr>
        <p:xfrm>
          <a:off x="10715625" y="3810000"/>
          <a:ext cx="6429375" cy="2819400"/>
        </p:xfrm>
        <a:graphic>
          <a:graphicData uri="http://schemas.openxmlformats.org/drawingml/2006/table">
            <a:tbl>
              <a:tblPr/>
              <a:tblGrid>
                <a:gridCol w="6429375"/>
              </a:tblGrid>
              <a:tr h="140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ts val="1163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-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ECTO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69" algn="l" rtl="0" eaLnBrk="0">
                        <a:lnSpc>
                          <a:spcPts val="2624"/>
                        </a:lnSpc>
                        <a:spcBef>
                          <a:spcPts val="1670"/>
                        </a:spcBef>
                        <a:tabLst/>
                      </a:pPr>
                      <a:r>
                        <a:rPr sz="3900" b="1" kern="0" spc="-1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2×</a:t>
                      </a:r>
                      <a:endParaRPr sz="39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ts val="134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  <a:r>
                        <a:rPr sz="11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 → </a:t>
                      </a:r>
                      <a:r>
                        <a:rPr sz="11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BF</a:t>
                      </a:r>
                      <a:r>
                        <a:rPr sz="11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 之后的提速。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1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ts val="1163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</a:t>
                      </a:r>
                      <a:r>
                        <a:rPr sz="9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NT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  <a:r>
                        <a:rPr sz="9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ECA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" algn="l" rtl="0" eaLnBrk="0">
                        <a:lnSpc>
                          <a:spcPts val="2933"/>
                        </a:lnSpc>
                        <a:spcBef>
                          <a:spcPts val="1670"/>
                        </a:spcBef>
                        <a:tabLst/>
                      </a:pPr>
                      <a:r>
                        <a:rPr sz="3900" b="1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99.7</a:t>
                      </a:r>
                      <a:r>
                        <a:rPr sz="2400" b="1" kern="0" spc="-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%</a:t>
                      </a:r>
                      <a:endParaRPr sz="24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几乎无损一推理质量守住。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72" name="table 1272"/>
          <p:cNvGraphicFramePr>
            <a:graphicFrameLocks noGrp="1"/>
          </p:cNvGraphicFramePr>
          <p:nvPr/>
        </p:nvGraphicFramePr>
        <p:xfrm>
          <a:off x="1143000" y="5429250"/>
          <a:ext cx="9001125" cy="1724025"/>
        </p:xfrm>
        <a:graphic>
          <a:graphicData uri="http://schemas.openxmlformats.org/drawingml/2006/table">
            <a:tbl>
              <a:tblPr/>
              <a:tblGrid>
                <a:gridCol w="1697354"/>
                <a:gridCol w="321944"/>
                <a:gridCol w="1487805"/>
                <a:gridCol w="321944"/>
                <a:gridCol w="5172075"/>
              </a:tblGrid>
              <a:tr h="473075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0035" algn="l" rtl="0" eaLnBrk="0">
                        <a:lnSpc>
                          <a:spcPct val="8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 量</a:t>
                      </a:r>
                      <a:r>
                        <a:rPr sz="900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化</a:t>
                      </a:r>
                      <a:r>
                        <a:rPr sz="900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链</a:t>
                      </a:r>
                      <a:r>
                        <a:rPr sz="900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</a:t>
                      </a:r>
                      <a:r>
                        <a:rPr sz="9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</a:t>
                      </a:r>
                      <a:r>
                        <a:rPr sz="900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什</a:t>
                      </a:r>
                      <a:r>
                        <a:rPr sz="900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么</a:t>
                      </a:r>
                      <a:r>
                        <a:rPr sz="900" kern="0" spc="-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损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algn="l" rtl="0" eaLnBrk="0">
                        <a:lnSpc>
                          <a:spcPts val="103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5" algn="l" rtl="0" eaLnBrk="0">
                        <a:lnSpc>
                          <a:spcPts val="103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20725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5" algn="l" rtl="0" eaLnBrk="0">
                        <a:lnSpc>
                          <a:spcPct val="13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r>
                        <a:rPr sz="10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</a:t>
                      </a:r>
                      <a:r>
                        <a:rPr sz="10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10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个指数位，动态范围足够大</a:t>
                      </a:r>
                      <a:r>
                        <a:rPr sz="1000" kern="0" spc="-1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，能完整吸收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sub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block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</a:t>
                      </a:r>
                      <a:r>
                        <a:rPr sz="1000" kern="0" spc="-1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1000" kern="0" spc="-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×32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tiles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）</a:t>
                      </a:r>
                      <a:r>
                        <a:rPr sz="1000" kern="0" spc="-2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scale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factor</a:t>
                      </a:r>
                      <a:r>
                        <a:rPr sz="1000" kern="0" spc="-1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。反向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传播用</a:t>
                      </a:r>
                      <a:r>
                        <a:rPr sz="1000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STE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直接把梯度传回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 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  <a:r>
                        <a:rPr sz="10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master</a:t>
                      </a:r>
                      <a:r>
                        <a:rPr sz="10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weights</a:t>
                      </a:r>
                      <a:r>
                        <a:rPr sz="1000" kern="0" spc="-1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r>
                        <a:rPr sz="1000" kern="0" spc="-2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RL</a:t>
                      </a:r>
                      <a:r>
                        <a:rPr sz="10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rollout</a:t>
                      </a:r>
                      <a:r>
                        <a:rPr sz="10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直接用真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  <a:r>
                        <a:rPr sz="10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10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量化权重，采样与线上部</a:t>
                      </a:r>
                      <a:r>
                        <a:rPr sz="10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署行为完全一致。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74" name="table 1274"/>
          <p:cNvGraphicFramePr>
            <a:graphicFrameLocks noGrp="1"/>
          </p:cNvGraphicFramePr>
          <p:nvPr/>
        </p:nvGraphicFramePr>
        <p:xfrm>
          <a:off x="1143000" y="4171950"/>
          <a:ext cx="4410075" cy="93345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4410075"/>
              </a:tblGrid>
              <a:tr h="923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MoE Expert Weights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80" algn="l" rtl="0" eaLnBrk="0">
                        <a:lnSpc>
                          <a:spcPts val="125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GPU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显存大头。专家权重量化后显著降低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memory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traffic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6" name="table 1276"/>
          <p:cNvGraphicFramePr>
            <a:graphicFrameLocks noGrp="1"/>
          </p:cNvGraphicFramePr>
          <p:nvPr/>
        </p:nvGraphicFramePr>
        <p:xfrm>
          <a:off x="5743575" y="4171950"/>
          <a:ext cx="4400550" cy="93345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4400550"/>
              </a:tblGrid>
              <a:tr h="923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066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CSA Indexer QK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0" algn="l" rtl="0" eaLnBrk="0">
                        <a:lnSpc>
                          <a:spcPts val="125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长文本注意力打分热点。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top</a:t>
                      </a: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selector</a:t>
                      </a: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是推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理瓶颈。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278" name="textbox 1278"/>
          <p:cNvSpPr/>
          <p:nvPr/>
        </p:nvSpPr>
        <p:spPr>
          <a:xfrm>
            <a:off x="10704640" y="6819468"/>
            <a:ext cx="1534160" cy="1200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6000"/>
              </a:lnSpc>
              <a:tabLst/>
            </a:pPr>
            <a:r>
              <a:rPr sz="900" kern="0" spc="2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训练框架改动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2700" indent="9525" algn="l" rtl="0" eaLnBrk="0">
              <a:lnSpc>
                <a:spcPct val="86000"/>
              </a:lnSpc>
              <a:spcBef>
                <a:spcPts val="830"/>
              </a:spcBef>
              <a:tabLst/>
            </a:pPr>
            <a:r>
              <a:rPr sz="2700" b="1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复用</a:t>
            </a:r>
            <a:r>
              <a:rPr sz="2700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b="1" kern="0" spc="-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FP8</a:t>
            </a:r>
            <a:r>
              <a:rPr sz="2700" b="1" kern="0" spc="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700" b="1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pipeline</a:t>
            </a:r>
            <a:endParaRPr sz="27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42"/>
              </a:lnSpc>
              <a:spcBef>
                <a:spcPts val="2"/>
              </a:spcBef>
              <a:tabLst/>
            </a:pPr>
            <a:r>
              <a:rPr sz="11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不需要重写 </a:t>
            </a:r>
            <a:r>
              <a:rPr sz="11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backward</a:t>
            </a:r>
            <a:r>
              <a:rPr sz="11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graphicFrame>
        <p:nvGraphicFramePr>
          <p:cNvPr id="1280" name="table 1280"/>
          <p:cNvGraphicFramePr>
            <a:graphicFrameLocks noGrp="1"/>
          </p:cNvGraphicFramePr>
          <p:nvPr/>
        </p:nvGraphicFramePr>
        <p:xfrm>
          <a:off x="5038725" y="5981700"/>
          <a:ext cx="1457325" cy="37147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1457325"/>
              </a:tblGrid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8910" algn="l" rtl="0" eaLnBrk="0">
                        <a:lnSpc>
                          <a:spcPts val="101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FP</a:t>
                      </a:r>
                      <a:r>
                        <a:rPr sz="1300" b="1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32</a:t>
                      </a:r>
                      <a:r>
                        <a:rPr sz="13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300" b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master</a:t>
                      </a:r>
                      <a:endParaRPr sz="13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9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2" name="table 1282"/>
          <p:cNvGraphicFramePr>
            <a:graphicFrameLocks noGrp="1"/>
          </p:cNvGraphicFramePr>
          <p:nvPr/>
        </p:nvGraphicFramePr>
        <p:xfrm>
          <a:off x="1419225" y="5981700"/>
          <a:ext cx="1352550" cy="371475"/>
        </p:xfrm>
        <a:graphic>
          <a:graphicData uri="http://schemas.openxmlformats.org/drawingml/2006/table">
            <a:tbl>
              <a:tblPr>
                <a:solidFill>
                  <a:srgbClr val="4D6BFE"/>
                </a:solidFill>
              </a:tblPr>
              <a:tblGrid>
                <a:gridCol w="1352550"/>
              </a:tblGrid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5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8275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13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FP4</a:t>
                      </a:r>
                      <a:r>
                        <a:rPr sz="1300" kern="0" spc="3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3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(E2M1)</a:t>
                      </a:r>
                      <a:endParaRPr sz="13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4" name="table 1284"/>
          <p:cNvGraphicFramePr>
            <a:graphicFrameLocks noGrp="1"/>
          </p:cNvGraphicFramePr>
          <p:nvPr/>
        </p:nvGraphicFramePr>
        <p:xfrm>
          <a:off x="3228975" y="5981700"/>
          <a:ext cx="1352550" cy="371475"/>
        </p:xfrm>
        <a:graphic>
          <a:graphicData uri="http://schemas.openxmlformats.org/drawingml/2006/table">
            <a:tbl>
              <a:tblPr/>
              <a:tblGrid>
                <a:gridCol w="1352550"/>
              </a:tblGrid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5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8275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13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FP8</a:t>
                      </a:r>
                      <a:r>
                        <a:rPr sz="1300" kern="0" spc="3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3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(E4M3)</a:t>
                      </a:r>
                      <a:endParaRPr sz="13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86" name="textbox 128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288" name="picture 12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290" name="picture 12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292" name="textbox 1292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604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294" name="textbox 1294"/>
          <p:cNvSpPr/>
          <p:nvPr/>
        </p:nvSpPr>
        <p:spPr>
          <a:xfrm>
            <a:off x="1134510" y="9642069"/>
            <a:ext cx="1939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296" name="textbox 1296"/>
          <p:cNvSpPr/>
          <p:nvPr/>
        </p:nvSpPr>
        <p:spPr>
          <a:xfrm>
            <a:off x="15478088" y="517118"/>
            <a:ext cx="165798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0 5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RA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QAT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298" name="picture 12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300" name="textbox 1300"/>
          <p:cNvSpPr/>
          <p:nvPr/>
        </p:nvSpPr>
        <p:spPr>
          <a:xfrm>
            <a:off x="1136862" y="3827627"/>
            <a:ext cx="898525" cy="144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</a:t>
            </a:r>
            <a:r>
              <a:rPr sz="900" kern="0" spc="-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压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缩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目</a:t>
            </a:r>
            <a:r>
              <a:rPr sz="9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标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2" name="table 1302"/>
          <p:cNvGraphicFramePr>
            <a:graphicFrameLocks noGrp="1"/>
          </p:cNvGraphicFramePr>
          <p:nvPr/>
        </p:nvGraphicFramePr>
        <p:xfrm>
          <a:off x="1143000" y="3905250"/>
          <a:ext cx="16001998" cy="317182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4652010"/>
                <a:gridCol w="718185"/>
                <a:gridCol w="3993514"/>
                <a:gridCol w="721360"/>
                <a:gridCol w="5916930"/>
              </a:tblGrid>
              <a:tr h="3171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0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8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落盘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304" name="textbox 1304"/>
          <p:cNvSpPr/>
          <p:nvPr/>
        </p:nvSpPr>
        <p:spPr>
          <a:xfrm>
            <a:off x="1130300" y="1479143"/>
            <a:ext cx="14218286" cy="1866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8006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推 理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框 架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您 构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+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落 盘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6195" algn="l" rtl="0" eaLnBrk="0">
              <a:lnSpc>
                <a:spcPts val="6841"/>
              </a:lnSpc>
              <a:spcBef>
                <a:spcPts val="1507"/>
              </a:spcBef>
              <a:tabLst/>
            </a:pPr>
            <a:r>
              <a:rPr sz="4900" b="1" kern="0" spc="-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大胆一招：</a:t>
            </a:r>
            <a:r>
              <a:rPr sz="4900" kern="0" spc="-10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100" b="1" i="1" kern="0" spc="-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</a:t>
            </a:r>
            <a:r>
              <a:rPr sz="5100" kern="0" spc="-10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KV</a:t>
            </a:r>
            <a:r>
              <a:rPr sz="4900" b="1" i="1" kern="0" spc="-4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900" b="1" i="1" kern="0" spc="-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Cache</a:t>
            </a:r>
            <a:r>
              <a:rPr sz="4900" b="1" i="1" kern="0" spc="4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5100" b="1" i="1" kern="0" spc="-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落到磁盘</a:t>
            </a:r>
            <a:endParaRPr sz="5100" dirty="0">
              <a:latin typeface="PingFang SC"/>
              <a:ea typeface="PingFang SC"/>
              <a:cs typeface="PingFang SC"/>
            </a:endParaRPr>
          </a:p>
          <a:p>
            <a:pPr marL="22225" indent="-635" algn="l" rtl="0" eaLnBrk="0">
              <a:lnSpc>
                <a:spcPct val="131000"/>
              </a:lnSpc>
              <a:spcBef>
                <a:spcPts val="271"/>
              </a:spcBef>
              <a:tabLst/>
            </a:pP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混合注意力带来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cache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的您构性一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CSA</a:t>
            </a:r>
            <a:r>
              <a:rPr sz="1500" kern="0" spc="-2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500" kern="0" spc="-3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HCA</a:t>
            </a:r>
            <a:r>
              <a:rPr sz="1500" kern="0" spc="-2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SWA</a:t>
            </a:r>
            <a:r>
              <a:rPr sz="1500" kern="0" spc="-2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500" kern="0" spc="-3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indexer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各有不同大小</a:t>
            </a:r>
            <a:r>
              <a:rPr sz="15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500" kern="0" spc="-3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更新规则</a:t>
            </a:r>
            <a:r>
              <a:rPr sz="15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命中淘汰策</a:t>
            </a:r>
            <a:r>
              <a:rPr sz="15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略，</a:t>
            </a:r>
            <a:r>
              <a:rPr sz="1500" kern="0" spc="-3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PagedAttention</a:t>
            </a:r>
            <a:r>
              <a:rPr sz="15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的假设整个失效。</a:t>
            </a:r>
            <a:r>
              <a:rPr sz="15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5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15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拆成两级池，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再把共享前缀落盘。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306" name="picture 1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308" name="textbox 1308"/>
          <p:cNvSpPr/>
          <p:nvPr/>
        </p:nvSpPr>
        <p:spPr>
          <a:xfrm>
            <a:off x="11318422" y="4570866"/>
            <a:ext cx="5073650" cy="1812290"/>
          </a:xfrm>
          <a:prstGeom prst="rect">
            <a:avLst/>
          </a:prstGeom>
          <a:solidFill>
            <a:srgbClr val="4D6B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8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9230" algn="l" rtl="0" eaLnBrk="0">
              <a:lnSpc>
                <a:spcPct val="75000"/>
              </a:lnSpc>
              <a:tabLst/>
            </a:pPr>
            <a:r>
              <a:rPr sz="900" kern="0" spc="150" dirty="0">
                <a:solidFill>
                  <a:srgbClr val="FFFFFF">
                    <a:alpha val="85098"/>
                  </a:srgbClr>
                </a:solidFill>
                <a:latin typeface="Arial"/>
                <a:ea typeface="Arial"/>
                <a:cs typeface="Arial"/>
              </a:rPr>
              <a:t>DISK  KV</a:t>
            </a:r>
            <a:r>
              <a:rPr sz="900" kern="0" spc="70" dirty="0">
                <a:solidFill>
                  <a:srgbClr val="FFFFFF">
                    <a:alpha val="85098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50" dirty="0">
                <a:solidFill>
                  <a:srgbClr val="FFFFFF">
                    <a:alpha val="85098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40" dirty="0">
                <a:solidFill>
                  <a:srgbClr val="FFFFFF">
                    <a:alpha val="85098"/>
                  </a:srgbClr>
                </a:solidFill>
                <a:latin typeface="Arial"/>
                <a:ea typeface="Arial"/>
                <a:cs typeface="Arial"/>
              </a:rPr>
              <a:t>ACHE</a:t>
            </a:r>
            <a:endParaRPr sz="900" dirty="0">
              <a:latin typeface="Arial"/>
              <a:ea typeface="Arial"/>
              <a:cs typeface="Arial"/>
            </a:endParaRPr>
          </a:p>
          <a:p>
            <a:pPr marL="188595" algn="l" rtl="0" eaLnBrk="0">
              <a:lnSpc>
                <a:spcPts val="2382"/>
              </a:lnSpc>
              <a:spcBef>
                <a:spcPts val="723"/>
              </a:spcBef>
              <a:tabLst/>
            </a:pP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</a:t>
            </a:r>
            <a:r>
              <a:rPr sz="19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Prefix</a:t>
            </a:r>
            <a:r>
              <a:rPr sz="19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1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落盘复用</a:t>
            </a:r>
            <a:endParaRPr sz="1900" dirty="0">
              <a:latin typeface="PingFang SC"/>
              <a:ea typeface="PingFang SC"/>
              <a:cs typeface="PingFang SC"/>
            </a:endParaRPr>
          </a:p>
          <a:p>
            <a:pPr marL="192405" algn="l" rtl="0" eaLnBrk="0">
              <a:lnSpc>
                <a:spcPct val="86000"/>
              </a:lnSpc>
              <a:spcBef>
                <a:spcPts val="1347"/>
              </a:spcBef>
              <a:tabLst/>
            </a:pPr>
            <a:r>
              <a:rPr sz="1000" kern="0" spc="5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14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PingFang SC"/>
              </a:rPr>
              <a:t>系统提示</a:t>
            </a:r>
            <a:r>
              <a:rPr sz="1000" kern="0" spc="200" dirty="0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5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000" kern="0" spc="14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PingFang SC"/>
              </a:rPr>
              <a:t>长上下文模板</a:t>
            </a:r>
            <a:r>
              <a:rPr sz="1000" kern="0" spc="210" dirty="0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5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000" kern="0" spc="18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PingFang SC"/>
              </a:rPr>
              <a:t>多轮历</a:t>
            </a:r>
            <a:r>
              <a:rPr sz="1000" kern="0" spc="40" dirty="0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PingFang SC"/>
              </a:rPr>
              <a:t>史</a:t>
            </a:r>
            <a:endParaRPr sz="1000" dirty="0">
              <a:latin typeface="PingFang SC"/>
              <a:ea typeface="PingFang SC"/>
              <a:cs typeface="PingFang SC"/>
            </a:endParaRPr>
          </a:p>
          <a:p>
            <a:pPr marL="192405" algn="l" rtl="0" eaLnBrk="0">
              <a:lnSpc>
                <a:spcPct val="92000"/>
              </a:lnSpc>
              <a:spcBef>
                <a:spcPts val="814"/>
              </a:spcBef>
              <a:tabLst/>
            </a:pPr>
            <a:r>
              <a:rPr sz="1000" kern="0" spc="9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10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90" dirty="0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PingFang SC"/>
              </a:rPr>
              <a:t>压缩后的 </a:t>
            </a:r>
            <a:r>
              <a:rPr sz="1000" kern="0" spc="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CSA</a:t>
            </a:r>
            <a:r>
              <a:rPr sz="1000" kern="0" spc="9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000" kern="0" spc="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HCA</a:t>
            </a:r>
            <a:r>
              <a:rPr sz="1000" kern="0" spc="13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9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1000" kern="0" spc="11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SWA</a:t>
            </a:r>
            <a:r>
              <a:rPr sz="1000" kern="0" spc="130" dirty="0">
                <a:solidFill>
                  <a:srgbClr val="FFFFFF">
                    <a:alpha val="87843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90" dirty="0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PingFang SC"/>
              </a:rPr>
              <a:t>未压缩分开落</a:t>
            </a:r>
            <a:r>
              <a:rPr sz="1000" kern="0" spc="80" dirty="0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PingFang SC"/>
              </a:rPr>
              <a:t>盘</a:t>
            </a:r>
            <a:endParaRPr sz="1000" dirty="0">
              <a:latin typeface="PingFang SC"/>
              <a:ea typeface="PingFang SC"/>
              <a:cs typeface="PingFang SC"/>
            </a:endParaRPr>
          </a:p>
          <a:p>
            <a:pPr marL="195580" algn="l" rtl="0" eaLnBrk="0">
              <a:lnSpc>
                <a:spcPts val="2363"/>
              </a:lnSpc>
              <a:tabLst/>
            </a:pPr>
            <a:r>
              <a:rPr sz="900" i="1" kern="0" spc="10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PingFang SC"/>
              </a:rPr>
              <a:t>压缩比本来就高，</a:t>
            </a:r>
            <a:r>
              <a:rPr sz="900" kern="0" spc="-110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10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PingFang SC"/>
              </a:rPr>
              <a:t>磁盘带宽扛得住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graphicFrame>
        <p:nvGraphicFramePr>
          <p:cNvPr id="1310" name="table 1310"/>
          <p:cNvGraphicFramePr>
            <a:graphicFrameLocks noGrp="1"/>
          </p:cNvGraphicFramePr>
          <p:nvPr/>
        </p:nvGraphicFramePr>
        <p:xfrm>
          <a:off x="6600380" y="4564071"/>
          <a:ext cx="3818255" cy="1824990"/>
        </p:xfrm>
        <a:graphic>
          <a:graphicData uri="http://schemas.openxmlformats.org/drawingml/2006/table">
            <a:tbl>
              <a:tblPr/>
              <a:tblGrid>
                <a:gridCol w="3818255"/>
              </a:tblGrid>
              <a:tr h="18122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5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1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  CACHE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ts val="2274"/>
                        </a:lnSpc>
                        <a:spcBef>
                          <a:spcPts val="852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已压缩的</a:t>
                      </a:r>
                      <a:r>
                        <a:rPr sz="1700" kern="0" spc="-1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CSA/HCA entr</a:t>
                      </a:r>
                      <a:r>
                        <a:rPr sz="17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ies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5" algn="l" rtl="0" eaLnBrk="0">
                        <a:lnSpc>
                          <a:spcPct val="92000"/>
                        </a:lnSpc>
                        <a:spcBef>
                          <a:spcPts val="746"/>
                        </a:spcBef>
                        <a:tabLst/>
                      </a:pPr>
                      <a:r>
                        <a:rPr sz="10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0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block</a:t>
                      </a:r>
                      <a:r>
                        <a:rPr sz="10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size</a:t>
                      </a:r>
                      <a:r>
                        <a:rPr sz="1000" kern="0" spc="1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对齐</a:t>
                      </a:r>
                      <a:r>
                        <a:rPr sz="10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lcm</a:t>
                      </a:r>
                      <a:r>
                        <a:rPr sz="10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(m,</a:t>
                      </a:r>
                      <a:r>
                        <a:rPr sz="10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m')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5" algn="l" rtl="0" eaLnBrk="0">
                        <a:lnSpc>
                          <a:spcPct val="92000"/>
                        </a:lnSpc>
                        <a:spcBef>
                          <a:spcPts val="751"/>
                        </a:spcBef>
                        <a:tabLst/>
                      </a:pPr>
                      <a:r>
                        <a:rPr sz="1000" kern="0" spc="2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000" kern="0" spc="1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sparse</a:t>
                      </a:r>
                      <a:r>
                        <a:rPr sz="1000" kern="0" spc="1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attention</a:t>
                      </a:r>
                      <a:r>
                        <a:rPr sz="10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kernel</a:t>
                      </a:r>
                      <a:r>
                        <a:rPr sz="1000" kern="0" spc="1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2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跨层复用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202565" algn="l" rtl="0" eaLnBrk="0">
                        <a:lnSpc>
                          <a:spcPts val="2363"/>
                        </a:lnSpc>
                        <a:tabLst/>
                      </a:pPr>
                      <a:r>
                        <a:rPr sz="900" i="1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压缩比：</a:t>
                      </a:r>
                      <a:r>
                        <a:rPr sz="900" kern="0" spc="-1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i="1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CSA</a:t>
                      </a:r>
                      <a:r>
                        <a:rPr sz="900" i="1" kern="0" spc="1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900" i="1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1/m  ·</a:t>
                      </a:r>
                      <a:r>
                        <a:rPr sz="900" i="1" kern="0" spc="1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900" i="1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HCA</a:t>
                      </a:r>
                      <a:r>
                        <a:rPr sz="900" i="1" kern="0" spc="1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900" i="1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1/m</a:t>
                      </a:r>
                      <a:r>
                        <a:rPr sz="900" i="1" kern="0" spc="-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900" i="1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ı</a:t>
                      </a:r>
                      <a:endParaRPr sz="9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12" name="table 1312"/>
          <p:cNvGraphicFramePr>
            <a:graphicFrameLocks noGrp="1"/>
          </p:cNvGraphicFramePr>
          <p:nvPr/>
        </p:nvGraphicFramePr>
        <p:xfrm>
          <a:off x="1889133" y="4564071"/>
          <a:ext cx="3818255" cy="1824990"/>
        </p:xfrm>
        <a:graphic>
          <a:graphicData uri="http://schemas.openxmlformats.org/drawingml/2006/table">
            <a:tbl>
              <a:tblPr/>
              <a:tblGrid>
                <a:gridCol w="3818255"/>
              </a:tblGrid>
              <a:tr h="18122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STATE  CACHE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025" algn="l" rtl="0" eaLnBrk="0">
                        <a:lnSpc>
                          <a:spcPts val="2111"/>
                        </a:lnSpc>
                        <a:spcBef>
                          <a:spcPts val="852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最近</a:t>
                      </a:r>
                      <a:r>
                        <a:rPr sz="1700" kern="0" spc="-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n_win </a:t>
                      </a:r>
                      <a:r>
                        <a:rPr sz="17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r>
                        <a:rPr sz="1700" kern="0" spc="-1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 </a:t>
                      </a:r>
                      <a:r>
                        <a:rPr sz="17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</a:t>
                      </a:r>
                      <a:r>
                        <a:rPr sz="17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7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5" algn="l" rtl="0" eaLnBrk="0">
                        <a:lnSpc>
                          <a:spcPct val="86000"/>
                        </a:lnSpc>
                        <a:spcBef>
                          <a:spcPts val="914"/>
                        </a:spcBef>
                        <a:tabLst/>
                      </a:pP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000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SWA</a:t>
                      </a:r>
                      <a:r>
                        <a:rPr sz="1000" kern="0" spc="1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窗口内的完整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5" algn="l" rtl="0" eaLnBrk="0">
                        <a:lnSpc>
                          <a:spcPct val="92000"/>
                        </a:lnSpc>
                        <a:spcBef>
                          <a:spcPts val="818"/>
                        </a:spcBef>
                        <a:tabLst/>
                      </a:pPr>
                      <a:r>
                        <a:rPr sz="10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000" kern="0" spc="2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CSA</a:t>
                      </a:r>
                      <a:r>
                        <a:rPr sz="10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HCA</a:t>
                      </a:r>
                      <a:r>
                        <a:rPr sz="10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还没攒够压缩的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tail</a:t>
                      </a:r>
                      <a:r>
                        <a:rPr sz="10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2363"/>
                        </a:lnSpc>
                        <a:tabLst/>
                      </a:pPr>
                      <a:r>
                        <a:rPr sz="900" i="1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预分配固定池，按请求动态分配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14" name="textbox 1314"/>
          <p:cNvSpPr/>
          <p:nvPr/>
        </p:nvSpPr>
        <p:spPr>
          <a:xfrm>
            <a:off x="1133652" y="7608366"/>
            <a:ext cx="5137785" cy="1020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4000"/>
              </a:lnSpc>
              <a:tabLst/>
            </a:pP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类比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86000"/>
              </a:lnSpc>
              <a:spcBef>
                <a:spcPts val="1170"/>
              </a:spcBef>
              <a:tabLst/>
            </a:pPr>
            <a:r>
              <a:rPr sz="1600" b="1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像数据库给</a:t>
            </a:r>
            <a:r>
              <a:rPr sz="1600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page</a:t>
            </a:r>
            <a:r>
              <a:rPr sz="1600" b="1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做</a:t>
            </a:r>
            <a:r>
              <a:rPr sz="1600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buffer</a:t>
            </a:r>
            <a:r>
              <a:rPr sz="1600" b="1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pool</a:t>
            </a:r>
            <a:endParaRPr sz="16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128000"/>
              </a:lnSpc>
              <a:spcBef>
                <a:spcPts val="4"/>
              </a:spcBef>
              <a:tabLst/>
            </a:pP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热数据在内存、温数据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SSD</a:t>
            </a:r>
            <a:r>
              <a:rPr sz="1100" kern="0" spc="-1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、冷数据在磁盘。</a:t>
            </a:r>
            <a:r>
              <a:rPr sz="1100" kern="0" spc="-2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cache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第一次享受到这种分层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待遇。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316" name="textbox 1316"/>
          <p:cNvSpPr/>
          <p:nvPr/>
        </p:nvSpPr>
        <p:spPr>
          <a:xfrm>
            <a:off x="11993515" y="7607681"/>
            <a:ext cx="5090795" cy="802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1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为什么以前没人这么做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4605" algn="l" rtl="0" eaLnBrk="0">
              <a:lnSpc>
                <a:spcPts val="2046"/>
              </a:lnSpc>
              <a:spcBef>
                <a:spcPts val="910"/>
              </a:spcBef>
              <a:tabLst/>
            </a:pPr>
            <a:r>
              <a:rPr sz="1600" b="1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没压缩之前磁盘扛不住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42"/>
              </a:lnSpc>
              <a:spcBef>
                <a:spcPts val="4"/>
              </a:spcBef>
              <a:tabLst/>
            </a:pP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CSA/HCA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KV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压到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1/m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，落盘的带宽需求才降到磁盘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IO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能承受的量</a:t>
            </a:r>
            <a:r>
              <a:rPr sz="11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级。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318" name="textbox 1318"/>
          <p:cNvSpPr/>
          <p:nvPr/>
        </p:nvSpPr>
        <p:spPr>
          <a:xfrm>
            <a:off x="6554101" y="7607566"/>
            <a:ext cx="4525645" cy="802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5000"/>
              </a:lnSpc>
              <a:tabLst/>
            </a:pPr>
            <a:r>
              <a:rPr sz="900" kern="0" spc="1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谁受益最大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ts val="2046"/>
              </a:lnSpc>
              <a:spcBef>
                <a:spcPts val="910"/>
              </a:spcBef>
              <a:tabLst/>
            </a:pPr>
            <a:r>
              <a:rPr sz="16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Agent</a:t>
            </a: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长上下文</a:t>
            </a:r>
            <a:r>
              <a:rPr sz="16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1600" b="1" kern="0" spc="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多轮对话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42"/>
              </a:lnSpc>
              <a:spcBef>
                <a:spcPts val="4"/>
              </a:spcBef>
              <a:tabLst/>
            </a:pP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prefix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的重复度极高</a:t>
            </a:r>
            <a:r>
              <a:rPr sz="1100" kern="0" spc="-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，省掉的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prefill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直接变首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延迟下降。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320" name="textbox 1320"/>
          <p:cNvSpPr/>
          <p:nvPr/>
        </p:nvSpPr>
        <p:spPr>
          <a:xfrm>
            <a:off x="1130300" y="8874125"/>
            <a:ext cx="7990840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ct val="86000"/>
              </a:lnSpc>
              <a:spcBef>
                <a:spcPts val="4"/>
              </a:spcBef>
              <a:tabLst>
                <a:tab pos="289560" algn="l"/>
              </a:tabLst>
            </a:pP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	</a:t>
            </a:r>
            <a:r>
              <a:rPr sz="1500" i="1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这不是学术论文的「我们提出」，是工程师扫雷扫</a:t>
            </a:r>
            <a:r>
              <a:rPr sz="1500" i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出来的工艺</a:t>
            </a:r>
            <a:r>
              <a:rPr sz="1500" i="1" kern="0" spc="-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1500" i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先有压缩比</a:t>
            </a:r>
            <a:r>
              <a:rPr sz="1500" kern="0" spc="-2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i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，才敢谈落盘。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322" name="picture 1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8886825"/>
            <a:ext cx="28575" cy="285750"/>
          </a:xfrm>
          <a:prstGeom prst="rect">
            <a:avLst/>
          </a:prstGeom>
        </p:spPr>
      </p:pic>
      <p:sp>
        <p:nvSpPr>
          <p:cNvPr id="1324" name="textbox 132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326" name="picture 13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328" name="picture 13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330" name="textbox 1330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921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332" name="textbox 1332"/>
          <p:cNvSpPr/>
          <p:nvPr/>
        </p:nvSpPr>
        <p:spPr>
          <a:xfrm>
            <a:off x="1134510" y="9642069"/>
            <a:ext cx="1939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334" name="textbox 1334"/>
          <p:cNvSpPr/>
          <p:nvPr/>
        </p:nvSpPr>
        <p:spPr>
          <a:xfrm>
            <a:off x="15498031" y="517118"/>
            <a:ext cx="163830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0 5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 N F RA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 I S K   KV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336" name="picture 13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1338" name="picture 13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7400925"/>
            <a:ext cx="5143500" cy="19050"/>
          </a:xfrm>
          <a:prstGeom prst="rect">
            <a:avLst/>
          </a:prstGeom>
        </p:spPr>
      </p:pic>
      <p:pic>
        <p:nvPicPr>
          <p:cNvPr id="1340" name="picture 13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572250" y="7400925"/>
            <a:ext cx="5143500" cy="19050"/>
          </a:xfrm>
          <a:prstGeom prst="rect">
            <a:avLst/>
          </a:prstGeom>
        </p:spPr>
      </p:pic>
      <p:pic>
        <p:nvPicPr>
          <p:cNvPr id="1342" name="picture 13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2001500" y="7400925"/>
            <a:ext cx="5143500" cy="19050"/>
          </a:xfrm>
          <a:prstGeom prst="rect">
            <a:avLst/>
          </a:prstGeom>
        </p:spPr>
      </p:pic>
      <p:pic>
        <p:nvPicPr>
          <p:cNvPr id="1344" name="picture 13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882368" y="5422515"/>
            <a:ext cx="543605" cy="108721"/>
          </a:xfrm>
          <a:prstGeom prst="rect">
            <a:avLst/>
          </a:prstGeom>
        </p:spPr>
      </p:pic>
      <p:pic>
        <p:nvPicPr>
          <p:cNvPr id="1346" name="picture 13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0593615" y="5422515"/>
            <a:ext cx="543605" cy="10872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8" name="table 1348"/>
          <p:cNvGraphicFramePr>
            <a:graphicFrameLocks noGrp="1"/>
          </p:cNvGraphicFramePr>
          <p:nvPr/>
        </p:nvGraphicFramePr>
        <p:xfrm>
          <a:off x="1143000" y="3619500"/>
          <a:ext cx="16002000" cy="3988434"/>
        </p:xfrm>
        <a:graphic>
          <a:graphicData uri="http://schemas.openxmlformats.org/drawingml/2006/table">
            <a:tbl>
              <a:tblPr/>
              <a:tblGrid>
                <a:gridCol w="1312545"/>
                <a:gridCol w="5645785"/>
                <a:gridCol w="9043670"/>
              </a:tblGrid>
              <a:tr h="1490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910" algn="l" rtl="0" eaLnBrk="0">
                        <a:lnSpc>
                          <a:spcPts val="448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600" b="1" kern="0" spc="-1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01</a:t>
                      </a:r>
                      <a:endParaRPr sz="6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884" algn="l" rtl="0" eaLnBrk="0">
                        <a:lnSpc>
                          <a:spcPts val="2975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4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不吃硬件厂商的免费</a:t>
                      </a:r>
                      <a:r>
                        <a:rPr sz="24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午餐</a:t>
                      </a:r>
                      <a:endParaRPr sz="2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17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每一层都自己写，而且给硬件厂商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反向提需求。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0250" algn="l" rtl="0" eaLnBrk="0">
                        <a:lnSpc>
                          <a:spcPts val="1342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r>
                        <a:rPr sz="1100" kern="0" spc="1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MegaMoE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/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DeepGEMM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/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TileLang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三件自研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0250" algn="l" rtl="0" eaLnBrk="0">
                        <a:lnSpc>
                          <a:spcPts val="134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—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「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6144</a:t>
                      </a:r>
                      <a:r>
                        <a:rPr sz="1100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FLOPs/Byte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  相当于写给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NVIDIA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的需求文档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09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910" algn="l" rtl="0" eaLnBrk="0">
                        <a:lnSpc>
                          <a:spcPts val="448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600" b="1" kern="0" spc="-1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02</a:t>
                      </a:r>
                      <a:endParaRPr sz="6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80" algn="l" rtl="0" eaLnBrk="0">
                        <a:lnSpc>
                          <a:spcPts val="2975"/>
                        </a:lnSpc>
                        <a:tabLst/>
                      </a:pPr>
                      <a:r>
                        <a:rPr sz="24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可复现性是一等公民</a:t>
                      </a:r>
                      <a:endParaRPr sz="2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5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训练环境与推理环境完全一致，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debug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不再是玄学。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0250" algn="l" rtl="0" eaLnBrk="0">
                        <a:lnSpc>
                          <a:spcPts val="1342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r>
                        <a:rPr sz="1100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批次无关 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 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确定性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kernel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+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TileLang</a:t>
                      </a:r>
                      <a:r>
                        <a:rPr sz="1100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比特对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齐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0250" algn="l" rtl="0" eaLnBrk="0">
                        <a:lnSpc>
                          <a:spcPts val="134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r>
                        <a:rPr sz="11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三件事合起来：</a:t>
                      </a:r>
                      <a:r>
                        <a:rPr sz="1100" kern="0" spc="-2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spike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能精准复现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1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910" algn="l" rtl="0" eaLnBrk="0">
                        <a:lnSpc>
                          <a:spcPts val="4759"/>
                        </a:lnSpc>
                        <a:tabLst/>
                      </a:pPr>
                      <a:r>
                        <a:rPr sz="6600" b="1" kern="0" spc="-1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03</a:t>
                      </a:r>
                      <a:endParaRPr sz="6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170" algn="l" rtl="0" eaLnBrk="0">
                        <a:lnSpc>
                          <a:spcPts val="2894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600" b="1" kern="0" spc="20" baseline="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吝啬每一微秒、</a:t>
                      </a:r>
                      <a:r>
                        <a:rPr sz="2300" kern="0" spc="-5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3600" b="1" kern="0" spc="20" baseline="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每一字节</a:t>
                      </a:r>
                      <a:r>
                        <a:rPr sz="23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             </a:t>
                      </a:r>
                      <a:r>
                        <a:rPr sz="23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      </a:t>
                      </a:r>
                      <a:r>
                        <a:rPr sz="1700" kern="0" spc="10" baseline="53685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r>
                        <a:rPr sz="1100" kern="0" spc="1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baseline="53685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Host</a:t>
                      </a:r>
                      <a:r>
                        <a:rPr sz="11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baseline="53685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codegen</a:t>
                      </a:r>
                      <a:r>
                        <a:rPr sz="11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10" baseline="53685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省几十微秒</a:t>
                      </a:r>
                      <a:r>
                        <a:rPr sz="11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700" kern="0" spc="10" baseline="53685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11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baseline="53685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Muon</a:t>
                      </a:r>
                      <a:r>
                        <a:rPr sz="1100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baseline="53685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BF</a:t>
                      </a:r>
                      <a:r>
                        <a:rPr sz="1700" kern="0" spc="10" baseline="53685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r>
                        <a:rPr sz="11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10" baseline="53685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压缩省一半通信</a:t>
                      </a:r>
                      <a:endParaRPr sz="1700" baseline="53685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7646035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r>
                        <a:rPr sz="11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磁盘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KV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复用前缀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mHC</a:t>
                      </a:r>
                      <a:r>
                        <a:rPr sz="1100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只挑对的重计算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218440" algn="l" rtl="0" eaLnBrk="0">
                        <a:lnSpc>
                          <a:spcPct val="90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不是论文怯「我们提出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 ，是工程师每天扫雷扫出来的工艺。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50" name="textbox 1350"/>
          <p:cNvSpPr/>
          <p:nvPr/>
        </p:nvSpPr>
        <p:spPr>
          <a:xfrm>
            <a:off x="1130300" y="1493878"/>
            <a:ext cx="6193790" cy="1175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ct val="86000"/>
              </a:lnSpc>
              <a:tabLst>
                <a:tab pos="47244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	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小 结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基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建 章 的 工 程 哲 学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6696"/>
              </a:lnSpc>
              <a:spcBef>
                <a:spcPts val="1427"/>
              </a:spcBef>
              <a:tabLst/>
            </a:pPr>
            <a:r>
              <a:rPr sz="5400" b="1" kern="0" spc="-2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三条原则</a:t>
            </a:r>
            <a:r>
              <a:rPr sz="5400" kern="0" spc="-10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400" b="1" kern="0" spc="-2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5400" kern="0" spc="-16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500" b="1" i="1" kern="0" spc="-2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贯穿整章</a:t>
            </a:r>
            <a:endParaRPr sz="5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352" name="picture 1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354" name="textbox 135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356" name="textbox 1356"/>
          <p:cNvSpPr/>
          <p:nvPr/>
        </p:nvSpPr>
        <p:spPr>
          <a:xfrm>
            <a:off x="15124621" y="517118"/>
            <a:ext cx="201167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0 5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 N F RA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 H I LO S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O P HY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358" name="picture 13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360" name="picture 136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362" name="textbox 1362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667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364" name="textbox 1364"/>
          <p:cNvSpPr/>
          <p:nvPr/>
        </p:nvSpPr>
        <p:spPr>
          <a:xfrm>
            <a:off x="1134510" y="9642069"/>
            <a:ext cx="1939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366" name="picture 13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8" name="table 1368"/>
          <p:cNvGraphicFramePr>
            <a:graphicFrameLocks noGrp="1"/>
          </p:cNvGraphicFramePr>
          <p:nvPr/>
        </p:nvGraphicFramePr>
        <p:xfrm>
          <a:off x="1143000" y="3619500"/>
          <a:ext cx="16001366" cy="135255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2162810"/>
                <a:gridCol w="334645"/>
                <a:gridCol w="2390775"/>
                <a:gridCol w="339725"/>
                <a:gridCol w="2261870"/>
                <a:gridCol w="3841114"/>
                <a:gridCol w="4670425"/>
              </a:tblGrid>
              <a:tr h="473075">
                <a:tc gridSpan="7"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686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</a:t>
                      </a:r>
                      <a:r>
                        <a:rPr sz="900" kern="0" spc="-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径</a:t>
                      </a:r>
                      <a:r>
                        <a:rPr sz="9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 个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 型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跑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</a:t>
                      </a:r>
                      <a:r>
                        <a:rPr sz="900" kern="0" spc="-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ts val="1968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ts val="1968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ts val="2272"/>
                        </a:lnSpc>
                        <a:tabLst/>
                      </a:pPr>
                      <a:r>
                        <a:rPr sz="1700" i="1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学生模型直接在复杂</a:t>
                      </a:r>
                      <a:r>
                        <a:rPr sz="17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i="1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reward landscape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i="1" kern="0" spc="-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上挣扎</a:t>
                      </a:r>
                      <a:endParaRPr sz="1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370" name="textbox 1370"/>
          <p:cNvSpPr/>
          <p:nvPr/>
        </p:nvSpPr>
        <p:spPr>
          <a:xfrm>
            <a:off x="1130300" y="1479143"/>
            <a:ext cx="9004935" cy="1594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6   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-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·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旧 范 怯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1750" algn="l" rtl="0" eaLnBrk="0">
              <a:lnSpc>
                <a:spcPts val="6572"/>
              </a:lnSpc>
              <a:spcBef>
                <a:spcPts val="1507"/>
              </a:spcBef>
              <a:tabLst/>
            </a:pPr>
            <a:r>
              <a:rPr sz="4900" b="1" kern="0" spc="-1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SFT</a:t>
            </a:r>
            <a:r>
              <a:rPr sz="4900" b="1" kern="0" spc="3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900" b="1" kern="0" spc="-1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+ RLHF </a:t>
            </a:r>
            <a:r>
              <a:rPr sz="4900" b="1" kern="0" spc="-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混炼</a:t>
            </a:r>
            <a:r>
              <a:rPr sz="4900" kern="0" spc="-9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kern="0" spc="-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900" kern="0" spc="-13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100" b="1" i="1" kern="0" spc="-1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三</a:t>
            </a:r>
            <a:r>
              <a:rPr sz="5100" b="1" i="1" kern="0" spc="-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个痛点</a:t>
            </a:r>
            <a:endParaRPr sz="5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68"/>
              </a:lnSpc>
              <a:spcBef>
                <a:spcPts val="6"/>
              </a:spcBef>
              <a:tabLst/>
            </a:pP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所有做过后训练的团队都踩过这些坑一它们合起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来决定了为什么</a:t>
            </a:r>
            <a:r>
              <a:rPr sz="1600" kern="0" spc="-1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16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要把整个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RL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阶段拆掉重做。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372" name="picture 1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374" name="textbox 1374"/>
          <p:cNvSpPr/>
          <p:nvPr/>
        </p:nvSpPr>
        <p:spPr>
          <a:xfrm>
            <a:off x="1134719" y="5577484"/>
            <a:ext cx="5031740" cy="1806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1301"/>
              </a:lnSpc>
              <a:tabLst/>
            </a:pP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痛</a:t>
            </a:r>
            <a:r>
              <a:rPr sz="1000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点</a:t>
            </a:r>
            <a:r>
              <a:rPr sz="1000" kern="0" spc="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10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8415" algn="l" rtl="0" eaLnBrk="0">
              <a:lnSpc>
                <a:spcPct val="85000"/>
              </a:lnSpc>
              <a:spcBef>
                <a:spcPts val="1335"/>
              </a:spcBef>
              <a:tabLst/>
            </a:pPr>
            <a:r>
              <a:rPr sz="2400" b="1" kern="0" spc="-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RL </a:t>
            </a:r>
            <a:r>
              <a:rPr sz="24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不稳定</a:t>
            </a:r>
            <a:endParaRPr sz="2400" dirty="0">
              <a:latin typeface="PingFang SC"/>
              <a:ea typeface="PingFang SC"/>
              <a:cs typeface="PingFang SC"/>
            </a:endParaRPr>
          </a:p>
          <a:p>
            <a:pPr marL="15240" indent="3175" algn="l" rtl="0" eaLnBrk="0">
              <a:lnSpc>
                <a:spcPct val="134000"/>
              </a:lnSpc>
              <a:spcBef>
                <a:spcPts val="1153"/>
              </a:spcBef>
              <a:tabLst/>
            </a:pP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学生模型直接跑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RL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，训练曲线抖、崩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run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频繁。每次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debug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都得回退到上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一个可用的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checkpoint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，时间成本极高。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7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12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代价：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无数夜晚守着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loss</a:t>
            </a:r>
            <a:r>
              <a:rPr sz="1200" kern="0" spc="1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曲线。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376" name="textbox 1376"/>
          <p:cNvSpPr/>
          <p:nvPr/>
        </p:nvSpPr>
        <p:spPr>
          <a:xfrm>
            <a:off x="6563970" y="5577484"/>
            <a:ext cx="5057140" cy="1799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1301"/>
              </a:lnSpc>
              <a:tabLst/>
            </a:pP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痛</a:t>
            </a:r>
            <a:r>
              <a:rPr sz="1000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点</a:t>
            </a:r>
            <a:r>
              <a:rPr sz="1000" kern="0" spc="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1000" b="1" kern="0" spc="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29844" algn="l" rtl="0" eaLnBrk="0">
              <a:lnSpc>
                <a:spcPts val="2975"/>
              </a:lnSpc>
              <a:spcBef>
                <a:spcPts val="959"/>
              </a:spcBef>
              <a:tabLst/>
            </a:pPr>
            <a:r>
              <a:rPr sz="24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多任务打架</a:t>
            </a:r>
            <a:endParaRPr sz="2400" dirty="0">
              <a:latin typeface="PingFang SC"/>
              <a:ea typeface="PingFang SC"/>
              <a:cs typeface="PingFang SC"/>
            </a:endParaRPr>
          </a:p>
          <a:p>
            <a:pPr marL="13334" indent="635" algn="l" rtl="0" eaLnBrk="0">
              <a:lnSpc>
                <a:spcPct val="134000"/>
              </a:lnSpc>
              <a:spcBef>
                <a:spcPts val="986"/>
              </a:spcBef>
              <a:tabLst/>
            </a:pP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数学、代码、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、对话混在一个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reward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里</a:t>
            </a:r>
            <a:r>
              <a:rPr sz="1200" kern="0" spc="-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。调高数学权重，代码掉分；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加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据，对话变笨。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代价：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负迁移几乎不可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避免，永远在跷跷板上走钢丝。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378" name="textbox 1378"/>
          <p:cNvSpPr/>
          <p:nvPr/>
        </p:nvSpPr>
        <p:spPr>
          <a:xfrm>
            <a:off x="11993220" y="5577484"/>
            <a:ext cx="4812665" cy="1806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1301"/>
              </a:lnSpc>
              <a:tabLst/>
            </a:pP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痛</a:t>
            </a:r>
            <a:r>
              <a:rPr sz="1000" kern="0" spc="-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点</a:t>
            </a:r>
            <a:r>
              <a:rPr sz="1000" kern="0" spc="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0 3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8415" algn="l" rtl="0" eaLnBrk="0">
              <a:lnSpc>
                <a:spcPct val="83000"/>
              </a:lnSpc>
              <a:spcBef>
                <a:spcPts val="1364"/>
              </a:spcBef>
              <a:tabLst/>
            </a:pPr>
            <a:r>
              <a:rPr sz="2400" b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Reward Hacking</a:t>
            </a:r>
            <a:endParaRPr sz="2400" dirty="0">
              <a:latin typeface="Georgia"/>
              <a:ea typeface="Georgia"/>
              <a:cs typeface="Georgia"/>
            </a:endParaRPr>
          </a:p>
          <a:p>
            <a:pPr marL="19685" indent="1270" algn="l" rtl="0" eaLnBrk="0">
              <a:lnSpc>
                <a:spcPct val="138000"/>
              </a:lnSpc>
              <a:spcBef>
                <a:spcPts val="1174"/>
              </a:spcBef>
              <a:tabLst/>
            </a:pP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Reward</a:t>
            </a:r>
            <a:r>
              <a:rPr sz="12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</a:t>
            </a:r>
            <a:r>
              <a:rPr sz="12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是静态标量打分，学生很快学会「钻空子J  一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表面迎合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reward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、实际质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量下降。</a:t>
            </a:r>
            <a:endParaRPr sz="1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代价：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需要不断对抗学生的捷径，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reward model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本身要反复迭代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graphicFrame>
        <p:nvGraphicFramePr>
          <p:cNvPr id="1380" name="table 1380"/>
          <p:cNvGraphicFramePr>
            <a:graphicFrameLocks noGrp="1"/>
          </p:cNvGraphicFramePr>
          <p:nvPr/>
        </p:nvGraphicFramePr>
        <p:xfrm>
          <a:off x="3714750" y="4171950"/>
          <a:ext cx="2228850" cy="542925"/>
        </p:xfrm>
        <a:graphic>
          <a:graphicData uri="http://schemas.openxmlformats.org/drawingml/2006/table">
            <a:tbl>
              <a:tblPr/>
              <a:tblGrid>
                <a:gridCol w="2228850"/>
              </a:tblGrid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0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8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Reward Model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82" name="table 1382"/>
          <p:cNvGraphicFramePr>
            <a:graphicFrameLocks noGrp="1"/>
          </p:cNvGraphicFramePr>
          <p:nvPr/>
        </p:nvGraphicFramePr>
        <p:xfrm>
          <a:off x="6448425" y="4171950"/>
          <a:ext cx="2000250" cy="542925"/>
        </p:xfrm>
        <a:graphic>
          <a:graphicData uri="http://schemas.openxmlformats.org/drawingml/2006/table">
            <a:tbl>
              <a:tblPr/>
              <a:tblGrid>
                <a:gridCol w="2000250"/>
              </a:tblGrid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0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8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Mixed RLHF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84" name="table 1384"/>
          <p:cNvGraphicFramePr>
            <a:graphicFrameLocks noGrp="1"/>
          </p:cNvGraphicFramePr>
          <p:nvPr/>
        </p:nvGraphicFramePr>
        <p:xfrm>
          <a:off x="1457325" y="4171950"/>
          <a:ext cx="1762125" cy="542925"/>
        </p:xfrm>
        <a:graphic>
          <a:graphicData uri="http://schemas.openxmlformats.org/drawingml/2006/table">
            <a:tbl>
              <a:tblPr/>
              <a:tblGrid>
                <a:gridCol w="1762125"/>
              </a:tblGrid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984" algn="l" rtl="0" eaLnBrk="0">
                        <a:lnSpc>
                          <a:spcPct val="7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Mixed SFT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86" name="textbox 138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388" name="picture 13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390" name="picture 13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392" name="textbox 1392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7556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-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394" name="textbox 1394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396" name="picture 13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1398" name="picture 13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5334000"/>
            <a:ext cx="5143500" cy="28575"/>
          </a:xfrm>
          <a:prstGeom prst="rect">
            <a:avLst/>
          </a:prstGeom>
        </p:spPr>
      </p:pic>
      <p:pic>
        <p:nvPicPr>
          <p:cNvPr id="1400" name="picture 14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72250" y="5334000"/>
            <a:ext cx="5143500" cy="28575"/>
          </a:xfrm>
          <a:prstGeom prst="rect">
            <a:avLst/>
          </a:prstGeom>
        </p:spPr>
      </p:pic>
      <p:pic>
        <p:nvPicPr>
          <p:cNvPr id="1402" name="picture 14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001500" y="5334000"/>
            <a:ext cx="5143500" cy="28575"/>
          </a:xfrm>
          <a:prstGeom prst="rect">
            <a:avLst/>
          </a:prstGeom>
        </p:spPr>
      </p:pic>
      <p:sp>
        <p:nvSpPr>
          <p:cNvPr id="1404" name="textbox 1404"/>
          <p:cNvSpPr/>
          <p:nvPr/>
        </p:nvSpPr>
        <p:spPr>
          <a:xfrm>
            <a:off x="16184694" y="517118"/>
            <a:ext cx="95059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训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练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范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怯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406" name="textbox 1406"/>
          <p:cNvSpPr/>
          <p:nvPr/>
        </p:nvSpPr>
        <p:spPr>
          <a:xfrm>
            <a:off x="15401220" y="545722"/>
            <a:ext cx="723265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PT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8"/>
          <p:cNvGrpSpPr/>
          <p:nvPr/>
        </p:nvGrpSpPr>
        <p:grpSpPr>
          <a:xfrm rot="21600000">
            <a:off x="1143000" y="4000500"/>
            <a:ext cx="16002000" cy="4619625"/>
            <a:chOff x="0" y="0"/>
            <a:chExt cx="16002000" cy="4619625"/>
          </a:xfrm>
        </p:grpSpPr>
        <p:pic>
          <p:nvPicPr>
            <p:cNvPr id="1408" name="picture 140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6002000" cy="4619625"/>
            </a:xfrm>
            <a:prstGeom prst="rect">
              <a:avLst/>
            </a:prstGeom>
          </p:spPr>
        </p:pic>
        <p:sp>
          <p:nvSpPr>
            <p:cNvPr id="1410" name="textbox 1410"/>
            <p:cNvSpPr/>
            <p:nvPr/>
          </p:nvSpPr>
          <p:spPr>
            <a:xfrm>
              <a:off x="9768211" y="672800"/>
              <a:ext cx="4453255" cy="19259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1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5000"/>
                </a:lnSpc>
                <a:tabLst/>
              </a:pP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r>
                <a:rPr sz="1000" kern="0" spc="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TA</a:t>
              </a:r>
              <a:r>
                <a:rPr sz="10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</a:t>
              </a:r>
              <a:r>
                <a:rPr sz="1000" kern="0" spc="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1000" kern="0" spc="1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000" kern="0" spc="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 2   ·   </a:t>
              </a: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</a:t>
              </a:r>
              <a:r>
                <a:rPr sz="1000" kern="0" spc="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</a:t>
              </a:r>
              <a:r>
                <a:rPr sz="1000" kern="0" spc="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marL="17780" algn="l" rtl="0" eaLnBrk="0">
                <a:lnSpc>
                  <a:spcPct val="86000"/>
                </a:lnSpc>
                <a:spcBef>
                  <a:spcPts val="644"/>
                </a:spcBef>
                <a:tabLst/>
              </a:pPr>
              <a:r>
                <a:rPr sz="2000" kern="0" spc="-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统一学生 </a:t>
              </a:r>
              <a:r>
                <a:rPr sz="2000" kern="0" spc="-1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 </a:t>
              </a:r>
              <a:r>
                <a:rPr sz="2000" kern="0" spc="-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只做蒸馏</a:t>
              </a:r>
              <a:endParaRPr sz="2000" dirty="0">
                <a:latin typeface="PingFang SC"/>
                <a:ea typeface="PingFang SC"/>
                <a:cs typeface="PingFang SC"/>
              </a:endParaRPr>
            </a:p>
            <a:p>
              <a:pPr marL="17780" algn="l" rtl="0" eaLnBrk="0">
                <a:lnSpc>
                  <a:spcPct val="89000"/>
                </a:lnSpc>
                <a:spcBef>
                  <a:spcPts val="715"/>
                </a:spcBef>
                <a:tabLst/>
              </a:pPr>
              <a:r>
                <a:rPr sz="1000" kern="0" spc="4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学生自己采样</a:t>
              </a:r>
              <a:r>
                <a:rPr sz="1000" kern="0" spc="19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000" kern="0" spc="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1000" kern="0" spc="1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4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反向 </a:t>
              </a:r>
              <a:r>
                <a:rPr sz="10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KL</a:t>
              </a:r>
              <a:r>
                <a:rPr sz="1000" kern="0" spc="10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3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对齐多个 </a:t>
              </a:r>
              <a:r>
                <a:rPr sz="10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teacher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6000"/>
                </a:lnSpc>
                <a:spcBef>
                  <a:spcPts val="818"/>
                </a:spcBef>
                <a:tabLst/>
              </a:pPr>
              <a:r>
                <a:rPr sz="2700" kern="0" spc="7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统一学生模型</a:t>
              </a:r>
              <a:endParaRPr sz="2700" dirty="0">
                <a:latin typeface="PingFang SC"/>
                <a:ea typeface="PingFang SC"/>
                <a:cs typeface="PingFang SC"/>
              </a:endParaRPr>
            </a:p>
            <a:p>
              <a:pPr marL="2845435" indent="-234950" algn="l" rtl="0" eaLnBrk="0">
                <a:lnSpc>
                  <a:spcPct val="160000"/>
                </a:lnSpc>
                <a:spcBef>
                  <a:spcPts val="234"/>
                </a:spcBef>
                <a:tabLst/>
              </a:pPr>
              <a:r>
                <a:rPr sz="1000" kern="0" spc="10" dirty="0">
                  <a:solidFill>
                    <a:srgbClr val="FFFFFF">
                      <a:alpha val="85098"/>
                    </a:srgbClr>
                  </a:solidFill>
                  <a:latin typeface="PingFang SC"/>
                  <a:ea typeface="PingFang SC"/>
                  <a:cs typeface="PingFang SC"/>
                </a:rPr>
                <a:t>不做 </a:t>
              </a:r>
              <a:r>
                <a:rPr sz="1000" kern="0" spc="0" dirty="0">
                  <a:solidFill>
                    <a:srgbClr val="FFFFFF">
                      <a:alpha val="85098"/>
                    </a:srgbClr>
                  </a:solidFill>
                  <a:latin typeface="Arial"/>
                  <a:ea typeface="Arial"/>
                  <a:cs typeface="Arial"/>
                </a:rPr>
                <a:t>RL</a:t>
              </a:r>
              <a:r>
                <a:rPr sz="1000" kern="0" spc="10" dirty="0">
                  <a:solidFill>
                    <a:srgbClr val="FFFFFF">
                      <a:alpha val="85098"/>
                    </a:srgbClr>
                  </a:solidFill>
                  <a:latin typeface="Arial"/>
                  <a:ea typeface="Arial"/>
                  <a:cs typeface="Arial"/>
                </a:rPr>
                <a:t>  ·</a:t>
              </a:r>
              <a:r>
                <a:rPr sz="1000" kern="0" spc="130" dirty="0">
                  <a:solidFill>
                    <a:srgbClr val="FFFFFF">
                      <a:alpha val="85098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10" dirty="0">
                  <a:solidFill>
                    <a:srgbClr val="FFFFFF">
                      <a:alpha val="85098"/>
                    </a:srgbClr>
                  </a:solidFill>
                  <a:latin typeface="PingFang SC"/>
                  <a:ea typeface="PingFang SC"/>
                  <a:cs typeface="PingFang SC"/>
                </a:rPr>
                <a:t>只做稳定的蒸馏</a:t>
              </a:r>
              <a:r>
                <a:rPr sz="1000" kern="0" spc="0" dirty="0">
                  <a:solidFill>
                    <a:srgbClr val="FFFFFF">
                      <a:alpha val="85098"/>
                    </a:srgbClr>
                  </a:solidFill>
                  <a:latin typeface="PingFang SC"/>
                  <a:ea typeface="PingFang SC"/>
                  <a:cs typeface="PingFang SC"/>
                </a:rPr>
                <a:t>     </a:t>
              </a:r>
              <a:r>
                <a:rPr sz="900" i="1" kern="0" spc="40" dirty="0">
                  <a:solidFill>
                    <a:srgbClr val="FFFFFF">
                      <a:alpha val="70196"/>
                    </a:srgbClr>
                  </a:solidFill>
                  <a:latin typeface="PingFang SC"/>
                  <a:ea typeface="PingFang SC"/>
                  <a:cs typeface="PingFang SC"/>
                </a:rPr>
                <a:t>拿到所有专家的能力</a:t>
              </a:r>
              <a:endParaRPr sz="900" dirty="0">
                <a:latin typeface="PingFang SC"/>
                <a:ea typeface="PingFang SC"/>
                <a:cs typeface="PingFang SC"/>
              </a:endParaRPr>
            </a:p>
          </p:txBody>
        </p:sp>
        <p:sp>
          <p:nvSpPr>
            <p:cNvPr id="1412" name="textbox 1412"/>
            <p:cNvSpPr/>
            <p:nvPr/>
          </p:nvSpPr>
          <p:spPr>
            <a:xfrm>
              <a:off x="793576" y="672800"/>
              <a:ext cx="3013075" cy="7099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79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5000"/>
                </a:lnSpc>
                <a:tabLst/>
              </a:pP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 TA G E</a:t>
              </a:r>
              <a:r>
                <a:rPr sz="1000" kern="0" spc="1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000" kern="0" spc="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 1   ·   S P E C IA </a:t>
              </a:r>
              <a:r>
                <a:rPr sz="10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 I S T   T RA I N I N G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marL="17780" algn="l" rtl="0" eaLnBrk="0">
                <a:lnSpc>
                  <a:spcPct val="86000"/>
                </a:lnSpc>
                <a:spcBef>
                  <a:spcPts val="637"/>
                </a:spcBef>
                <a:tabLst/>
              </a:pPr>
              <a:r>
                <a:rPr sz="2000" kern="0" spc="5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每个领域独立训专家</a:t>
              </a:r>
              <a:endParaRPr sz="20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3"/>
                </a:spcBef>
                <a:tabLst/>
              </a:pPr>
              <a:r>
                <a:rPr sz="10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SFT</a:t>
              </a:r>
              <a:r>
                <a:rPr sz="10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→ </a:t>
              </a:r>
              <a:r>
                <a:rPr sz="10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GRPO  </a:t>
              </a:r>
              <a:r>
                <a:rPr sz="10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1000" kern="0" spc="1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RL</a:t>
              </a:r>
              <a:r>
                <a:rPr sz="1000" kern="0" spc="1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-1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只在这里做</a:t>
              </a:r>
              <a:endParaRPr sz="1000" dirty="0">
                <a:latin typeface="PingFang SC"/>
                <a:ea typeface="PingFang SC"/>
                <a:cs typeface="PingFang SC"/>
              </a:endParaRPr>
            </a:p>
          </p:txBody>
        </p:sp>
        <p:sp>
          <p:nvSpPr>
            <p:cNvPr id="1414" name="textbox 1414"/>
            <p:cNvSpPr/>
            <p:nvPr/>
          </p:nvSpPr>
          <p:spPr>
            <a:xfrm>
              <a:off x="12337061" y="3208774"/>
              <a:ext cx="1617980" cy="2711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931"/>
                </a:lnSpc>
                <a:tabLst/>
              </a:pPr>
              <a:r>
                <a:rPr sz="1600" kern="0" spc="-2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V4-Pro · V4-Flash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416" name="textbox 1416"/>
            <p:cNvSpPr/>
            <p:nvPr/>
          </p:nvSpPr>
          <p:spPr>
            <a:xfrm>
              <a:off x="809044" y="2585679"/>
              <a:ext cx="2881630" cy="1619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3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000" i="1" kern="0" spc="1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专家之间物理隔离</a:t>
              </a:r>
              <a:r>
                <a:rPr sz="1000" kern="0" spc="16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000" i="1" kern="0" spc="10" dirty="0">
                  <a:solidFill>
                    <a:srgbClr val="999999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·</a:t>
              </a:r>
              <a:r>
                <a:rPr sz="1000" i="1" kern="0" spc="160" dirty="0">
                  <a:solidFill>
                    <a:srgbClr val="999999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000" i="1" kern="0" spc="0" dirty="0">
                  <a:solidFill>
                    <a:srgbClr val="999999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reward</a:t>
              </a:r>
              <a:r>
                <a:rPr sz="1000" i="1" kern="0" spc="130" dirty="0">
                  <a:solidFill>
                    <a:srgbClr val="999999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000" i="1" kern="0" spc="0" dirty="0">
                  <a:solidFill>
                    <a:srgbClr val="999999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signal</a:t>
              </a:r>
              <a:r>
                <a:rPr sz="1000" i="1" kern="0" spc="190" dirty="0">
                  <a:solidFill>
                    <a:srgbClr val="999999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000" i="1" kern="0" spc="1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清晰</a:t>
              </a:r>
              <a:r>
                <a:rPr sz="1000" kern="0" spc="17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000" i="1" kern="0" spc="10" dirty="0">
                  <a:solidFill>
                    <a:srgbClr val="999999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·</a:t>
              </a:r>
              <a:r>
                <a:rPr sz="1000" i="1" kern="0" spc="180" dirty="0">
                  <a:solidFill>
                    <a:srgbClr val="999999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000" i="1" kern="0" spc="10" dirty="0">
                  <a:solidFill>
                    <a:srgbClr val="999999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不折中</a:t>
              </a:r>
              <a:endParaRPr sz="1000" dirty="0">
                <a:latin typeface="PingFang SC"/>
                <a:ea typeface="PingFang SC"/>
                <a:cs typeface="PingFang SC"/>
              </a:endParaRPr>
            </a:p>
          </p:txBody>
        </p:sp>
        <p:sp>
          <p:nvSpPr>
            <p:cNvPr id="1418" name="textbox 1418"/>
            <p:cNvSpPr/>
            <p:nvPr/>
          </p:nvSpPr>
          <p:spPr>
            <a:xfrm>
              <a:off x="6242590" y="2860424"/>
              <a:ext cx="3315970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1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5000"/>
                </a:lnSpc>
                <a:tabLst/>
              </a:pPr>
              <a:r>
                <a:rPr sz="1000" kern="0" spc="1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ON</a:t>
              </a:r>
              <a:r>
                <a:rPr sz="1000" kern="0" spc="-9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1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1000" kern="0" spc="-6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1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POLICY  DISTI</a:t>
              </a:r>
              <a:r>
                <a:rPr sz="1000" kern="0" spc="12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LLATION  ·</a:t>
              </a:r>
              <a:r>
                <a:rPr sz="1000" kern="0" spc="7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000" kern="0" spc="12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REVERSE</a:t>
              </a:r>
              <a:r>
                <a:rPr sz="1000" kern="0" spc="8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000" kern="0" spc="12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KL</a:t>
              </a:r>
              <a:endParaRPr sz="10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420" name="textbox 1420"/>
            <p:cNvSpPr/>
            <p:nvPr/>
          </p:nvSpPr>
          <p:spPr>
            <a:xfrm>
              <a:off x="4949975" y="1788298"/>
              <a:ext cx="782320" cy="3943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33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4155" algn="l" rtl="0" eaLnBrk="0">
                <a:lnSpc>
                  <a:spcPct val="85000"/>
                </a:lnSpc>
                <a:tabLst/>
              </a:pPr>
              <a:r>
                <a:rPr sz="1300" kern="0" spc="-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指令</a:t>
              </a:r>
              <a:endParaRPr sz="13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"/>
                </a:spcBef>
                <a:tabLst/>
              </a:pPr>
              <a:r>
                <a:rPr sz="800" kern="0" spc="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Instruct</a:t>
              </a:r>
              <a:r>
                <a:rPr sz="800" kern="0" spc="1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Expert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422" name="textbox 1422"/>
            <p:cNvSpPr/>
            <p:nvPr/>
          </p:nvSpPr>
          <p:spPr>
            <a:xfrm>
              <a:off x="3675447" y="1767440"/>
              <a:ext cx="704850" cy="4184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36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110490" algn="l" rtl="0" eaLnBrk="0">
                <a:lnSpc>
                  <a:spcPct val="126000"/>
                </a:lnSpc>
                <a:tabLst/>
              </a:pPr>
              <a:r>
                <a:rPr sz="1300" kern="0" spc="5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Agent</a:t>
              </a:r>
              <a:r>
                <a:rPr sz="1300" kern="0" spc="0" dirty="0">
                  <a:solidFill>
                    <a:srgbClr val="1A1A1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8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Agent</a:t>
              </a:r>
              <a:r>
                <a:rPr sz="800" kern="0" spc="1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5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Exper</a:t>
              </a:r>
              <a:r>
                <a:rPr sz="800" kern="0" spc="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424" name="textbox 1424"/>
            <p:cNvSpPr/>
            <p:nvPr/>
          </p:nvSpPr>
          <p:spPr>
            <a:xfrm>
              <a:off x="2385945" y="1788298"/>
              <a:ext cx="670560" cy="3943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9545" algn="l" rtl="0" eaLnBrk="0">
                <a:lnSpc>
                  <a:spcPct val="85000"/>
                </a:lnSpc>
                <a:tabLst/>
              </a:pPr>
              <a:r>
                <a:rPr sz="1300" kern="0" spc="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代码</a:t>
              </a:r>
              <a:endParaRPr sz="13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"/>
                </a:spcBef>
                <a:tabLst/>
              </a:pPr>
              <a:r>
                <a:rPr sz="800" kern="0" spc="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Code</a:t>
              </a:r>
              <a:r>
                <a:rPr sz="800" kern="0" spc="1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Expert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426" name="textbox 1426"/>
            <p:cNvSpPr/>
            <p:nvPr/>
          </p:nvSpPr>
          <p:spPr>
            <a:xfrm>
              <a:off x="1086318" y="1787457"/>
              <a:ext cx="655955" cy="3949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16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1290" algn="l" rtl="0" eaLnBrk="0">
                <a:lnSpc>
                  <a:spcPct val="85000"/>
                </a:lnSpc>
                <a:tabLst/>
              </a:pPr>
              <a:r>
                <a:rPr sz="1300" kern="0" spc="-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数学</a:t>
              </a:r>
              <a:endParaRPr sz="13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800" kern="0" spc="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Math</a:t>
              </a:r>
              <a:r>
                <a:rPr sz="800" kern="0" spc="20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Expert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428" name="textbox 1428"/>
            <p:cNvSpPr/>
            <p:nvPr/>
          </p:nvSpPr>
          <p:spPr>
            <a:xfrm>
              <a:off x="6368973" y="1788803"/>
              <a:ext cx="561340" cy="393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2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3029" algn="l" rtl="0" eaLnBrk="0">
                <a:lnSpc>
                  <a:spcPct val="85000"/>
                </a:lnSpc>
                <a:tabLst/>
              </a:pPr>
              <a:r>
                <a:rPr sz="1300" kern="0" spc="-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推理</a:t>
              </a:r>
              <a:endParaRPr sz="13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"/>
                </a:spcBef>
                <a:tabLst/>
              </a:pPr>
              <a:r>
                <a:rPr sz="8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Reasoning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430" name="textbox 1430"/>
            <p:cNvSpPr/>
            <p:nvPr/>
          </p:nvSpPr>
          <p:spPr>
            <a:xfrm>
              <a:off x="7445029" y="1957651"/>
              <a:ext cx="670560" cy="2070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42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>
                  <a:tab pos="163195" algn="l"/>
                </a:tabLst>
              </a:pPr>
              <a:r>
                <a:rPr sz="1300" u="dotted" kern="0" spc="0" dirty="0">
                  <a:solidFill>
                    <a:srgbClr val="5A5A5A">
                      <a:alpha val="100000"/>
                    </a:srgbClr>
                  </a:solidFill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</a:rPr>
                <a:t>	</a:t>
              </a:r>
              <a:r>
                <a:rPr sz="1300" kern="0" spc="-29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+</a:t>
              </a:r>
              <a:r>
                <a:rPr sz="1300" kern="0" spc="1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-2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更多</a:t>
              </a:r>
              <a:endParaRPr sz="1300" dirty="0">
                <a:latin typeface="PingFang SC"/>
                <a:ea typeface="PingFang SC"/>
                <a:cs typeface="PingFang SC"/>
              </a:endParaRPr>
            </a:p>
          </p:txBody>
        </p:sp>
      </p:grpSp>
      <p:sp>
        <p:nvSpPr>
          <p:cNvPr id="1432" name="textbox 1432"/>
          <p:cNvSpPr/>
          <p:nvPr/>
        </p:nvSpPr>
        <p:spPr>
          <a:xfrm>
            <a:off x="1130300" y="1479143"/>
            <a:ext cx="12323445" cy="1594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371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 阶 段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范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怯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总 览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5560" algn="l" rtl="0" eaLnBrk="0">
              <a:lnSpc>
                <a:spcPts val="6299"/>
              </a:lnSpc>
              <a:spcBef>
                <a:spcPts val="1507"/>
              </a:spcBef>
              <a:tabLst/>
            </a:pPr>
            <a:r>
              <a:rPr sz="4900" b="1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分治</a:t>
            </a:r>
            <a:r>
              <a:rPr sz="4900" kern="0" spc="-8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，再合并：</a:t>
            </a:r>
            <a:r>
              <a:rPr sz="4900" b="1" i="1" kern="0" spc="-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Specialist</a:t>
            </a:r>
            <a:r>
              <a:rPr sz="4900" b="1" i="1" kern="0" spc="4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5100" b="1" i="1" kern="0" spc="-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→</a:t>
            </a:r>
            <a:r>
              <a:rPr sz="5100" kern="0" spc="-6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OPD</a:t>
            </a:r>
            <a:endParaRPr sz="49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68"/>
              </a:lnSpc>
              <a:spcBef>
                <a:spcPts val="1"/>
              </a:spcBef>
              <a:tabLst/>
            </a:pP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报告一句话点破：「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mixed RL s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tage was entirely replaced by On-Policy Distillation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J 。</a:t>
            </a:r>
            <a:r>
              <a:rPr sz="16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RL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被隔离在专家阶段，</a:t>
            </a:r>
            <a:r>
              <a:rPr sz="1600" kern="0" spc="-3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学生模型只做稳定的蒸馏。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434" name="picture 14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436" name="textbox 1436"/>
          <p:cNvSpPr/>
          <p:nvPr/>
        </p:nvSpPr>
        <p:spPr>
          <a:xfrm>
            <a:off x="1130300" y="8426450"/>
            <a:ext cx="12139930" cy="363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ct val="85000"/>
              </a:lnSpc>
              <a:spcBef>
                <a:spcPts val="4"/>
              </a:spcBef>
              <a:tabLst>
                <a:tab pos="275590" algn="l"/>
              </a:tabLst>
            </a:pP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	</a:t>
            </a:r>
            <a:r>
              <a:rPr sz="16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一句类比： </a:t>
            </a:r>
            <a:r>
              <a:rPr sz="1700" i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先培养专科医生，再让全科医生向他们学</a:t>
            </a:r>
            <a:r>
              <a:rPr sz="16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16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全科医生自己不做手术实验，只通过观摩和对齐各科专家获得综合</a:t>
            </a:r>
            <a:r>
              <a:rPr sz="16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能力。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438" name="picture 14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8439150"/>
            <a:ext cx="28575" cy="323850"/>
          </a:xfrm>
          <a:prstGeom prst="rect">
            <a:avLst/>
          </a:prstGeom>
        </p:spPr>
      </p:pic>
      <p:sp>
        <p:nvSpPr>
          <p:cNvPr id="1440" name="textbox 144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442" name="picture 14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444" name="picture 144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446" name="textbox 144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667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8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448" name="textbox 1448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450" name="textbox 1450"/>
          <p:cNvSpPr/>
          <p:nvPr/>
        </p:nvSpPr>
        <p:spPr>
          <a:xfrm>
            <a:off x="15951957" y="517118"/>
            <a:ext cx="118427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0 6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PA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RA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IG M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452" name="picture 14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" name="table 1454"/>
          <p:cNvGraphicFramePr>
            <a:graphicFrameLocks noGrp="1"/>
          </p:cNvGraphicFramePr>
          <p:nvPr/>
        </p:nvGraphicFramePr>
        <p:xfrm>
          <a:off x="1143000" y="4305300"/>
          <a:ext cx="7800975" cy="2371725"/>
        </p:xfrm>
        <a:graphic>
          <a:graphicData uri="http://schemas.openxmlformats.org/drawingml/2006/table">
            <a:tbl>
              <a:tblPr/>
              <a:tblGrid>
                <a:gridCol w="7800975"/>
              </a:tblGrid>
              <a:tr h="10712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0" algn="l" rtl="0" eaLnBrk="0">
                        <a:lnSpc>
                          <a:spcPts val="2526"/>
                        </a:lnSpc>
                        <a:tabLst/>
                      </a:pPr>
                      <a:r>
                        <a:rPr sz="5500" b="1" kern="0" spc="-40" baseline="-8064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01</a:t>
                      </a:r>
                      <a:r>
                        <a:rPr sz="3500" b="1" kern="0" spc="1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3000" b="1" kern="0" spc="-40" baseline="14732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SFT</a:t>
                      </a:r>
                      <a:r>
                        <a:rPr sz="19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3000" b="1" kern="0" spc="-40" baseline="14732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打底</a:t>
                      </a:r>
                      <a:endParaRPr sz="3000" baseline="14732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5495" algn="l" rtl="0" eaLnBrk="0">
                        <a:lnSpc>
                          <a:spcPts val="134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在该领域的高质量监督数据上做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fine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tuning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，把基础能力带起来。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0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0" algn="l" rtl="0" eaLnBrk="0">
                        <a:lnSpc>
                          <a:spcPts val="2518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500" b="1" kern="0" spc="-40" baseline="-8008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02</a:t>
                      </a:r>
                      <a:r>
                        <a:rPr sz="3500" b="1" kern="0" spc="6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3000" b="1" kern="0" spc="-40" baseline="14833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GRPO</a:t>
                      </a:r>
                      <a:r>
                        <a:rPr sz="19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3000" b="1" kern="0" spc="-40" baseline="14833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</a:t>
                      </a:r>
                      <a:r>
                        <a:rPr sz="1900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3000" b="1" kern="0" spc="-40" baseline="14833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RL</a:t>
                      </a:r>
                      <a:endParaRPr sz="3000" baseline="14833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785495" indent="7620" algn="l" rtl="0" eaLnBrk="0">
                        <a:lnSpc>
                          <a:spcPct val="133000"/>
                        </a:lnSpc>
                        <a:spcBef>
                          <a:spcPts val="167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</a:t>
                      </a:r>
                      <a:r>
                        <a:rPr sz="1100" kern="0" spc="2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自研的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Relative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Policy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Optimization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。相比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PPO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不需要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r>
                        <a:rPr sz="11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，在一组采样里算相对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优势一显存小</a:t>
                      </a:r>
                      <a:r>
                        <a:rPr sz="1100" kern="0" spc="-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、训练稳。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3、</a:t>
                      </a:r>
                      <a:r>
                        <a:rPr sz="1100" kern="0" spc="-2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  <a:r>
                        <a:rPr sz="1100" kern="0" spc="-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一脉相承。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56" name="textbox 1456"/>
          <p:cNvSpPr/>
          <p:nvPr/>
        </p:nvSpPr>
        <p:spPr>
          <a:xfrm>
            <a:off x="1130300" y="1479143"/>
            <a:ext cx="10074910" cy="1584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·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S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 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   T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endParaRPr sz="900" dirty="0">
              <a:latin typeface="Arial"/>
              <a:ea typeface="Arial"/>
              <a:cs typeface="Arial"/>
            </a:endParaRPr>
          </a:p>
          <a:p>
            <a:pPr marL="32385" algn="l" rtl="0" eaLnBrk="0">
              <a:lnSpc>
                <a:spcPts val="6795"/>
              </a:lnSpc>
              <a:spcBef>
                <a:spcPts val="1432"/>
              </a:spcBef>
              <a:tabLst/>
            </a:pPr>
            <a:r>
              <a:rPr sz="4900" b="1" kern="0" spc="-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每个领域</a:t>
            </a:r>
            <a:r>
              <a:rPr sz="5100" b="1" i="1" kern="0" spc="-1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独立训一个专家</a:t>
            </a:r>
            <a:endParaRPr sz="5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68"/>
              </a:lnSpc>
              <a:spcBef>
                <a:spcPts val="1"/>
              </a:spcBef>
              <a:tabLst/>
            </a:pP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先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SFT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打底，</a:t>
            </a:r>
            <a:r>
              <a:rPr sz="1600" kern="0" spc="-4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再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GRPO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做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RL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。每个专家只管自己那块，</a:t>
            </a:r>
            <a:r>
              <a:rPr sz="1600" kern="0" spc="-3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reward signal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清晰不折中。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一共训了十多个专家。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458" name="picture 1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graphicFrame>
        <p:nvGraphicFramePr>
          <p:cNvPr id="1460" name="table 1460"/>
          <p:cNvGraphicFramePr>
            <a:graphicFrameLocks noGrp="1"/>
          </p:cNvGraphicFramePr>
          <p:nvPr/>
        </p:nvGraphicFramePr>
        <p:xfrm>
          <a:off x="9801225" y="3905250"/>
          <a:ext cx="7343775" cy="189547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7343775"/>
              </a:tblGrid>
              <a:tr h="1885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00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</a:t>
                      </a:r>
                      <a:r>
                        <a:rPr sz="900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</a:t>
                      </a:r>
                      <a:r>
                        <a:rPr sz="9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 E N E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AT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V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  R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WA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M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3370" algn="l" rtl="0" eaLnBrk="0">
                        <a:lnSpc>
                          <a:spcPts val="2418"/>
                        </a:lnSpc>
                        <a:spcBef>
                          <a:spcPts val="883"/>
                        </a:spcBef>
                        <a:tabLst/>
                      </a:pPr>
                      <a:r>
                        <a:rPr sz="19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</a:t>
                      </a:r>
                      <a:r>
                        <a:rPr sz="19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9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actor</a:t>
                      </a:r>
                      <a:r>
                        <a:rPr sz="1900" b="1" kern="0" spc="4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9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自己当裁</a:t>
                      </a:r>
                      <a:r>
                        <a:rPr sz="19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</a:t>
                      </a:r>
                      <a:endParaRPr sz="1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5910" indent="5080" algn="l" rtl="0" eaLnBrk="0">
                        <a:lnSpc>
                          <a:spcPct val="13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写作质量、</a:t>
                      </a:r>
                      <a:r>
                        <a:rPr sz="1100" kern="0" spc="-2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helpful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程度这类「不好用规则验证J  的任务，传统做法是标量打分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reward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11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反着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</a:t>
                      </a:r>
                      <a:r>
                        <a:rPr sz="11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</a:t>
                      </a:r>
                      <a:r>
                        <a:rPr sz="1100" kern="0" spc="-1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：用生成怯模型当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裁判，并对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GRM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本身做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RL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一评估和生成联合优化，打分更鲁棒，对抗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reward                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hacking</a:t>
                      </a:r>
                      <a:r>
                        <a:rPr sz="1100" kern="0" spc="1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2" name="table 1462"/>
          <p:cNvGraphicFramePr>
            <a:graphicFrameLocks noGrp="1"/>
          </p:cNvGraphicFramePr>
          <p:nvPr/>
        </p:nvGraphicFramePr>
        <p:xfrm>
          <a:off x="9801225" y="6029325"/>
          <a:ext cx="7343775" cy="180022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2524125"/>
                <a:gridCol w="4819650"/>
              </a:tblGrid>
              <a:tr h="1800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00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</a:t>
                      </a:r>
                      <a:r>
                        <a:rPr sz="900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</a:t>
                      </a:r>
                      <a:r>
                        <a:rPr sz="9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</a:t>
                      </a:r>
                      <a:r>
                        <a:rPr sz="900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档</a:t>
                      </a:r>
                      <a:r>
                        <a:rPr sz="900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</a:t>
                      </a:r>
                      <a:r>
                        <a:rPr sz="900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 强</a:t>
                      </a:r>
                      <a:r>
                        <a:rPr sz="900" kern="0" spc="-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度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1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9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思考深度可调</a:t>
                      </a:r>
                      <a:endParaRPr sz="1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64" name="textbox 1464"/>
          <p:cNvSpPr/>
          <p:nvPr/>
        </p:nvSpPr>
        <p:spPr>
          <a:xfrm>
            <a:off x="1915064" y="6908774"/>
            <a:ext cx="6176645" cy="606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18"/>
              </a:lnSpc>
              <a:tabLst/>
            </a:pPr>
            <a:r>
              <a:rPr sz="19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输出：</a:t>
            </a:r>
            <a:r>
              <a:rPr sz="1900" kern="0" spc="-3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一个专家模型</a:t>
            </a:r>
            <a:endParaRPr sz="1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42"/>
              </a:lnSpc>
              <a:spcBef>
                <a:spcPts val="5"/>
              </a:spcBef>
              <a:tabLst/>
            </a:pP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整套管线重复十多次，训出数学</a:t>
            </a:r>
            <a:r>
              <a:rPr sz="11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/ 代码</a:t>
            </a:r>
            <a:r>
              <a:rPr sz="11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/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/ 指令</a:t>
            </a:r>
            <a:r>
              <a:rPr sz="11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/ 推理等专家。每个都是独立的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checkpoin</a:t>
            </a:r>
            <a:r>
              <a:rPr sz="11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1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graphicFrame>
        <p:nvGraphicFramePr>
          <p:cNvPr id="1466" name="table 1466"/>
          <p:cNvGraphicFramePr>
            <a:graphicFrameLocks noGrp="1"/>
          </p:cNvGraphicFramePr>
          <p:nvPr/>
        </p:nvGraphicFramePr>
        <p:xfrm>
          <a:off x="12372975" y="7019925"/>
          <a:ext cx="2190750" cy="552450"/>
        </p:xfrm>
        <a:graphic>
          <a:graphicData uri="http://schemas.openxmlformats.org/drawingml/2006/table">
            <a:tbl>
              <a:tblPr/>
              <a:tblGrid>
                <a:gridCol w="2190750"/>
              </a:tblGrid>
              <a:tr h="542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0810" algn="l" rtl="0" eaLnBrk="0">
                        <a:lnSpc>
                          <a:spcPct val="7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Think</a:t>
                      </a:r>
                      <a:r>
                        <a:rPr sz="900" kern="0" spc="2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High</a:t>
                      </a:r>
                      <a:endParaRPr sz="9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71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默认推理强度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468" name="table 1468"/>
          <p:cNvGraphicFramePr>
            <a:graphicFrameLocks noGrp="1"/>
          </p:cNvGraphicFramePr>
          <p:nvPr/>
        </p:nvGraphicFramePr>
        <p:xfrm>
          <a:off x="14658975" y="7019925"/>
          <a:ext cx="2190750" cy="552450"/>
        </p:xfrm>
        <a:graphic>
          <a:graphicData uri="http://schemas.openxmlformats.org/drawingml/2006/table">
            <a:tbl>
              <a:tblPr/>
              <a:tblGrid>
                <a:gridCol w="2190750"/>
              </a:tblGrid>
              <a:tr h="542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904" algn="l" rtl="0" eaLnBrk="0">
                        <a:lnSpc>
                          <a:spcPct val="6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b="1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Think</a:t>
                      </a:r>
                      <a:r>
                        <a:rPr sz="900" kern="0" spc="1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900" b="1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Max</a:t>
                      </a:r>
                      <a:endParaRPr sz="9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445" algn="l" rtl="0" eaLnBrk="0">
                        <a:lnSpc>
                          <a:spcPts val="1163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  <a:r>
                        <a:rPr sz="900" kern="0" spc="1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prompt</a:t>
                      </a:r>
                      <a:r>
                        <a:rPr sz="9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强拉思考深度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470" name="table 1470"/>
          <p:cNvGraphicFramePr>
            <a:graphicFrameLocks noGrp="1"/>
          </p:cNvGraphicFramePr>
          <p:nvPr/>
        </p:nvGraphicFramePr>
        <p:xfrm>
          <a:off x="10096500" y="7019925"/>
          <a:ext cx="2181225" cy="552450"/>
        </p:xfrm>
        <a:graphic>
          <a:graphicData uri="http://schemas.openxmlformats.org/drawingml/2006/table">
            <a:tbl>
              <a:tblPr/>
              <a:tblGrid>
                <a:gridCol w="2181225"/>
              </a:tblGrid>
              <a:tr h="542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ct val="6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b="1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Non-think</a:t>
                      </a:r>
                      <a:endParaRPr sz="9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82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快速响应，不展开推理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72" name="textbox 147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474" name="textbox 1474"/>
          <p:cNvSpPr/>
          <p:nvPr/>
        </p:nvSpPr>
        <p:spPr>
          <a:xfrm>
            <a:off x="14949897" y="517118"/>
            <a:ext cx="218630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0 6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STAG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1   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IA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ST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476" name="picture 14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478" name="picture 147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480" name="textbox 1480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667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482" name="textbox 1482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484" name="textbox 1484"/>
          <p:cNvSpPr/>
          <p:nvPr/>
        </p:nvSpPr>
        <p:spPr>
          <a:xfrm>
            <a:off x="1153160" y="7003415"/>
            <a:ext cx="599440" cy="367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686"/>
              </a:lnSpc>
              <a:tabLst/>
            </a:pPr>
            <a:r>
              <a:rPr sz="3600" b="1" kern="0" spc="-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03</a:t>
            </a:r>
            <a:endParaRPr sz="3600" dirty="0">
              <a:latin typeface="Georgia"/>
              <a:ea typeface="Georgia"/>
              <a:cs typeface="Georgia"/>
            </a:endParaRPr>
          </a:p>
        </p:txBody>
      </p:sp>
      <p:sp>
        <p:nvSpPr>
          <p:cNvPr id="1486" name="textbox 1486"/>
          <p:cNvSpPr/>
          <p:nvPr/>
        </p:nvSpPr>
        <p:spPr>
          <a:xfrm>
            <a:off x="1136615" y="3922877"/>
            <a:ext cx="1351915" cy="144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单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 专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家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训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练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管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线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488" name="picture 14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0" name="table 1490"/>
          <p:cNvGraphicFramePr>
            <a:graphicFrameLocks noGrp="1"/>
          </p:cNvGraphicFramePr>
          <p:nvPr/>
        </p:nvGraphicFramePr>
        <p:xfrm>
          <a:off x="1143000" y="3810000"/>
          <a:ext cx="16002000" cy="113347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16002000"/>
              </a:tblGrid>
              <a:tr h="1123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5" algn="l" rtl="0" eaLnBrk="0">
                        <a:lnSpc>
                          <a:spcPts val="362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300" kern="0" spc="-40" baseline="48843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</a:t>
                      </a:r>
                      <a:r>
                        <a:rPr sz="800" kern="0" spc="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300" kern="0" spc="-40" baseline="48843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</a:t>
                      </a:r>
                      <a:r>
                        <a:rPr sz="8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300" kern="0" spc="-40" baseline="48843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函</a:t>
                      </a:r>
                      <a:r>
                        <a:rPr sz="8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300" kern="0" spc="-40" baseline="48843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3000" i="1" kern="0" spc="-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pple Symbols"/>
                          <a:ea typeface="Apple Symbols"/>
                          <a:cs typeface="Apple Symbols"/>
                        </a:rPr>
                        <a:t>ℒ</a:t>
                      </a:r>
                      <a:r>
                        <a:rPr sz="2300" i="1" kern="0" spc="-90" baseline="-8628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OPD</a:t>
                      </a:r>
                      <a:r>
                        <a:rPr sz="1400" i="1" kern="0" spc="-1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i="1" kern="0" spc="-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(θ)</a:t>
                      </a:r>
                      <a:r>
                        <a:rPr sz="2400" i="1" kern="0" spc="2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i="1" kern="0" spc="-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= </a:t>
                      </a:r>
                      <a:r>
                        <a:rPr sz="3000" i="1" kern="0" spc="-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Σ</a:t>
                      </a:r>
                      <a:r>
                        <a:rPr sz="2300" i="1" kern="0" spc="-20" baseline="-8628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i=1..N</a:t>
                      </a:r>
                      <a:r>
                        <a:rPr sz="1400" i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 </a:t>
                      </a:r>
                      <a:r>
                        <a:rPr sz="3600" i="1" kern="0" spc="-160" baseline="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w</a:t>
                      </a:r>
                      <a:r>
                        <a:rPr sz="3000" i="1" kern="0" spc="-160" baseline="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i</a:t>
                      </a:r>
                      <a:r>
                        <a:rPr sz="1900" i="1" kern="0" spc="4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i="1" kern="0" spc="-1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D</a:t>
                      </a:r>
                      <a:r>
                        <a:rPr sz="2300" i="1" kern="0" spc="-50" baseline="-8628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KL</a:t>
                      </a:r>
                      <a:r>
                        <a:rPr sz="1400" i="1" kern="0" spc="-1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i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(</a:t>
                      </a:r>
                      <a:r>
                        <a:rPr sz="2400" i="1" kern="0" spc="-1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i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π</a:t>
                      </a:r>
                      <a:r>
                        <a:rPr sz="3000" i="1" kern="0" spc="-50" baseline="3802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θ</a:t>
                      </a:r>
                      <a:r>
                        <a:rPr sz="3600" i="1" kern="0" spc="-50" baseline="3168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ǁ</a:t>
                      </a:r>
                      <a:r>
                        <a:rPr sz="2300" i="1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i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π</a:t>
                      </a:r>
                      <a:r>
                        <a:rPr sz="1900" i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E</a:t>
                      </a:r>
                      <a:r>
                        <a:rPr sz="1600" i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i</a:t>
                      </a:r>
                      <a:r>
                        <a:rPr sz="2400" i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)</a:t>
                      </a:r>
                      <a:endParaRPr sz="24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92" name="textbox 1492"/>
          <p:cNvSpPr/>
          <p:nvPr/>
        </p:nvSpPr>
        <p:spPr>
          <a:xfrm>
            <a:off x="1130300" y="1479143"/>
            <a:ext cx="10692765" cy="1584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TA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 2   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6572"/>
              </a:lnSpc>
              <a:spcBef>
                <a:spcPts val="1432"/>
              </a:spcBef>
              <a:tabLst/>
            </a:pPr>
            <a:r>
              <a:rPr sz="4900" b="1" kern="0" spc="-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十多个专家当</a:t>
            </a:r>
            <a:r>
              <a:rPr sz="4900" b="1" kern="0" spc="-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teacher</a:t>
            </a:r>
            <a:r>
              <a:rPr sz="4900" b="1" kern="0" spc="-5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900" b="1" kern="0" spc="-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900" kern="0" spc="-14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100" b="1" i="1" kern="0" spc="-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蒸出一个学生</a:t>
            </a:r>
            <a:endParaRPr sz="5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ts val="1968"/>
              </a:lnSpc>
              <a:spcBef>
                <a:spcPts val="6"/>
              </a:spcBef>
              <a:tabLst/>
            </a:pPr>
            <a:r>
              <a:rPr sz="16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学生从自己采样轨迹，然后用反向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KL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对齐所有专家一多</a:t>
            </a:r>
            <a:r>
              <a:rPr sz="16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teacher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蒸馏的新玩法。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494" name="picture 14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496" name="textbox 1496"/>
          <p:cNvSpPr/>
          <p:nvPr/>
        </p:nvSpPr>
        <p:spPr>
          <a:xfrm>
            <a:off x="1134643" y="5579199"/>
            <a:ext cx="5077460" cy="153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反 向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endParaRPr sz="900" dirty="0">
              <a:latin typeface="Arial"/>
              <a:ea typeface="Arial"/>
              <a:cs typeface="Arial"/>
            </a:endParaRPr>
          </a:p>
          <a:p>
            <a:pPr marL="24130" algn="l" rtl="0" eaLnBrk="0">
              <a:lnSpc>
                <a:spcPts val="2577"/>
              </a:lnSpc>
              <a:spcBef>
                <a:spcPts val="1011"/>
              </a:spcBef>
              <a:tabLst/>
            </a:pPr>
            <a:r>
              <a:rPr sz="21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学生收敛</a:t>
            </a:r>
            <a:endParaRPr sz="2100" dirty="0">
              <a:latin typeface="PingFang SC"/>
              <a:ea typeface="PingFang SC"/>
              <a:cs typeface="PingFang SC"/>
            </a:endParaRPr>
          </a:p>
          <a:p>
            <a:pPr marL="22225" algn="l" rtl="0" eaLnBrk="0">
              <a:lnSpc>
                <a:spcPts val="2576"/>
              </a:lnSpc>
              <a:tabLst/>
            </a:pPr>
            <a:r>
              <a:rPr sz="21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到高概率区域</a:t>
            </a:r>
            <a:endParaRPr sz="2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3334" indent="3175" algn="l" rtl="0" eaLnBrk="0">
              <a:lnSpc>
                <a:spcPct val="138000"/>
              </a:lnSpc>
              <a:spcBef>
                <a:spcPts val="2"/>
              </a:spcBef>
              <a:tabLst/>
            </a:pP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正向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KL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让学生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cover tea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cher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的所有模怯，容易学成四不像。</a:t>
            </a: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反向 </a:t>
            </a: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KL </a:t>
            </a: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让学</a:t>
            </a:r>
            <a:r>
              <a:rPr sz="12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生集中在</a:t>
            </a:r>
            <a:r>
              <a:rPr sz="1200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teacher</a:t>
            </a:r>
            <a:r>
              <a:rPr sz="12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分布的高概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率区域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一学的更聚焦。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498" name="textbox 1498"/>
          <p:cNvSpPr/>
          <p:nvPr/>
        </p:nvSpPr>
        <p:spPr>
          <a:xfrm>
            <a:off x="6564084" y="5555386"/>
            <a:ext cx="5042535" cy="1536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9000"/>
              </a:lnSpc>
              <a:tabLst/>
            </a:pP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 N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O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 CY</a:t>
            </a:r>
            <a:endParaRPr sz="900" dirty="0">
              <a:latin typeface="Arial"/>
              <a:ea typeface="Arial"/>
              <a:cs typeface="Arial"/>
            </a:endParaRPr>
          </a:p>
          <a:p>
            <a:pPr marL="24130" algn="l" rtl="0" eaLnBrk="0">
              <a:lnSpc>
                <a:spcPts val="2604"/>
              </a:lnSpc>
              <a:spcBef>
                <a:spcPts val="892"/>
              </a:spcBef>
              <a:tabLst/>
            </a:pPr>
            <a:r>
              <a:rPr sz="2100" b="1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学生自己</a:t>
            </a:r>
            <a:endParaRPr sz="21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90000"/>
              </a:lnSpc>
              <a:spcBef>
                <a:spcPts val="24"/>
              </a:spcBef>
              <a:tabLst/>
            </a:pPr>
            <a:r>
              <a:rPr sz="2100" b="1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采样轨迹</a:t>
            </a:r>
            <a:endParaRPr sz="2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3970" indent="635" algn="l" rtl="0" eaLnBrk="0">
              <a:lnSpc>
                <a:spcPct val="136000"/>
              </a:lnSpc>
              <a:tabLst/>
            </a:pP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不是从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teacher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采样，是从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</a:t>
            </a:r>
            <a:r>
              <a:rPr sz="1200" kern="0" spc="1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自己的策略采样。</a:t>
            </a:r>
            <a:r>
              <a:rPr sz="12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学的永远是自己会遇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到的分布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，不会出现「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teacher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的高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质量输出学生根本走不到J  的错配。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500" name="textbox 1500"/>
          <p:cNvSpPr/>
          <p:nvPr/>
        </p:nvSpPr>
        <p:spPr>
          <a:xfrm>
            <a:off x="11993372" y="5555386"/>
            <a:ext cx="4924425" cy="1536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99000"/>
              </a:lnSpc>
              <a:tabLst/>
            </a:pP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F U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 -</a:t>
            </a:r>
            <a:r>
              <a:rPr sz="900" kern="0" spc="-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V O C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A B   L O G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 T</a:t>
            </a:r>
            <a:endParaRPr sz="900" dirty="0">
              <a:latin typeface="Arial"/>
              <a:ea typeface="Arial"/>
              <a:cs typeface="Arial"/>
            </a:endParaRPr>
          </a:p>
          <a:p>
            <a:pPr marL="24130" algn="l" rtl="0" eaLnBrk="0">
              <a:lnSpc>
                <a:spcPct val="84000"/>
              </a:lnSpc>
              <a:spcBef>
                <a:spcPts val="1195"/>
              </a:spcBef>
              <a:tabLst/>
            </a:pPr>
            <a:r>
              <a:rPr sz="21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完整</a:t>
            </a:r>
            <a:r>
              <a:rPr sz="2100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b="1" kern="0" spc="-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logit</a:t>
            </a:r>
            <a:endParaRPr sz="2100" dirty="0">
              <a:latin typeface="Georgia"/>
              <a:ea typeface="Georgia"/>
              <a:cs typeface="Georgia"/>
            </a:endParaRPr>
          </a:p>
          <a:p>
            <a:pPr marL="20320" algn="l" rtl="0" eaLnBrk="0">
              <a:lnSpc>
                <a:spcPts val="2734"/>
              </a:lnSpc>
              <a:tabLst/>
            </a:pPr>
            <a:r>
              <a:rPr sz="21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算精确</a:t>
            </a:r>
            <a:r>
              <a:rPr sz="2100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b="1" kern="0" spc="-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KL</a:t>
            </a:r>
            <a:endParaRPr sz="21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indent="10795" algn="l" rtl="0" eaLnBrk="0">
              <a:lnSpc>
                <a:spcPct val="136000"/>
              </a:lnSpc>
              <a:spcBef>
                <a:spcPts val="6"/>
              </a:spcBef>
              <a:tabLst/>
            </a:pPr>
            <a:r>
              <a:rPr sz="12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以往工作为省算力用采样近似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KL</a:t>
            </a:r>
            <a:r>
              <a:rPr sz="12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2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2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 坚持完整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logit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分布一</a:t>
            </a:r>
            <a:r>
              <a:rPr sz="12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梯度方差更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低、训练更稳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。代价是算力大幅上升，靠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ra </a:t>
            </a:r>
            <a:r>
              <a:rPr sz="12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兜底。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502" name="textbox 150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504" name="picture 15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506" name="picture 150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508" name="textbox 1508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413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510" name="textbox 1510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512" name="textbox 1512"/>
          <p:cNvSpPr/>
          <p:nvPr/>
        </p:nvSpPr>
        <p:spPr>
          <a:xfrm>
            <a:off x="15516634" y="517118"/>
            <a:ext cx="161988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0 6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STAG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0 2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514" name="picture 15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1516" name="picture 15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5334000"/>
            <a:ext cx="5143500" cy="19050"/>
          </a:xfrm>
          <a:prstGeom prst="rect">
            <a:avLst/>
          </a:prstGeom>
        </p:spPr>
      </p:pic>
      <p:pic>
        <p:nvPicPr>
          <p:cNvPr id="1518" name="picture 15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72250" y="5334000"/>
            <a:ext cx="5143500" cy="19050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001500" y="5334000"/>
            <a:ext cx="514350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2" name="table 1522"/>
          <p:cNvGraphicFramePr>
            <a:graphicFrameLocks noGrp="1"/>
          </p:cNvGraphicFramePr>
          <p:nvPr/>
        </p:nvGraphicFramePr>
        <p:xfrm>
          <a:off x="1143000" y="4000500"/>
          <a:ext cx="8420100" cy="412432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8420100"/>
              </a:tblGrid>
              <a:tr h="2276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87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布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形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 的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差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您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5664" algn="l" rtl="0" eaLnBrk="0">
                        <a:lnSpc>
                          <a:spcPct val="86000"/>
                        </a:lnSpc>
                        <a:spcBef>
                          <a:spcPts val="277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Teacher</a:t>
                      </a:r>
                      <a:r>
                        <a:rPr sz="9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Mixture</a:t>
                      </a:r>
                      <a:r>
                        <a:rPr sz="900" kern="0" spc="2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</a:t>
                      </a:r>
                      <a:r>
                        <a:rPr sz="900" kern="0" spc="-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2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多峰）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1179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数学</a:t>
                      </a:r>
                      <a:r>
                        <a:rPr sz="8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    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                       </a:t>
                      </a:r>
                      <a:r>
                        <a:rPr sz="8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</a:t>
                      </a:r>
                      <a:r>
                        <a:rPr sz="8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       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                           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011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正向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KL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·</a:t>
                      </a:r>
                      <a:r>
                        <a:rPr sz="900" kern="0" spc="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学生被迫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cover</a:t>
                      </a:r>
                      <a:r>
                        <a:rPr sz="9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模怯（</a:t>
                      </a:r>
                      <a:r>
                        <a:rPr sz="900" kern="0" spc="-1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四不像）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7880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6470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0595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i="1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过平滑</a:t>
                      </a:r>
                      <a:r>
                        <a:rPr sz="800" kern="0" spc="2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800" i="1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</a:t>
                      </a:r>
                      <a:r>
                        <a:rPr sz="800" i="1" kern="0" spc="1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800" i="1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三个山头都学不精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4" name="table 1524"/>
          <p:cNvGraphicFramePr>
            <a:graphicFrameLocks noGrp="1"/>
          </p:cNvGraphicFramePr>
          <p:nvPr/>
        </p:nvGraphicFramePr>
        <p:xfrm>
          <a:off x="10134600" y="4000500"/>
          <a:ext cx="7010400" cy="2800350"/>
        </p:xfrm>
        <a:graphic>
          <a:graphicData uri="http://schemas.openxmlformats.org/drawingml/2006/table">
            <a:tbl>
              <a:tblPr/>
              <a:tblGrid>
                <a:gridCol w="7010400"/>
              </a:tblGrid>
              <a:tr h="1514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C</a:t>
                      </a:r>
                      <a:r>
                        <a:rPr sz="900" kern="0" spc="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  0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" algn="l" rtl="0" eaLnBrk="0">
                        <a:lnSpc>
                          <a:spcPct val="86000"/>
                        </a:lnSpc>
                        <a:spcBef>
                          <a:spcPts val="879"/>
                        </a:spcBef>
                        <a:tabLst/>
                      </a:pPr>
                      <a:r>
                        <a:rPr sz="19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数学任务</a:t>
                      </a:r>
                      <a:endParaRPr sz="1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" indent="3810" algn="l" rtl="0" eaLnBrk="0">
                        <a:lnSpc>
                          <a:spcPct val="13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学生的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rollout</a:t>
                      </a:r>
                      <a:r>
                        <a:rPr sz="11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落在「数学模怯J  附近，反向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KL</a:t>
                      </a:r>
                      <a:r>
                        <a:rPr sz="11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逼它对齐数学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专家的高概率区域一自然忽略代码和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的贡</a:t>
                      </a:r>
                      <a:r>
                        <a:rPr sz="11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献。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5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C</a:t>
                      </a:r>
                      <a:r>
                        <a:rPr sz="9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  0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spcBef>
                          <a:spcPts val="879"/>
                        </a:spcBef>
                        <a:tabLst/>
                      </a:pPr>
                      <a:r>
                        <a:rPr sz="19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代码任务</a:t>
                      </a:r>
                      <a:endParaRPr sz="1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342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同样的学生</a:t>
                      </a:r>
                      <a:r>
                        <a:rPr sz="1100" kern="0" spc="-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，遇到代码请求时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rollout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落在代码模怯，</a:t>
                      </a:r>
                      <a:r>
                        <a:rPr sz="1100" kern="0" spc="-1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自动切换对齐对象。没有人显怯告诉它「这是代码J</a:t>
                      </a:r>
                      <a:r>
                        <a:rPr sz="1100" kern="0" spc="-2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26" name="textbox 1526"/>
          <p:cNvSpPr/>
          <p:nvPr/>
        </p:nvSpPr>
        <p:spPr>
          <a:xfrm>
            <a:off x="1130300" y="1494002"/>
            <a:ext cx="10540365" cy="1579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ct val="87000"/>
              </a:lnSpc>
              <a:tabLst>
                <a:tab pos="47498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	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关 键 机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制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为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 么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反 向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 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能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endParaRPr sz="9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ts val="6831"/>
              </a:lnSpc>
              <a:spcBef>
                <a:spcPts val="1619"/>
              </a:spcBef>
              <a:tabLst/>
            </a:pPr>
            <a:r>
              <a:rPr sz="4900" b="1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学生会</a:t>
            </a:r>
            <a:r>
              <a:rPr sz="5100" b="1" i="1" kern="0" spc="-1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自动选老师</a:t>
            </a:r>
            <a:endParaRPr sz="5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68"/>
              </a:lnSpc>
              <a:tabLst/>
            </a:pPr>
            <a:r>
              <a:rPr sz="16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数学任务对齐数学专家，代码任务对齐代码专家。</a:t>
            </a:r>
            <a:r>
              <a:rPr sz="1600" kern="0" spc="-4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这个「自动路由J  特性，</a:t>
            </a:r>
            <a:r>
              <a:rPr sz="1600" kern="0" spc="-4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是多</a:t>
            </a:r>
            <a:r>
              <a:rPr sz="1600" kern="0" spc="-1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teacher</a:t>
            </a:r>
            <a:r>
              <a:rPr sz="16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蒸馏能</a:t>
            </a:r>
            <a:r>
              <a:rPr sz="1600" kern="0" spc="-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</a:t>
            </a:r>
            <a:r>
              <a:rPr sz="16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的底层秘诀。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528" name="picture 15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530" name="textbox 1530"/>
          <p:cNvSpPr/>
          <p:nvPr/>
        </p:nvSpPr>
        <p:spPr>
          <a:xfrm>
            <a:off x="10122043" y="6984136"/>
            <a:ext cx="6751955" cy="837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99000"/>
              </a:lnSpc>
              <a:tabLst/>
            </a:pP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 C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  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0 3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17"/>
              </a:lnSpc>
              <a:spcBef>
                <a:spcPts val="583"/>
              </a:spcBef>
              <a:tabLst/>
            </a:pPr>
            <a:r>
              <a:rPr sz="19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任何新任务</a:t>
            </a:r>
            <a:endParaRPr sz="1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加专家就能扩展能力</a:t>
            </a:r>
            <a:r>
              <a:rPr sz="11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。只要你能训出「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写毛笔字专家J</a:t>
            </a:r>
            <a:r>
              <a:rPr sz="1100" kern="0" spc="-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，加进蒸馏池一学生自然学会在相应场景下对齐它。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532" name="picture 15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07989" y="5219700"/>
            <a:ext cx="6305550" cy="685800"/>
          </a:xfrm>
          <a:prstGeom prst="rect">
            <a:avLst/>
          </a:prstGeom>
        </p:spPr>
      </p:pic>
      <p:pic>
        <p:nvPicPr>
          <p:cNvPr id="1534" name="picture 15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17514" y="6802278"/>
            <a:ext cx="6291511" cy="629602"/>
          </a:xfrm>
          <a:prstGeom prst="rect">
            <a:avLst/>
          </a:prstGeom>
        </p:spPr>
      </p:pic>
      <p:sp>
        <p:nvSpPr>
          <p:cNvPr id="1536" name="textbox 1536"/>
          <p:cNvSpPr/>
          <p:nvPr/>
        </p:nvSpPr>
        <p:spPr>
          <a:xfrm>
            <a:off x="1142873" y="8846083"/>
            <a:ext cx="12851765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68"/>
              </a:lnSpc>
              <a:tabLst/>
            </a:pP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这是反向 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KL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在多</a:t>
            </a:r>
            <a:r>
              <a:rPr sz="1600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teacher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场景里被低估的性质：</a:t>
            </a:r>
            <a:r>
              <a:rPr sz="1600" kern="0" spc="-4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不需要一个外部 </a:t>
            </a:r>
            <a:r>
              <a:rPr sz="16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router</a:t>
            </a:r>
            <a:r>
              <a:rPr sz="16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告诉学生「现在该听谁的J</a:t>
            </a:r>
            <a:r>
              <a:rPr sz="1600" kern="0" spc="-1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600" kern="0" spc="-3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学生自己的</a:t>
            </a:r>
            <a:r>
              <a:rPr sz="1600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on-policy 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分布就是 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router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538" name="textbox 1538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540" name="picture 15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542" name="picture 154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544" name="textbox 1544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8636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-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900" kern="0" spc="8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546" name="textbox 1546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548" name="picture 15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8601075"/>
            <a:ext cx="14287500" cy="19050"/>
          </a:xfrm>
          <a:prstGeom prst="rect">
            <a:avLst/>
          </a:prstGeom>
        </p:spPr>
      </p:pic>
      <p:sp>
        <p:nvSpPr>
          <p:cNvPr id="1550" name="textbox 1550"/>
          <p:cNvSpPr/>
          <p:nvPr/>
        </p:nvSpPr>
        <p:spPr>
          <a:xfrm>
            <a:off x="15821434" y="517118"/>
            <a:ext cx="131508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0 6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 EV E RS E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K L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552" name="picture 15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554" name="textbox 1554"/>
          <p:cNvSpPr/>
          <p:nvPr/>
        </p:nvSpPr>
        <p:spPr>
          <a:xfrm>
            <a:off x="4850351" y="7140613"/>
            <a:ext cx="818514" cy="142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学生选代码山头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6" name="table 1556"/>
          <p:cNvGraphicFramePr>
            <a:graphicFrameLocks noGrp="1"/>
          </p:cNvGraphicFramePr>
          <p:nvPr/>
        </p:nvGraphicFramePr>
        <p:xfrm>
          <a:off x="1143000" y="3143250"/>
          <a:ext cx="6609715" cy="403796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347345"/>
                <a:gridCol w="6262370"/>
              </a:tblGrid>
              <a:tr h="22129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9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72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 E N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AT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V E</a:t>
                      </a:r>
                      <a:r>
                        <a:rPr sz="900" kern="0" spc="1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9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915" algn="l" rtl="0" eaLnBrk="0">
                        <a:lnSpc>
                          <a:spcPts val="2789"/>
                        </a:lnSpc>
                        <a:spcBef>
                          <a:spcPts val="1052"/>
                        </a:spcBef>
                        <a:tabLst/>
                      </a:pPr>
                      <a:r>
                        <a:rPr sz="2200" b="1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</a:t>
                      </a:r>
                      <a:r>
                        <a:rPr sz="2200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200" b="1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actor</a:t>
                      </a:r>
                      <a:r>
                        <a:rPr sz="2200" b="1" kern="0" spc="4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200" b="1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自己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61950" algn="l" rtl="0" eaLnBrk="0">
                        <a:lnSpc>
                          <a:spcPct val="85000"/>
                        </a:lnSpc>
                        <a:spcBef>
                          <a:spcPts val="246"/>
                        </a:spcBef>
                        <a:tabLst/>
                      </a:pPr>
                      <a:r>
                        <a:rPr sz="2200" b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当裁判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9090" algn="l" rtl="0" eaLnBrk="0">
                        <a:lnSpc>
                          <a:spcPct val="13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对「不好用规则验证J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的任务（</a:t>
                      </a:r>
                      <a:r>
                        <a:rPr sz="1200" kern="0" spc="-2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写作质量、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helpful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程度</a:t>
                      </a:r>
                      <a:r>
                        <a:rPr sz="1200" kern="0" spc="-2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），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传统做法是标量打分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reward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反着来：用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生成怯模型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当裁判，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GRM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本身也做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RL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评估能力和生    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成能力联合优化。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8FA"/>
                    </a:solidFill>
                  </a:tcPr>
                </a:tc>
              </a:tr>
              <a:tr h="18249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40" algn="l" rtl="0" eaLnBrk="0">
                        <a:lnSpc>
                          <a:spcPts val="1252"/>
                        </a:lnSpc>
                        <a:tabLst/>
                      </a:pPr>
                      <a:r>
                        <a:rPr sz="10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判官和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policy</a:t>
                      </a:r>
                      <a:r>
                        <a:rPr sz="10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统一一和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Anthropic</a:t>
                      </a:r>
                      <a:r>
                        <a:rPr sz="10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Constitutional</a:t>
                      </a:r>
                      <a:r>
                        <a:rPr sz="10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  <a:r>
                        <a:rPr sz="10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的方向一致</a:t>
                      </a:r>
                      <a:r>
                        <a:rPr sz="1000" kern="0" spc="1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r>
                        <a:rPr sz="1000" kern="0" spc="-2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000" kern="0" spc="1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reward</a:t>
                      </a:r>
                      <a:r>
                        <a:rPr sz="1000" kern="0" spc="1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hacking</a:t>
                      </a:r>
                      <a:r>
                        <a:rPr sz="1000" kern="0" spc="1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558" name="textbox 1558"/>
          <p:cNvSpPr/>
          <p:nvPr/>
        </p:nvSpPr>
        <p:spPr>
          <a:xfrm>
            <a:off x="1115441" y="1494745"/>
            <a:ext cx="12404090" cy="1044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0205" algn="l" rtl="0" eaLnBrk="0">
              <a:lnSpc>
                <a:spcPct val="86000"/>
              </a:lnSpc>
              <a:tabLst>
                <a:tab pos="4889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	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评 判 与执 行</a:t>
            </a:r>
            <a:r>
              <a:rPr sz="900" kern="0" spc="1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+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579"/>
              </a:lnSpc>
              <a:spcBef>
                <a:spcPts val="2"/>
              </a:spcBef>
              <a:tabLst/>
            </a:pPr>
            <a:r>
              <a:rPr sz="4500" b="1" kern="0" spc="-1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Agent RL</a:t>
            </a:r>
            <a:r>
              <a:rPr sz="4500" b="1" kern="0" spc="4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500" b="1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的两个地基：</a:t>
            </a:r>
            <a:r>
              <a:rPr sz="4500" kern="0" spc="-10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600" b="1" i="1" kern="0" spc="-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裁判</a:t>
            </a:r>
            <a:r>
              <a:rPr sz="4600" b="1" i="1" kern="0" spc="-1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能思考</a:t>
            </a:r>
            <a:r>
              <a:rPr sz="4600" kern="0" spc="-4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i="1" kern="0" spc="-1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4500" b="1" i="1" kern="0" spc="3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600" b="1" i="1" kern="0" spc="-1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执行有产房</a:t>
            </a:r>
            <a:endParaRPr sz="4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560" name="picture 15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562" name="textbox 1562"/>
          <p:cNvSpPr/>
          <p:nvPr/>
        </p:nvSpPr>
        <p:spPr>
          <a:xfrm>
            <a:off x="1137358" y="8632133"/>
            <a:ext cx="14222730" cy="541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6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660" indent="-60960" algn="l" rtl="0" eaLnBrk="0">
              <a:lnSpc>
                <a:spcPct val="123000"/>
              </a:lnSpc>
              <a:tabLst/>
            </a:pPr>
            <a:r>
              <a:rPr sz="1400" b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开源世界第一个工业级</a:t>
            </a:r>
            <a:r>
              <a:rPr sz="14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agent infra</a:t>
            </a:r>
            <a:r>
              <a:rPr sz="1400" b="1" kern="0" spc="-1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400" b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4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没有生产级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sandbox</a:t>
            </a:r>
            <a:r>
              <a:rPr sz="1400" i="1" kern="0" spc="-1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agent RL</a:t>
            </a:r>
            <a:r>
              <a:rPr sz="1400" i="1" kern="0" spc="2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基本没法</a:t>
            </a:r>
            <a:r>
              <a:rPr sz="1400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scale——OpenAI</a:t>
            </a:r>
            <a:r>
              <a:rPr sz="1400" i="1" kern="0" spc="1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1400" kern="0" spc="-1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codex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Anthropic</a:t>
            </a:r>
            <a:r>
              <a:rPr sz="1400" i="1" kern="0" spc="2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1400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Claude Code 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都建在类似基础设施上。</a:t>
            </a:r>
            <a:r>
              <a:rPr sz="1400" kern="0" spc="-3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  </a:t>
            </a:r>
            <a:r>
              <a:rPr sz="1400" i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</a:t>
            </a:r>
            <a:r>
              <a:rPr sz="1400" i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这套</a:t>
            </a:r>
            <a:r>
              <a:rPr sz="1400" i="1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东西写进技术报告，给复</a:t>
            </a:r>
            <a:r>
              <a:rPr sz="1400" i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现留了条路。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graphicFrame>
        <p:nvGraphicFramePr>
          <p:cNvPr id="1564" name="table 1564"/>
          <p:cNvGraphicFramePr>
            <a:graphicFrameLocks noGrp="1"/>
          </p:cNvGraphicFramePr>
          <p:nvPr/>
        </p:nvGraphicFramePr>
        <p:xfrm>
          <a:off x="8229600" y="3800475"/>
          <a:ext cx="4391025" cy="1066800"/>
        </p:xfrm>
        <a:graphic>
          <a:graphicData uri="http://schemas.openxmlformats.org/drawingml/2006/table">
            <a:tbl>
              <a:tblPr/>
              <a:tblGrid>
                <a:gridCol w="4391025"/>
              </a:tblGrid>
              <a:tr h="1057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7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Function Ca</a:t>
                      </a: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ll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200660" algn="l" rtl="0" eaLnBrk="0">
                        <a:lnSpc>
                          <a:spcPct val="84000"/>
                        </a:lnSpc>
                        <a:spcBef>
                          <a:spcPts val="681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预热容器池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无状态调用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r>
                        <a:rPr sz="900" kern="0" spc="-1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消除冷启动。</a:t>
                      </a:r>
                      <a:r>
                        <a:rPr sz="900" kern="0" spc="-2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最快一档。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66" name="table 1566"/>
          <p:cNvGraphicFramePr>
            <a:graphicFrameLocks noGrp="1"/>
          </p:cNvGraphicFramePr>
          <p:nvPr/>
        </p:nvGraphicFramePr>
        <p:xfrm>
          <a:off x="12753975" y="3800475"/>
          <a:ext cx="4391025" cy="1066800"/>
        </p:xfrm>
        <a:graphic>
          <a:graphicData uri="http://schemas.openxmlformats.org/drawingml/2006/table">
            <a:tbl>
              <a:tblPr/>
              <a:tblGrid>
                <a:gridCol w="4391025"/>
              </a:tblGrid>
              <a:tr h="1057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105" algn="l" rtl="0" eaLnBrk="0">
                        <a:lnSpc>
                          <a:spcPct val="7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Container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203200" algn="l" rtl="0" eaLnBrk="0">
                        <a:lnSpc>
                          <a:spcPts val="686"/>
                        </a:lnSpc>
                        <a:spcBef>
                          <a:spcPts val="684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Docker</a:t>
                      </a:r>
                      <a:r>
                        <a:rPr sz="900" kern="0" spc="1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+</a:t>
                      </a:r>
                      <a:r>
                        <a:rPr sz="900" kern="0" spc="1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EROFS</a:t>
                      </a:r>
                      <a:endParaRPr sz="9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930" algn="l" rtl="0" eaLnBrk="0">
                        <a:lnSpc>
                          <a:spcPct val="8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标准任务，</a:t>
                      </a:r>
                      <a:r>
                        <a:rPr sz="900" kern="0" spc="-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镜像按需加载。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68" name="table 1568"/>
          <p:cNvGraphicFramePr>
            <a:graphicFrameLocks noGrp="1"/>
          </p:cNvGraphicFramePr>
          <p:nvPr/>
        </p:nvGraphicFramePr>
        <p:xfrm>
          <a:off x="8229600" y="5000625"/>
          <a:ext cx="4391025" cy="1038225"/>
        </p:xfrm>
        <a:graphic>
          <a:graphicData uri="http://schemas.openxmlformats.org/drawingml/2006/table">
            <a:tbl>
              <a:tblPr/>
              <a:tblGrid>
                <a:gridCol w="4391025"/>
              </a:tblGrid>
              <a:tr h="1028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66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microVM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201295" algn="l" rtl="0" eaLnBrk="0">
                        <a:lnSpc>
                          <a:spcPct val="66000"/>
                        </a:lnSpc>
                        <a:spcBef>
                          <a:spcPts val="655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Firecrack</a:t>
                      </a:r>
                      <a:r>
                        <a:rPr sz="9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er</a:t>
                      </a:r>
                      <a:endParaRPr sz="9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16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高密度安全隔离，</a:t>
                      </a:r>
                      <a:r>
                        <a:rPr sz="900" kern="0" spc="-1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overlaybd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快照。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70" name="table 1570"/>
          <p:cNvGraphicFramePr>
            <a:graphicFrameLocks noGrp="1"/>
          </p:cNvGraphicFramePr>
          <p:nvPr/>
        </p:nvGraphicFramePr>
        <p:xfrm>
          <a:off x="12753975" y="5000625"/>
          <a:ext cx="4391025" cy="1038225"/>
        </p:xfrm>
        <a:graphic>
          <a:graphicData uri="http://schemas.openxmlformats.org/drawingml/2006/table">
            <a:tbl>
              <a:tblPr/>
              <a:tblGrid>
                <a:gridCol w="4391025"/>
              </a:tblGrid>
              <a:tr h="1028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fullVM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201930" algn="l" rtl="0" eaLnBrk="0">
                        <a:lnSpc>
                          <a:spcPts val="671"/>
                        </a:lnSpc>
                        <a:spcBef>
                          <a:spcPts val="730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QEMU</a:t>
                      </a:r>
                      <a:endParaRPr sz="9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930" algn="l" rtl="0" eaLnBrk="0">
                        <a:lnSpc>
                          <a:spcPts val="116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任意操作系统，</a:t>
                      </a:r>
                      <a:r>
                        <a:rPr sz="900" kern="0" spc="-1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给最复杂的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72" name="textbox 1572"/>
          <p:cNvSpPr/>
          <p:nvPr/>
        </p:nvSpPr>
        <p:spPr>
          <a:xfrm>
            <a:off x="8222322" y="3178079"/>
            <a:ext cx="8914130" cy="309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200" b="1" kern="0" spc="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DSec</a:t>
            </a:r>
            <a:r>
              <a:rPr sz="2200" kern="0" spc="-620" dirty="0">
                <a:solidFill>
                  <a:srgbClr val="4D6BFE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</a:t>
            </a: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Elastic</a:t>
            </a: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Compute</a:t>
            </a:r>
            <a:r>
              <a:rPr sz="22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                </a:t>
            </a:r>
            <a:r>
              <a:rPr sz="2200" b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  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B D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EC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·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HO N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574" name="textbox 1574"/>
          <p:cNvSpPr/>
          <p:nvPr/>
        </p:nvSpPr>
        <p:spPr>
          <a:xfrm>
            <a:off x="8391439" y="6433972"/>
            <a:ext cx="1441450" cy="600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5" algn="l" rtl="0" eaLnBrk="0">
              <a:lnSpc>
                <a:spcPct val="85000"/>
              </a:lnSpc>
              <a:tabLst/>
            </a:pPr>
            <a:r>
              <a:rPr sz="2800" b="1" kern="0" spc="-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几十万</a:t>
            </a:r>
            <a:endParaRPr sz="28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spcBef>
                <a:spcPts val="3"/>
              </a:spcBef>
              <a:tabLst/>
            </a:pPr>
            <a:r>
              <a:rPr sz="9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单集群并发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sandbox</a:t>
            </a:r>
            <a:r>
              <a:rPr sz="9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实例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576" name="textbox 1576"/>
          <p:cNvSpPr/>
          <p:nvPr/>
        </p:nvSpPr>
        <p:spPr>
          <a:xfrm>
            <a:off x="12936279" y="6428905"/>
            <a:ext cx="1111885" cy="605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5000"/>
              </a:lnSpc>
              <a:tabLst/>
            </a:pPr>
            <a:r>
              <a:rPr sz="2800" b="1" kern="0" spc="-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毫秒级</a:t>
            </a:r>
            <a:endParaRPr sz="28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spcBef>
                <a:spcPts val="2"/>
              </a:spcBef>
              <a:tabLst/>
            </a:pP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overlaybd</a:t>
            </a:r>
            <a:r>
              <a:rPr sz="900" kern="0" spc="1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快照恢复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578" name="textbox 1578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580" name="picture 15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582" name="picture 158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584" name="textbox 1584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731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586" name="textbox 1586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588" name="textbox 1588"/>
          <p:cNvSpPr/>
          <p:nvPr/>
        </p:nvSpPr>
        <p:spPr>
          <a:xfrm>
            <a:off x="15793157" y="517118"/>
            <a:ext cx="134302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0 6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G R M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S EC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590" name="picture 15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229600" y="3590925"/>
            <a:ext cx="8915400" cy="19050"/>
          </a:xfrm>
          <a:prstGeom prst="rect">
            <a:avLst/>
          </a:prstGeom>
        </p:spPr>
      </p:pic>
      <p:pic>
        <p:nvPicPr>
          <p:cNvPr id="1592" name="picture 15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1594" name="picture 15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8448675"/>
            <a:ext cx="142875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6" name="table 1596"/>
          <p:cNvGraphicFramePr>
            <a:graphicFrameLocks noGrp="1"/>
          </p:cNvGraphicFramePr>
          <p:nvPr/>
        </p:nvGraphicFramePr>
        <p:xfrm>
          <a:off x="1143000" y="4391025"/>
          <a:ext cx="16002000" cy="2494915"/>
        </p:xfrm>
        <a:graphic>
          <a:graphicData uri="http://schemas.openxmlformats.org/drawingml/2006/table">
            <a:tbl>
              <a:tblPr/>
              <a:tblGrid>
                <a:gridCol w="1715135"/>
                <a:gridCol w="5400040"/>
                <a:gridCol w="2038350"/>
                <a:gridCol w="6848475"/>
              </a:tblGrid>
              <a:tr h="6330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ts val="186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多任务冲突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215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联合优化易打架，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reward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权重无止境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拉锯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4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352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物理隔离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，专家之间互不干扰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9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RL </a:t>
                      </a: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稳定性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102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学生直接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RL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r>
                        <a:rPr sz="1200" kern="0" spc="-2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曲线抖、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崩 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run </a:t>
                      </a:r>
                      <a:r>
                        <a:rPr sz="12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频繁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2409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RL </a:t>
                      </a: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限定在专家阶段，</a:t>
                      </a:r>
                      <a:r>
                        <a:rPr sz="12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学生只做蒸馏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ts val="186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扩展新能力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215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要重调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reward balance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，可能影响已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有能力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884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加一个专家</a:t>
                      </a: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就行</a:t>
                      </a:r>
                      <a:r>
                        <a:rPr sz="1200" kern="0" spc="-2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，路径清</a:t>
                      </a:r>
                      <a:r>
                        <a:rPr sz="12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晰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5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" algn="l" rtl="0" eaLnBrk="0">
                        <a:lnSpc>
                          <a:spcPts val="186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基础设施门槛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0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一般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4790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极高：</a:t>
                      </a:r>
                      <a:r>
                        <a:rPr sz="12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full</a:t>
                      </a:r>
                      <a:r>
                        <a:rPr sz="12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2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vocab</a:t>
                      </a:r>
                      <a:r>
                        <a:rPr sz="12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蒸馏 </a:t>
                      </a:r>
                      <a:r>
                        <a:rPr sz="12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 </a:t>
                      </a:r>
                      <a:r>
                        <a:rPr sz="12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</a:t>
                      </a:r>
                      <a:r>
                        <a:rPr sz="1200" kern="0" spc="-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teacher</a:t>
                      </a:r>
                      <a:r>
                        <a:rPr sz="12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调度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98" name="textbox 1598"/>
          <p:cNvSpPr/>
          <p:nvPr/>
        </p:nvSpPr>
        <p:spPr>
          <a:xfrm>
            <a:off x="1143000" y="7610475"/>
            <a:ext cx="16002000" cy="1533525"/>
          </a:xfrm>
          <a:prstGeom prst="rect">
            <a:avLst/>
          </a:prstGeom>
          <a:solidFill>
            <a:srgbClr val="4D6B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6390" algn="l" rtl="0" eaLnBrk="0">
              <a:lnSpc>
                <a:spcPct val="85000"/>
              </a:lnSpc>
              <a:tabLst/>
            </a:pPr>
            <a:r>
              <a:rPr sz="900" kern="0" spc="160" dirty="0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PingFang SC"/>
              </a:rPr>
              <a:t>作者观点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33375" indent="2540" algn="l" rtl="0" eaLnBrk="0">
              <a:lnSpc>
                <a:spcPct val="123000"/>
              </a:lnSpc>
              <a:spcBef>
                <a:spcPts val="445"/>
              </a:spcBef>
              <a:tabLst/>
            </a:pP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 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RL</a:t>
            </a:r>
            <a:r>
              <a:rPr sz="2100" kern="0" spc="180" dirty="0">
                <a:solidFill>
                  <a:srgbClr val="FFFFFF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的不稳定性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用工程手段绕过：与其让万能模型在复杂</a:t>
            </a:r>
            <a:r>
              <a:rPr sz="2100" kern="0" spc="-1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reward landscape 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上挣扎，不如让若干专精模型各自在简单</a:t>
            </a:r>
            <a:r>
              <a:rPr sz="2100" kern="0" spc="-1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landscape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</a:t>
            </a:r>
            <a:r>
              <a:rPr sz="2100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上走稳。</a:t>
            </a:r>
            <a:r>
              <a:rPr sz="2100" kern="0" spc="-3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i="1" kern="0" spc="-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这比任何架构创新都更深刻。</a:t>
            </a:r>
            <a:endParaRPr sz="2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600" name="textbox 1600"/>
          <p:cNvSpPr/>
          <p:nvPr/>
        </p:nvSpPr>
        <p:spPr>
          <a:xfrm>
            <a:off x="1112469" y="1494002"/>
            <a:ext cx="9491980" cy="1647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3380" algn="l" rtl="0" eaLnBrk="0">
              <a:lnSpc>
                <a:spcPct val="87000"/>
              </a:lnSpc>
              <a:tabLst>
                <a:tab pos="490219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	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小 结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为 什 么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说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范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怯</a:t>
            </a:r>
            <a:r>
              <a:rPr sz="9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革 命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ts val="6696"/>
              </a:lnSpc>
              <a:spcBef>
                <a:spcPts val="1421"/>
              </a:spcBef>
              <a:tabLst/>
            </a:pPr>
            <a:r>
              <a:rPr sz="5400" b="1" i="1" kern="0" spc="-1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RL</a:t>
            </a:r>
            <a:r>
              <a:rPr sz="5400" b="1" i="1" kern="0" spc="9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5500" b="1" i="1" kern="0" spc="-1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的角色</a:t>
            </a:r>
            <a:r>
              <a:rPr sz="5400" b="1" kern="0" spc="-1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被重新定位</a:t>
            </a:r>
            <a:r>
              <a:rPr sz="5400" b="1" kern="0" spc="-1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了</a:t>
            </a:r>
            <a:endParaRPr sz="54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83185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800" i="1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以前</a:t>
            </a:r>
            <a:r>
              <a:rPr sz="1800" kern="0" spc="-2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i="1" kern="0" spc="-5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RL  </a:t>
            </a:r>
            <a:r>
              <a:rPr sz="1800" i="1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是「让最终模型对齐人类偏好」的最后一公里，现在</a:t>
            </a:r>
            <a:r>
              <a:rPr sz="1800" kern="0" spc="-2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i="1" kern="0" spc="-5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RL  </a:t>
            </a:r>
            <a:r>
              <a:rPr sz="1800" i="1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是「训练专</a:t>
            </a:r>
            <a:r>
              <a:rPr sz="1800" i="1" kern="0" spc="-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家」的中间步骤。</a:t>
            </a:r>
            <a:endParaRPr sz="18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602" name="picture 16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604" name="textbox 160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606" name="picture 16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608" name="picture 160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610" name="textbox 1610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477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612" name="textbox 1612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614" name="textbox 1614"/>
          <p:cNvSpPr/>
          <p:nvPr/>
        </p:nvSpPr>
        <p:spPr>
          <a:xfrm>
            <a:off x="15434481" y="517118"/>
            <a:ext cx="170180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0 6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PA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RA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IG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FT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616" name="picture 16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618" name="textbox 1618"/>
          <p:cNvSpPr/>
          <p:nvPr/>
        </p:nvSpPr>
        <p:spPr>
          <a:xfrm>
            <a:off x="3756871" y="4124236"/>
            <a:ext cx="899160" cy="127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4000"/>
              </a:lnSpc>
              <a:tabLst/>
            </a:pP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 T   +   R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620" name="textbox 1620"/>
          <p:cNvSpPr/>
          <p:nvPr/>
        </p:nvSpPr>
        <p:spPr>
          <a:xfrm>
            <a:off x="10284130" y="4124236"/>
            <a:ext cx="787400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7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800" kern="0" spc="1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 S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622" name="textbox 1622"/>
          <p:cNvSpPr/>
          <p:nvPr/>
        </p:nvSpPr>
        <p:spPr>
          <a:xfrm>
            <a:off x="11391622" y="4112806"/>
            <a:ext cx="412750" cy="140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900" kern="0" spc="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两阶段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624" name="textbox 1624"/>
          <p:cNvSpPr/>
          <p:nvPr/>
        </p:nvSpPr>
        <p:spPr>
          <a:xfrm>
            <a:off x="3419386" y="4111777"/>
            <a:ext cx="276225" cy="142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传统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626" name="textbox 1626"/>
          <p:cNvSpPr/>
          <p:nvPr/>
        </p:nvSpPr>
        <p:spPr>
          <a:xfrm>
            <a:off x="1134986" y="4112006"/>
            <a:ext cx="274955" cy="141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维度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628" name="textbox 1628"/>
          <p:cNvSpPr/>
          <p:nvPr/>
        </p:nvSpPr>
        <p:spPr>
          <a:xfrm>
            <a:off x="11130249" y="4098061"/>
            <a:ext cx="20066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textbox 1630"/>
          <p:cNvSpPr/>
          <p:nvPr/>
        </p:nvSpPr>
        <p:spPr>
          <a:xfrm>
            <a:off x="1135100" y="1793316"/>
            <a:ext cx="13695045" cy="1628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778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5400" b="1" kern="0" spc="-1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 </a:t>
            </a:r>
            <a:r>
              <a:rPr sz="54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招的是</a:t>
            </a:r>
            <a:r>
              <a:rPr sz="5500" b="1" i="1" kern="0" spc="-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竞赛获奖选手</a:t>
            </a:r>
            <a:r>
              <a:rPr sz="5400" b="1" kern="0" spc="-1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54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所以模型</a:t>
            </a:r>
            <a:r>
              <a:rPr sz="5400" b="1" kern="0" spc="-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也像竞赛选手</a:t>
            </a:r>
            <a:endParaRPr sz="5400" dirty="0">
              <a:latin typeface="PingFang SC"/>
              <a:ea typeface="PingFang SC"/>
              <a:cs typeface="PingFang SC"/>
            </a:endParaRPr>
          </a:p>
        </p:txBody>
      </p:sp>
      <p:graphicFrame>
        <p:nvGraphicFramePr>
          <p:cNvPr id="1632" name="table 1632"/>
          <p:cNvGraphicFramePr>
            <a:graphicFrameLocks noGrp="1"/>
          </p:cNvGraphicFramePr>
          <p:nvPr/>
        </p:nvGraphicFramePr>
        <p:xfrm>
          <a:off x="1143000" y="4095750"/>
          <a:ext cx="5105400" cy="3657600"/>
        </p:xfrm>
        <a:graphic>
          <a:graphicData uri="http://schemas.openxmlformats.org/drawingml/2006/table">
            <a:tbl>
              <a:tblPr/>
              <a:tblGrid>
                <a:gridCol w="5105400"/>
              </a:tblGrid>
              <a:tr h="3648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877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0 1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50" algn="l" rtl="0" eaLnBrk="0">
                        <a:lnSpc>
                          <a:spcPts val="4092"/>
                        </a:lnSpc>
                        <a:spcBef>
                          <a:spcPts val="1344"/>
                        </a:spcBef>
                        <a:tabLst/>
                      </a:pPr>
                      <a:r>
                        <a:rPr sz="3300" b="1" kern="0" spc="-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罗福莉</a:t>
                      </a:r>
                      <a:endParaRPr sz="33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46075" algn="l" rtl="0" eaLnBrk="0">
                        <a:lnSpc>
                          <a:spcPct val="85000"/>
                        </a:lnSpc>
                        <a:spcBef>
                          <a:spcPts val="465"/>
                        </a:spcBef>
                        <a:tabLst/>
                      </a:pPr>
                      <a:r>
                        <a:rPr sz="12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MoE</a:t>
                      </a:r>
                      <a:r>
                        <a:rPr sz="1200" i="1" kern="0" spc="1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3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核心研究员</a:t>
                      </a:r>
                      <a:endParaRPr sz="13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0045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北京大学 </a:t>
                      </a:r>
                      <a:r>
                        <a:rPr sz="12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计算机硕士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0850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「</a:t>
                      </a:r>
                      <a:r>
                        <a:rPr sz="1200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95 </a:t>
                      </a:r>
                      <a:r>
                        <a:rPr sz="1200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 </a:t>
                      </a:r>
                      <a:r>
                        <a:rPr sz="1200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 </a:t>
                      </a:r>
                      <a:r>
                        <a:rPr sz="1200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天才少女J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34" name="table 1634"/>
          <p:cNvGraphicFramePr>
            <a:graphicFrameLocks noGrp="1"/>
          </p:cNvGraphicFramePr>
          <p:nvPr/>
        </p:nvGraphicFramePr>
        <p:xfrm>
          <a:off x="6591300" y="4095750"/>
          <a:ext cx="5105400" cy="365760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5105400"/>
              </a:tblGrid>
              <a:tr h="3648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877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0 2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0205" algn="l" rtl="0" eaLnBrk="0">
                        <a:lnSpc>
                          <a:spcPts val="4092"/>
                        </a:lnSpc>
                        <a:spcBef>
                          <a:spcPts val="1344"/>
                        </a:spcBef>
                        <a:tabLst/>
                      </a:pPr>
                      <a:r>
                        <a:rPr sz="3300" b="1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高华佐</a:t>
                      </a:r>
                      <a:endParaRPr sz="33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46075" algn="l" rtl="0" eaLnBrk="0">
                        <a:lnSpc>
                          <a:spcPct val="85000"/>
                        </a:lnSpc>
                        <a:spcBef>
                          <a:spcPts val="467"/>
                        </a:spcBef>
                        <a:tabLst/>
                      </a:pPr>
                      <a:r>
                        <a:rPr sz="12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MLA</a:t>
                      </a:r>
                      <a:r>
                        <a:rPr sz="1200" i="1" kern="0" spc="1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300" i="1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核心作者</a:t>
                      </a:r>
                      <a:endParaRPr sz="13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7505" algn="l" rtl="0" eaLnBrk="0">
                        <a:lnSpc>
                          <a:spcPts val="1488"/>
                        </a:lnSpc>
                        <a:spcBef>
                          <a:spcPts val="365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物理奥赛 </a:t>
                      </a:r>
                      <a:r>
                        <a:rPr sz="12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金牌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576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Mesh-TensorFlow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贡献者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36" name="table 1636"/>
          <p:cNvGraphicFramePr>
            <a:graphicFrameLocks noGrp="1"/>
          </p:cNvGraphicFramePr>
          <p:nvPr/>
        </p:nvGraphicFramePr>
        <p:xfrm>
          <a:off x="12039600" y="4095750"/>
          <a:ext cx="5105400" cy="3657600"/>
        </p:xfrm>
        <a:graphic>
          <a:graphicData uri="http://schemas.openxmlformats.org/drawingml/2006/table">
            <a:tbl>
              <a:tblPr/>
              <a:tblGrid>
                <a:gridCol w="5105400"/>
              </a:tblGrid>
              <a:tr h="3648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877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1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0 3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4092"/>
                        </a:lnSpc>
                        <a:spcBef>
                          <a:spcPts val="1344"/>
                        </a:spcBef>
                        <a:tabLst/>
                      </a:pPr>
                      <a:r>
                        <a:rPr sz="33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邵智宏</a:t>
                      </a:r>
                      <a:endParaRPr sz="33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60045" algn="l" rtl="0" eaLnBrk="0">
                        <a:lnSpc>
                          <a:spcPct val="85000"/>
                        </a:lnSpc>
                        <a:spcBef>
                          <a:spcPts val="467"/>
                        </a:spcBef>
                        <a:tabLst/>
                      </a:pPr>
                      <a:r>
                        <a:rPr sz="1200" i="1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GRPO</a:t>
                      </a:r>
                      <a:r>
                        <a:rPr sz="1200" i="1" kern="0" spc="2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300" i="1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算法提出者</a:t>
                      </a:r>
                      <a:endParaRPr sz="13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0680" algn="l" rtl="0" eaLnBrk="0">
                        <a:lnSpc>
                          <a:spcPts val="1488"/>
                        </a:lnSpc>
                        <a:spcBef>
                          <a:spcPts val="36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清华大学 </a:t>
                      </a:r>
                      <a:r>
                        <a:rPr sz="12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交互式信息</a:t>
                      </a:r>
                      <a:r>
                        <a:rPr sz="12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PhD</a:t>
                      </a:r>
                      <a:endParaRPr sz="12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068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清华奖学金获得者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38" name="textbox 1638"/>
          <p:cNvSpPr/>
          <p:nvPr/>
        </p:nvSpPr>
        <p:spPr>
          <a:xfrm>
            <a:off x="1130300" y="1479143"/>
            <a:ext cx="4404995" cy="2073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 7   ·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团 队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基 因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spcBef>
                <a:spcPts val="3"/>
              </a:spcBef>
              <a:tabLst/>
            </a:pPr>
            <a:r>
              <a:rPr sz="1700" i="1" kern="0" spc="-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招谁像谁。</a:t>
            </a:r>
            <a:r>
              <a:rPr sz="1700" kern="0" spc="-4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i="1" kern="0" spc="-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一家公司的模型，长得像它的</a:t>
            </a:r>
            <a:r>
              <a:rPr sz="1700" i="1" kern="0" spc="-1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员工。</a:t>
            </a:r>
            <a:endParaRPr sz="17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640" name="picture 16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642" name="textbox 1642"/>
          <p:cNvSpPr/>
          <p:nvPr/>
        </p:nvSpPr>
        <p:spPr>
          <a:xfrm>
            <a:off x="1136777" y="8654669"/>
            <a:ext cx="14250036" cy="557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45" rIns="0" bIns="0"/>
          <a:lstStyle/>
          <a:p>
            <a:pPr marL="12700" indent="1905" algn="l" rtl="0" eaLnBrk="0">
              <a:lnSpc>
                <a:spcPct val="119000"/>
              </a:lnSpc>
              <a:spcBef>
                <a:spcPts val="6"/>
              </a:spcBef>
              <a:tabLst/>
            </a:pP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公开可查的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研究员里</a:t>
            </a:r>
            <a:r>
              <a:rPr sz="1500" kern="0" spc="-2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竞赛金牌、清北、</a:t>
            </a:r>
            <a:r>
              <a:rPr sz="1500" kern="0" spc="-3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中科院出身是默认配置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。招这样的人</a:t>
            </a:r>
            <a:r>
              <a:rPr sz="1500" kern="0" spc="-2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模型就会在「标准化、有明确答案J  的任务上表现最好一就像理科状元，命题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作文答得漂亮。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graphicFrame>
        <p:nvGraphicFramePr>
          <p:cNvPr id="1644" name="table 1644"/>
          <p:cNvGraphicFramePr>
            <a:graphicFrameLocks noGrp="1"/>
          </p:cNvGraphicFramePr>
          <p:nvPr/>
        </p:nvGraphicFramePr>
        <p:xfrm>
          <a:off x="1495425" y="6172200"/>
          <a:ext cx="4400550" cy="857250"/>
        </p:xfrm>
        <a:graphic>
          <a:graphicData uri="http://schemas.openxmlformats.org/drawingml/2006/table">
            <a:tbl>
              <a:tblPr/>
              <a:tblGrid>
                <a:gridCol w="4400550"/>
              </a:tblGrid>
              <a:tr h="4235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本科 北京师范大学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37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" algn="l" rtl="0" eaLnBrk="0">
                        <a:lnSpc>
                          <a:spcPts val="1488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ACL </a:t>
                      </a: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发表 </a:t>
                      </a:r>
                      <a:r>
                        <a:rPr sz="12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 </a:t>
                      </a:r>
                      <a:r>
                        <a:rPr sz="12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篇一作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46" name="table 1646"/>
          <p:cNvGraphicFramePr>
            <a:graphicFrameLocks noGrp="1"/>
          </p:cNvGraphicFramePr>
          <p:nvPr/>
        </p:nvGraphicFramePr>
        <p:xfrm>
          <a:off x="6943725" y="6172200"/>
          <a:ext cx="4400550" cy="857250"/>
        </p:xfrm>
        <a:graphic>
          <a:graphicData uri="http://schemas.openxmlformats.org/drawingml/2006/table">
            <a:tbl>
              <a:tblPr/>
              <a:tblGrid>
                <a:gridCol w="4400550"/>
              </a:tblGrid>
              <a:tr h="4235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北京大学 物理系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37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DeepSeek-V2 MLA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提出者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48" name="table 1648"/>
          <p:cNvGraphicFramePr>
            <a:graphicFrameLocks noGrp="1"/>
          </p:cNvGraphicFramePr>
          <p:nvPr/>
        </p:nvGraphicFramePr>
        <p:xfrm>
          <a:off x="12392025" y="6172200"/>
          <a:ext cx="4400550" cy="857250"/>
        </p:xfrm>
        <a:graphic>
          <a:graphicData uri="http://schemas.openxmlformats.org/drawingml/2006/table">
            <a:tbl>
              <a:tblPr/>
              <a:tblGrid>
                <a:gridCol w="4400550"/>
              </a:tblGrid>
              <a:tr h="4235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</a:t>
                      </a:r>
                      <a:r>
                        <a:rPr sz="1200" kern="0" spc="-2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Math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一作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37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GRPO </a:t>
                      </a:r>
                      <a:r>
                        <a:rPr sz="12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方法被 </a:t>
                      </a:r>
                      <a:r>
                        <a:rPr sz="12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OpenAI </a:t>
                      </a:r>
                      <a:r>
                        <a:rPr sz="12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借用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50" name="textbox 165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652" name="picture 16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62" name="group 62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654" name="picture 16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656" name="textbox 165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2864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-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  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658" name="textbox 1658"/>
          <p:cNvSpPr/>
          <p:nvPr/>
        </p:nvSpPr>
        <p:spPr>
          <a:xfrm>
            <a:off x="1134510" y="9642069"/>
            <a:ext cx="19310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660" name="picture 16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8401050"/>
            <a:ext cx="14287500" cy="19050"/>
          </a:xfrm>
          <a:prstGeom prst="rect">
            <a:avLst/>
          </a:prstGeom>
        </p:spPr>
      </p:pic>
      <p:pic>
        <p:nvPicPr>
          <p:cNvPr id="1662" name="picture 16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664" name="textbox 1664"/>
          <p:cNvSpPr/>
          <p:nvPr/>
        </p:nvSpPr>
        <p:spPr>
          <a:xfrm>
            <a:off x="16195588" y="517118"/>
            <a:ext cx="9404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box 1666"/>
          <p:cNvSpPr/>
          <p:nvPr/>
        </p:nvSpPr>
        <p:spPr>
          <a:xfrm>
            <a:off x="1196975" y="4002658"/>
            <a:ext cx="6570980" cy="2438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21000" b="1" kern="0" spc="-7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3206</a:t>
            </a:r>
            <a:endParaRPr sz="21000" dirty="0">
              <a:latin typeface="Georgia"/>
              <a:ea typeface="Georgia"/>
              <a:cs typeface="Georgia"/>
            </a:endParaRPr>
          </a:p>
        </p:txBody>
      </p:sp>
      <p:graphicFrame>
        <p:nvGraphicFramePr>
          <p:cNvPr id="1668" name="table 1668"/>
          <p:cNvGraphicFramePr>
            <a:graphicFrameLocks noGrp="1"/>
          </p:cNvGraphicFramePr>
          <p:nvPr/>
        </p:nvGraphicFramePr>
        <p:xfrm>
          <a:off x="11430000" y="4171950"/>
          <a:ext cx="5714364" cy="2637790"/>
        </p:xfrm>
        <a:graphic>
          <a:graphicData uri="http://schemas.openxmlformats.org/drawingml/2006/table">
            <a:tbl>
              <a:tblPr/>
              <a:tblGrid>
                <a:gridCol w="3392805"/>
                <a:gridCol w="2321560"/>
              </a:tblGrid>
              <a:tr h="8140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ts val="161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DeepSeek-V4-Pro-M</a:t>
                      </a:r>
                      <a:r>
                        <a:rPr sz="13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ax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1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3206</a:t>
                      </a:r>
                      <a:endParaRPr sz="2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61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GPT</a:t>
                      </a:r>
                      <a:r>
                        <a:rPr sz="13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-5.4-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xHigh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6000"/>
                        </a:lnSpc>
                        <a:tabLst/>
                      </a:pPr>
                      <a:r>
                        <a:rPr sz="2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3168</a:t>
                      </a:r>
                      <a:endParaRPr sz="2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61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Gemini 3.1</a:t>
                      </a:r>
                      <a:r>
                        <a:rPr sz="1300" kern="0" spc="2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</a:t>
                      </a:r>
                      <a:r>
                        <a:rPr sz="1300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56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3052</a:t>
                      </a:r>
                      <a:endParaRPr sz="2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ts val="161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Claude</a:t>
                      </a: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Opus</a:t>
                      </a:r>
                      <a:r>
                        <a:rPr sz="13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4.6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260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100" b="1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未公开</a:t>
                      </a:r>
                      <a:endParaRPr sz="21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70" name="textbox 1670"/>
          <p:cNvSpPr/>
          <p:nvPr/>
        </p:nvSpPr>
        <p:spPr>
          <a:xfrm>
            <a:off x="1130300" y="1479143"/>
            <a:ext cx="13324205" cy="1100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 7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竞 赛 编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程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3655" algn="l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Codeforces Rating </a:t>
            </a:r>
            <a:r>
              <a:rPr sz="4800" b="1" i="1" kern="0" spc="-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3206</a:t>
            </a:r>
            <a:r>
              <a:rPr sz="4800" b="1" kern="0" spc="-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48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开源首次反超闭源</a:t>
            </a:r>
            <a:endParaRPr sz="48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672" name="picture 16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674" name="textbox 1674"/>
          <p:cNvSpPr/>
          <p:nvPr/>
        </p:nvSpPr>
        <p:spPr>
          <a:xfrm>
            <a:off x="8029586" y="5731408"/>
            <a:ext cx="2769235" cy="1175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68"/>
              </a:lnSpc>
              <a:tabLst/>
            </a:pPr>
            <a:r>
              <a:rPr sz="16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CODE</a:t>
            </a:r>
            <a:r>
              <a:rPr sz="1600" kern="0" spc="-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FORCES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1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RATING</a:t>
            </a:r>
            <a:endParaRPr sz="1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1597"/>
              </a:spcBef>
              <a:tabLst/>
            </a:pPr>
            <a:r>
              <a:rPr sz="2400" i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相当于全球真人选手</a:t>
            </a:r>
            <a:endParaRPr sz="2400" dirty="0">
              <a:latin typeface="PingFang SC"/>
              <a:ea typeface="PingFang SC"/>
              <a:cs typeface="PingFang SC"/>
            </a:endParaRPr>
          </a:p>
          <a:p>
            <a:pPr marL="40640" algn="l" rtl="0" eaLnBrk="0">
              <a:lnSpc>
                <a:spcPts val="3152"/>
              </a:lnSpc>
              <a:tabLst/>
            </a:pPr>
            <a:r>
              <a:rPr sz="2400" i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第</a:t>
            </a:r>
            <a:r>
              <a:rPr sz="2400" kern="0" spc="-3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400" b="1" i="1" kern="0" spc="-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23</a:t>
            </a:r>
            <a:r>
              <a:rPr sz="2400" b="1" i="1" kern="0" spc="3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400" i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名</a:t>
            </a:r>
            <a:endParaRPr sz="24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676" name="textbox 1676"/>
          <p:cNvSpPr/>
          <p:nvPr/>
        </p:nvSpPr>
        <p:spPr>
          <a:xfrm>
            <a:off x="1138301" y="8959469"/>
            <a:ext cx="13808075" cy="252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论文原文点名：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Codeforces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排所有参赛真人选手第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23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名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。这是</a:t>
            </a: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第一次开源模型在单一竞赛项目上真正反超</a:t>
            </a:r>
            <a:r>
              <a:rPr sz="1500" kern="0" spc="-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闭源旗舰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GPT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-5.4-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xHigh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被甩开 38</a:t>
            </a:r>
            <a:r>
              <a:rPr sz="15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678" name="textbox 1678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680" name="picture 16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sp>
        <p:nvSpPr>
          <p:cNvPr id="1682" name="textbox 1682"/>
          <p:cNvSpPr/>
          <p:nvPr/>
        </p:nvSpPr>
        <p:spPr>
          <a:xfrm>
            <a:off x="11423986" y="3926849"/>
            <a:ext cx="3129280" cy="128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 A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   B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 C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A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 T</a:t>
            </a:r>
            <a:r>
              <a:rPr sz="9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pSp>
        <p:nvGrpSpPr>
          <p:cNvPr id="64" name="group 64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684" name="picture 168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686" name="textbox 168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604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688" name="textbox 1688"/>
          <p:cNvSpPr/>
          <p:nvPr/>
        </p:nvSpPr>
        <p:spPr>
          <a:xfrm>
            <a:off x="1134510" y="9642069"/>
            <a:ext cx="19310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690" name="picture 16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8705850"/>
            <a:ext cx="14287500" cy="19050"/>
          </a:xfrm>
          <a:prstGeom prst="rect">
            <a:avLst/>
          </a:prstGeom>
        </p:spPr>
      </p:pic>
      <p:pic>
        <p:nvPicPr>
          <p:cNvPr id="1692" name="picture 16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694" name="textbox 1694"/>
          <p:cNvSpPr/>
          <p:nvPr/>
        </p:nvSpPr>
        <p:spPr>
          <a:xfrm>
            <a:off x="16195588" y="517118"/>
            <a:ext cx="9404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textbox 1696"/>
          <p:cNvSpPr/>
          <p:nvPr/>
        </p:nvSpPr>
        <p:spPr>
          <a:xfrm>
            <a:off x="1130300" y="1479143"/>
            <a:ext cx="11665585" cy="1068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 7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形 怯 化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 学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1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020" algn="l" rtl="0" eaLnBrk="0">
              <a:lnSpc>
                <a:spcPct val="85000"/>
              </a:lnSpc>
              <a:tabLst/>
            </a:pPr>
            <a:r>
              <a:rPr sz="4800" b="1" kern="0" spc="-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Putnam-2025 </a:t>
            </a:r>
            <a:r>
              <a:rPr sz="4800" b="1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形怯化证明</a:t>
            </a:r>
            <a:r>
              <a:rPr sz="4800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满分</a:t>
            </a:r>
            <a:r>
              <a:rPr sz="4800" b="1" i="1" kern="0" spc="29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120/</a:t>
            </a:r>
            <a:r>
              <a:rPr sz="4800" b="1" i="1" kern="0" spc="-3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800" b="1" i="1" kern="0" spc="29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120</a:t>
            </a:r>
            <a:endParaRPr sz="4800" dirty="0">
              <a:latin typeface="Georgia"/>
              <a:ea typeface="Georgia"/>
              <a:cs typeface="Georgia"/>
            </a:endParaRPr>
          </a:p>
        </p:txBody>
      </p:sp>
      <p:pic>
        <p:nvPicPr>
          <p:cNvPr id="1698" name="picture 16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700" name="textbox 1700"/>
          <p:cNvSpPr/>
          <p:nvPr/>
        </p:nvSpPr>
        <p:spPr>
          <a:xfrm>
            <a:off x="4426609" y="3137027"/>
            <a:ext cx="3672840" cy="2386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589"/>
              </a:lnSpc>
              <a:tabLst/>
            </a:pPr>
            <a:r>
              <a:rPr sz="13500" kern="0" spc="-510" dirty="0">
                <a:solidFill>
                  <a:srgbClr val="1A1A1A">
                    <a:alpha val="25098"/>
                  </a:srgbClr>
                </a:solidFill>
                <a:latin typeface="Georgia"/>
                <a:ea typeface="Georgia"/>
                <a:cs typeface="Georgia"/>
              </a:rPr>
              <a:t>/ </a:t>
            </a:r>
            <a:r>
              <a:rPr sz="13500" kern="0" spc="-510" dirty="0">
                <a:solidFill>
                  <a:srgbClr val="1A1A1A">
                    <a:alpha val="54901"/>
                  </a:srgbClr>
                </a:solidFill>
                <a:latin typeface="Georgia"/>
                <a:ea typeface="Georgia"/>
                <a:cs typeface="Georgia"/>
              </a:rPr>
              <a:t>120</a:t>
            </a:r>
            <a:endParaRPr sz="13500" dirty="0">
              <a:latin typeface="Georgia"/>
              <a:ea typeface="Georgia"/>
              <a:cs typeface="Georgia"/>
            </a:endParaRPr>
          </a:p>
        </p:txBody>
      </p:sp>
      <p:graphicFrame>
        <p:nvGraphicFramePr>
          <p:cNvPr id="1702" name="table 1702"/>
          <p:cNvGraphicFramePr>
            <a:graphicFrameLocks noGrp="1"/>
          </p:cNvGraphicFramePr>
          <p:nvPr/>
        </p:nvGraphicFramePr>
        <p:xfrm>
          <a:off x="9896475" y="4619625"/>
          <a:ext cx="7248525" cy="1038225"/>
        </p:xfrm>
        <a:graphic>
          <a:graphicData uri="http://schemas.openxmlformats.org/drawingml/2006/table">
            <a:tbl>
              <a:tblPr/>
              <a:tblGrid>
                <a:gridCol w="7248525"/>
              </a:tblGrid>
              <a:tr h="518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Seed</a:t>
                      </a:r>
                      <a:r>
                        <a:rPr sz="16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Prover</a:t>
                      </a:r>
                      <a:r>
                        <a:rPr sz="1600" kern="0" spc="2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</a:t>
                      </a:r>
                      <a:r>
                        <a:rPr sz="16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被超越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Lean</a:t>
                      </a:r>
                      <a:r>
                        <a:rPr sz="16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v</a:t>
                      </a:r>
                      <a:r>
                        <a:rPr sz="16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4.28.0-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rc</a:t>
                      </a:r>
                      <a:r>
                        <a:rPr sz="16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 </a:t>
                      </a:r>
                      <a:r>
                        <a:rPr sz="16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工具链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04" name="textbox 1704"/>
          <p:cNvSpPr/>
          <p:nvPr/>
        </p:nvSpPr>
        <p:spPr>
          <a:xfrm>
            <a:off x="1228026" y="4035425"/>
            <a:ext cx="2906395" cy="1189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164"/>
              </a:lnSpc>
              <a:tabLst/>
            </a:pPr>
            <a:r>
              <a:rPr sz="13500" b="1" kern="0" spc="-6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120</a:t>
            </a:r>
            <a:endParaRPr sz="13500" dirty="0">
              <a:latin typeface="Georgia"/>
              <a:ea typeface="Georgia"/>
              <a:cs typeface="Georgia"/>
            </a:endParaRPr>
          </a:p>
        </p:txBody>
      </p:sp>
      <p:sp>
        <p:nvSpPr>
          <p:cNvPr id="1706" name="textbox 1706"/>
          <p:cNvSpPr/>
          <p:nvPr/>
        </p:nvSpPr>
        <p:spPr>
          <a:xfrm>
            <a:off x="1145540" y="5378069"/>
            <a:ext cx="3141345" cy="893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500" kern="0" spc="1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HYBRID</a:t>
            </a:r>
            <a:r>
              <a:rPr sz="15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1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FORM</a:t>
            </a:r>
            <a:r>
              <a:rPr sz="1500" kern="0" spc="1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500" kern="0" spc="-1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500" kern="0" spc="-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</a:t>
            </a:r>
            <a:r>
              <a:rPr sz="1500" kern="0" spc="-1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endParaRPr sz="1500" dirty="0">
              <a:latin typeface="Arial"/>
              <a:ea typeface="Arial"/>
              <a:cs typeface="Arial"/>
            </a:endParaRPr>
          </a:p>
          <a:p>
            <a:pPr marL="24130" algn="l" rtl="0" eaLnBrk="0">
              <a:lnSpc>
                <a:spcPts val="2628"/>
              </a:lnSpc>
              <a:tabLst/>
            </a:pPr>
            <a:r>
              <a:rPr sz="1700" i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第一个在</a:t>
            </a:r>
            <a:r>
              <a:rPr sz="1700" kern="0" spc="-2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i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Putnam</a:t>
            </a:r>
            <a:endParaRPr sz="16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6195" algn="l" rtl="0" eaLnBrk="0">
              <a:lnSpc>
                <a:spcPct val="85000"/>
              </a:lnSpc>
              <a:spcBef>
                <a:spcPts val="3"/>
              </a:spcBef>
              <a:tabLst/>
            </a:pPr>
            <a:r>
              <a:rPr sz="1700" i="1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拿到满分的</a:t>
            </a:r>
            <a:r>
              <a:rPr sz="1700" kern="0" spc="-3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i="1" kern="0" spc="-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AI</a:t>
            </a:r>
            <a:r>
              <a:rPr sz="1600" i="1" kern="0" spc="1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700" i="1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系统</a:t>
            </a:r>
            <a:endParaRPr sz="17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708" name="textbox 1708"/>
          <p:cNvSpPr/>
          <p:nvPr/>
        </p:nvSpPr>
        <p:spPr>
          <a:xfrm>
            <a:off x="1143015" y="9128633"/>
            <a:ext cx="12678410" cy="196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42"/>
              </a:lnSpc>
              <a:tabLst/>
            </a:pP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Putnam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是北美大学生数学竞赛，</a:t>
            </a:r>
            <a:r>
              <a:rPr sz="1100" kern="0" spc="-2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以题目刁钻著称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100" kern="0" spc="-2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hybrid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formal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informal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设置要求模型先用自然语言推理、再把证明翻译成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Lean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形怯化代码一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4-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拿下 120 的满分，全场唯一。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710" name="textbox 1710"/>
          <p:cNvSpPr/>
          <p:nvPr/>
        </p:nvSpPr>
        <p:spPr>
          <a:xfrm>
            <a:off x="9879794" y="3753294"/>
            <a:ext cx="1440815" cy="741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6000"/>
              </a:lnSpc>
              <a:tabLst/>
            </a:pPr>
            <a:r>
              <a:rPr sz="1000" kern="0" spc="2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超过的已知系统</a:t>
            </a:r>
            <a:endParaRPr sz="10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Axiom</a:t>
            </a:r>
            <a:r>
              <a:rPr sz="1600" kern="0" spc="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1600" b="1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被超越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712" name="textbox 1712"/>
          <p:cNvSpPr/>
          <p:nvPr/>
        </p:nvSpPr>
        <p:spPr>
          <a:xfrm>
            <a:off x="9891109" y="5803665"/>
            <a:ext cx="2969895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3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最多</a:t>
            </a:r>
            <a:r>
              <a:rPr sz="1600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500</a:t>
            </a:r>
            <a:r>
              <a:rPr sz="1600" kern="0" spc="1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次工具调用</a:t>
            </a:r>
            <a:r>
              <a:rPr sz="1600" kern="0" spc="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1600" b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满分达成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714" name="textbox 171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716" name="picture 17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66" name="group 66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718" name="picture 17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720" name="textbox 1720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350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722" name="textbox 1722"/>
          <p:cNvSpPr/>
          <p:nvPr/>
        </p:nvSpPr>
        <p:spPr>
          <a:xfrm>
            <a:off x="1134510" y="9642069"/>
            <a:ext cx="19310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724" name="picture 17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8934450"/>
            <a:ext cx="14287500" cy="19050"/>
          </a:xfrm>
          <a:prstGeom prst="rect">
            <a:avLst/>
          </a:prstGeom>
        </p:spPr>
      </p:pic>
      <p:pic>
        <p:nvPicPr>
          <p:cNvPr id="1726" name="picture 17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728" name="textbox 1728"/>
          <p:cNvSpPr/>
          <p:nvPr/>
        </p:nvSpPr>
        <p:spPr>
          <a:xfrm>
            <a:off x="16195588" y="517118"/>
            <a:ext cx="9404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730" name="picture 17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525000" y="3733800"/>
            <a:ext cx="28575" cy="2428875"/>
          </a:xfrm>
          <a:prstGeom prst="rect">
            <a:avLst/>
          </a:prstGeom>
        </p:spPr>
      </p:pic>
      <p:sp>
        <p:nvSpPr>
          <p:cNvPr id="1732" name="textbox 1732"/>
          <p:cNvSpPr/>
          <p:nvPr/>
        </p:nvSpPr>
        <p:spPr>
          <a:xfrm>
            <a:off x="4306127" y="5425122"/>
            <a:ext cx="120015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tabLst/>
            </a:pP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4" name="table 1734"/>
          <p:cNvGraphicFramePr>
            <a:graphicFrameLocks noGrp="1"/>
          </p:cNvGraphicFramePr>
          <p:nvPr/>
        </p:nvGraphicFramePr>
        <p:xfrm>
          <a:off x="1143000" y="3524250"/>
          <a:ext cx="16001366" cy="3628390"/>
        </p:xfrm>
        <a:graphic>
          <a:graphicData uri="http://schemas.openxmlformats.org/drawingml/2006/table">
            <a:tbl>
              <a:tblPr/>
              <a:tblGrid>
                <a:gridCol w="4330700"/>
                <a:gridCol w="2072004"/>
                <a:gridCol w="622935"/>
                <a:gridCol w="1889760"/>
                <a:gridCol w="1915795"/>
                <a:gridCol w="1530985"/>
                <a:gridCol w="1372235"/>
                <a:gridCol w="697865"/>
                <a:gridCol w="1569085"/>
              </a:tblGrid>
              <a:tr h="428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460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0315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4 .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355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- 5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5465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 E M I N I</a:t>
                      </a:r>
                      <a:r>
                        <a:rPr sz="900" kern="0" spc="1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3 .</a:t>
                      </a:r>
                      <a:r>
                        <a:rPr sz="9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3725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 2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2135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- 5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 1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3085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DS -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82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HMMT</a:t>
                      </a:r>
                      <a:r>
                        <a:rPr sz="16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2026 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Feb</a:t>
                      </a:r>
                      <a:r>
                        <a:rPr sz="16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高中数学竞赛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305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96.2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930" algn="l" rtl="0" eaLnBrk="0">
                        <a:lnSpc>
                          <a:spcPts val="1301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5320" algn="l" rtl="0" eaLnBrk="0">
                        <a:lnSpc>
                          <a:spcPts val="1233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97.7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1870" algn="l" rtl="0" eaLnBrk="0">
                        <a:lnSpc>
                          <a:spcPts val="1233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94.7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5619" algn="l" rtl="0" eaLnBrk="0">
                        <a:lnSpc>
                          <a:spcPts val="1233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92.7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486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89.4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2030" algn="l" rtl="0" eaLnBrk="0">
                        <a:lnSpc>
                          <a:spcPts val="1233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95.2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IMOAnswerBench</a:t>
                      </a:r>
                      <a:r>
                        <a:rPr sz="1600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奥数答案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74165" algn="l" rtl="0" eaLnBrk="0">
                        <a:lnSpc>
                          <a:spcPts val="1224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75.3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930" algn="l" rtl="0" eaLnBrk="0">
                        <a:lnSpc>
                          <a:spcPts val="130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8970" algn="l" rtl="0" eaLnBrk="0">
                        <a:lnSpc>
                          <a:spcPts val="1233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91.4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0" algn="l" rtl="0" eaLnBrk="0">
                        <a:lnSpc>
                          <a:spcPct val="7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81.0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885" algn="l" rtl="0" eaLnBrk="0">
                        <a:lnSpc>
                          <a:spcPct val="7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86.0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422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83.8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90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89.8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Apex</a:t>
                      </a:r>
                      <a:r>
                        <a:rPr sz="1600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研究级数学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50035" algn="l" rtl="0" eaLnBrk="0">
                        <a:lnSpc>
                          <a:spcPts val="1224"/>
                        </a:lnSpc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34.5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595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500" b="1" kern="0" spc="-10" baseline="-2083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54.1</a:t>
                      </a:r>
                      <a:r>
                        <a:rPr sz="1600" b="1" kern="0" spc="1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b="1" kern="0" spc="-10" baseline="16277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endParaRPr sz="1600" baseline="16277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3295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60.9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7044" algn="l" rtl="0" eaLnBrk="0">
                        <a:lnSpc>
                          <a:spcPts val="1224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24.0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8680" algn="l" rtl="0" eaLnBrk="0">
                        <a:lnSpc>
                          <a:spcPts val="122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6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11.5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806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38.3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Apex</a:t>
                      </a:r>
                      <a:r>
                        <a:rPr sz="1600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Shortlist</a:t>
                      </a:r>
                      <a:r>
                        <a:rPr sz="1600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简答版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4955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85.9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294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78.1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203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89.1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2130" algn="l" rtl="0" eaLnBrk="0">
                        <a:lnSpc>
                          <a:spcPts val="120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75.5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3435" algn="l" rtl="0" eaLnBrk="0">
                        <a:lnSpc>
                          <a:spcPts val="1224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72.4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" algn="l" rtl="0" eaLnBrk="0">
                        <a:lnSpc>
                          <a:spcPts val="130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1075" algn="l" rtl="0" eaLnBrk="0">
                        <a:lnSpc>
                          <a:spcPts val="1233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90.2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9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Putnam</a:t>
                      </a:r>
                      <a:r>
                        <a:rPr sz="16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-2025  </a:t>
                      </a:r>
                      <a:r>
                        <a:rPr sz="1600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形式</a:t>
                      </a:r>
                      <a:r>
                        <a:rPr sz="16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化证明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0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9795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6030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5335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2515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" algn="l" rtl="0" eaLnBrk="0">
                        <a:lnSpc>
                          <a:spcPts val="130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6425" algn="l" rtl="0" eaLnBrk="0">
                        <a:lnSpc>
                          <a:spcPct val="8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120/120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36" name="textbox 1736"/>
          <p:cNvSpPr/>
          <p:nvPr/>
        </p:nvSpPr>
        <p:spPr>
          <a:xfrm>
            <a:off x="1130300" y="1479143"/>
            <a:ext cx="10013950" cy="1100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 7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 学 全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景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数学赛道：</a:t>
            </a:r>
            <a:r>
              <a:rPr sz="4800" b="1" kern="0" spc="-1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Apex Shortlist</a:t>
            </a:r>
            <a:r>
              <a:rPr sz="4800" b="1" kern="0" spc="5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900" b="1" i="1" kern="0" spc="-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全场第一</a:t>
            </a:r>
            <a:endParaRPr sz="4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738" name="picture 17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740" name="textbox 1740"/>
          <p:cNvSpPr/>
          <p:nvPr/>
        </p:nvSpPr>
        <p:spPr>
          <a:xfrm>
            <a:off x="1144016" y="8654669"/>
            <a:ext cx="14063980" cy="582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6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24000"/>
              </a:lnSpc>
              <a:tabLst/>
            </a:pP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DeepSeek-V4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</a:t>
            </a: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五项数学评测里拿下两个第一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Apex Shortlist 90.2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500" kern="0" spc="-3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Putnam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满分</a:t>
            </a:r>
            <a:r>
              <a:rPr sz="1500" kern="0" spc="-3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），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剩下三项全部追到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Top-2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500" kern="0" spc="-3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IMOAnswerBenc</a:t>
            </a: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 </a:t>
            </a: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比 </a:t>
            </a: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Opus 4.6 </a:t>
            </a: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高 </a:t>
            </a: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14.5 </a:t>
            </a: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分，接近 </a:t>
            </a: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GPT-</a:t>
            </a:r>
            <a:r>
              <a:rPr sz="15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5.4 </a:t>
            </a:r>
            <a:r>
              <a:rPr sz="15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的巅峰。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742" name="textbox 174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744" name="picture 17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68" name="group 68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746" name="picture 17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748" name="textbox 1748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7175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750" name="textbox 1750"/>
          <p:cNvSpPr/>
          <p:nvPr/>
        </p:nvSpPr>
        <p:spPr>
          <a:xfrm>
            <a:off x="1134510" y="9642069"/>
            <a:ext cx="19310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752" name="picture 17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8401050"/>
            <a:ext cx="14287500" cy="19050"/>
          </a:xfrm>
          <a:prstGeom prst="rect">
            <a:avLst/>
          </a:prstGeom>
        </p:spPr>
      </p:pic>
      <p:pic>
        <p:nvPicPr>
          <p:cNvPr id="1754" name="picture 17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756" name="textbox 1756"/>
          <p:cNvSpPr/>
          <p:nvPr/>
        </p:nvSpPr>
        <p:spPr>
          <a:xfrm>
            <a:off x="16195588" y="517118"/>
            <a:ext cx="9404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8" name="picture 17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32300" y="3940628"/>
            <a:ext cx="12700" cy="12246"/>
          </a:xfrm>
          <a:prstGeom prst="rect">
            <a:avLst/>
          </a:prstGeom>
        </p:spPr>
      </p:pic>
      <p:graphicFrame>
        <p:nvGraphicFramePr>
          <p:cNvPr id="1760" name="table 1760"/>
          <p:cNvGraphicFramePr>
            <a:graphicFrameLocks noGrp="1"/>
          </p:cNvGraphicFramePr>
          <p:nvPr/>
        </p:nvGraphicFramePr>
        <p:xfrm>
          <a:off x="1143000" y="3524250"/>
          <a:ext cx="16001998" cy="3628390"/>
        </p:xfrm>
        <a:graphic>
          <a:graphicData uri="http://schemas.openxmlformats.org/drawingml/2006/table">
            <a:tbl>
              <a:tblPr/>
              <a:tblGrid>
                <a:gridCol w="4197350"/>
                <a:gridCol w="1186815"/>
                <a:gridCol w="1749425"/>
                <a:gridCol w="1840230"/>
                <a:gridCol w="2125345"/>
                <a:gridCol w="1349375"/>
                <a:gridCol w="1343660"/>
                <a:gridCol w="852170"/>
                <a:gridCol w="1357630"/>
              </a:tblGrid>
              <a:tr h="428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460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0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4 .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8480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- 5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5160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 E M I N I</a:t>
                      </a:r>
                      <a:r>
                        <a:rPr sz="900" kern="0" spc="1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3 .</a:t>
                      </a:r>
                      <a:r>
                        <a:rPr sz="9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244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 2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6735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- 5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 1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165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DS -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9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82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LiveCodeBench</a:t>
                      </a:r>
                      <a:r>
                        <a:rPr sz="16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实时竞赛编程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0" algn="l" rtl="0" eaLnBrk="0">
                        <a:lnSpc>
                          <a:spcPct val="7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88.8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0285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4585" algn="l" rtl="0" eaLnBrk="0">
                        <a:lnSpc>
                          <a:spcPts val="1233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91.7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020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89.6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0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ts val="1301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0575" algn="l" rtl="0" eaLnBrk="0">
                        <a:lnSpc>
                          <a:spcPts val="1233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93.5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Codeforces</a:t>
                      </a:r>
                      <a:r>
                        <a:rPr sz="16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Rating</a:t>
                      </a:r>
                      <a:r>
                        <a:rPr sz="16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算法竞赛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685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834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3168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0285" algn="l" rtl="0" eaLnBrk="0">
                        <a:lnSpc>
                          <a:spcPts val="1224"/>
                        </a:lnSpc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3052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7855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0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" algn="l" rtl="0" eaLnBrk="0">
                        <a:lnSpc>
                          <a:spcPts val="130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358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3206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825" algn="l" rtl="0" eaLnBrk="0">
                        <a:lnSpc>
                          <a:spcPts val="2272"/>
                        </a:lnSpc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SWE</a:t>
                      </a:r>
                      <a:r>
                        <a:rPr sz="1600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Bench</a:t>
                      </a:r>
                      <a:r>
                        <a:rPr sz="1600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Verified</a:t>
                      </a:r>
                      <a:r>
                        <a:rPr sz="1600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工程修</a:t>
                      </a:r>
                      <a:r>
                        <a:rPr sz="1600" kern="0" spc="-1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bug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9285" algn="l" rtl="0" eaLnBrk="0">
                        <a:lnSpc>
                          <a:spcPts val="130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0885" algn="l" rtl="0" eaLnBrk="0">
                        <a:lnSpc>
                          <a:spcPct val="7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80.8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0285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7275" algn="l" rtl="0" eaLnBrk="0">
                        <a:lnSpc>
                          <a:spcPct val="7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80.6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7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80.2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0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0730" algn="l" rtl="0" eaLnBrk="0">
                        <a:lnSpc>
                          <a:spcPct val="7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80.6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825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SWE</a:t>
                      </a:r>
                      <a:r>
                        <a:rPr sz="16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Bench</a:t>
                      </a:r>
                      <a:r>
                        <a:rPr sz="16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Pro</a:t>
                      </a:r>
                      <a:r>
                        <a:rPr sz="16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 </a:t>
                      </a:r>
                      <a:r>
                        <a:rPr sz="16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</a:t>
                      </a:r>
                      <a:r>
                        <a:rPr sz="16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更难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3590" algn="l" rtl="0" eaLnBrk="0">
                        <a:lnSpc>
                          <a:spcPts val="1224"/>
                        </a:lnSpc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57.3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3430" algn="l" rtl="0" eaLnBrk="0">
                        <a:lnSpc>
                          <a:spcPts val="120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57.7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394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500" b="1" kern="0" spc="-10" baseline="-2083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54.2</a:t>
                      </a:r>
                      <a:r>
                        <a:rPr sz="1600" b="1" kern="0" spc="1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b="1" kern="0" spc="-10" baseline="16277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endParaRPr sz="1600" baseline="16277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28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58.6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454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58.4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2480" algn="l" rtl="0" eaLnBrk="0">
                        <a:lnSpc>
                          <a:spcPts val="1222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55.4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82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SWE</a:t>
                      </a:r>
                      <a:r>
                        <a:rPr sz="16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Bench</a:t>
                      </a:r>
                      <a:r>
                        <a:rPr sz="16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6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Multilingual</a:t>
                      </a:r>
                      <a:r>
                        <a:rPr sz="16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</a:t>
                      </a:r>
                      <a:r>
                        <a:rPr sz="16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多语言工程</a:t>
                      </a:r>
                      <a:endParaRPr sz="1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9285" algn="l" rtl="0" eaLnBrk="0">
                        <a:lnSpc>
                          <a:spcPts val="130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endParaRPr sz="1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2005" algn="l" rtl="0" eaLnBrk="0">
                        <a:lnSpc>
                          <a:spcPts val="120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77.5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0285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5725" algn="l" rtl="0" eaLnBrk="0">
                        <a:lnSpc>
                          <a:spcPts val="606"/>
                        </a:lnSpc>
                        <a:tabLst/>
                      </a:pPr>
                      <a:r>
                        <a:rPr sz="1600" b="1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01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76.7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0" algn="l" rtl="0" eaLnBrk="0">
                        <a:lnSpc>
                          <a:spcPts val="1224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73.3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76.2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62" name="textbox 1762"/>
          <p:cNvSpPr/>
          <p:nvPr/>
        </p:nvSpPr>
        <p:spPr>
          <a:xfrm>
            <a:off x="1130300" y="1479143"/>
            <a:ext cx="10936605" cy="1100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 7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编 程 全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景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42545" algn="l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编程赛道：</a:t>
            </a:r>
            <a:r>
              <a:rPr sz="4800" kern="0" spc="-13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竞赛编程</a:t>
            </a:r>
            <a:r>
              <a:rPr sz="4900" b="1" i="1" kern="0" spc="-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封神</a:t>
            </a:r>
            <a:r>
              <a:rPr sz="48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，工程代码</a:t>
            </a:r>
            <a:r>
              <a:rPr sz="4900" b="1" i="1" kern="0" spc="-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一线</a:t>
            </a:r>
            <a:endParaRPr sz="4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764" name="picture 17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766" name="textbox 1766"/>
          <p:cNvSpPr/>
          <p:nvPr/>
        </p:nvSpPr>
        <p:spPr>
          <a:xfrm>
            <a:off x="1137539" y="8654669"/>
            <a:ext cx="14113511" cy="567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1000"/>
              </a:lnSpc>
              <a:tabLst/>
            </a:pP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竞赛编程维度全场第一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500" kern="0" spc="-2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LiveCodeBench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+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Code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forces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两冠</a:t>
            </a:r>
            <a:r>
              <a:rPr sz="1500" kern="0" spc="-3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），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SWE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系列工程代码只是</a:t>
            </a: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接近而非超越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一跟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Opus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4.6</a:t>
            </a:r>
            <a:r>
              <a:rPr sz="1500" kern="0" spc="-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打成 80.6</a:t>
            </a:r>
            <a:r>
              <a:rPr sz="1500" kern="0" spc="-1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vs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80.8 的贴身差距。论文原话：「第一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次开源模型在竞赛编程上追平闭源J</a:t>
            </a:r>
            <a:r>
              <a:rPr sz="1500" kern="0" spc="-2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768" name="textbox 1768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770" name="picture 17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70" name="group 70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772" name="picture 177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774" name="textbox 1774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350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8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776" name="textbox 1776"/>
          <p:cNvSpPr/>
          <p:nvPr/>
        </p:nvSpPr>
        <p:spPr>
          <a:xfrm>
            <a:off x="1134510" y="9642069"/>
            <a:ext cx="19310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778" name="picture 17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401050"/>
            <a:ext cx="14287500" cy="19050"/>
          </a:xfrm>
          <a:prstGeom prst="rect">
            <a:avLst/>
          </a:prstGeom>
        </p:spPr>
      </p:pic>
      <p:pic>
        <p:nvPicPr>
          <p:cNvPr id="1780" name="picture 17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782" name="textbox 1782"/>
          <p:cNvSpPr/>
          <p:nvPr/>
        </p:nvSpPr>
        <p:spPr>
          <a:xfrm>
            <a:off x="16195588" y="517118"/>
            <a:ext cx="9404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4" name="picture 17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32318" y="5197813"/>
            <a:ext cx="12682" cy="12362"/>
          </a:xfrm>
          <a:prstGeom prst="rect">
            <a:avLst/>
          </a:prstGeom>
        </p:spPr>
      </p:pic>
      <p:pic>
        <p:nvPicPr>
          <p:cNvPr id="1786" name="picture 17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32318" y="7521913"/>
            <a:ext cx="12682" cy="12362"/>
          </a:xfrm>
          <a:prstGeom prst="rect">
            <a:avLst/>
          </a:prstGeom>
        </p:spPr>
      </p:pic>
      <p:pic>
        <p:nvPicPr>
          <p:cNvPr id="1788" name="picture 17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32318" y="6940888"/>
            <a:ext cx="12682" cy="12362"/>
          </a:xfrm>
          <a:prstGeom prst="rect">
            <a:avLst/>
          </a:prstGeom>
        </p:spPr>
      </p:pic>
      <p:pic>
        <p:nvPicPr>
          <p:cNvPr id="1790" name="picture 17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132318" y="6359594"/>
            <a:ext cx="12682" cy="12631"/>
          </a:xfrm>
          <a:prstGeom prst="rect">
            <a:avLst/>
          </a:prstGeom>
        </p:spPr>
      </p:pic>
      <p:pic>
        <p:nvPicPr>
          <p:cNvPr id="1792" name="picture 17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132318" y="4616585"/>
            <a:ext cx="12682" cy="12564"/>
          </a:xfrm>
          <a:prstGeom prst="rect">
            <a:avLst/>
          </a:prstGeom>
        </p:spPr>
      </p:pic>
      <p:pic>
        <p:nvPicPr>
          <p:cNvPr id="1794" name="picture 17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132318" y="5778569"/>
            <a:ext cx="12682" cy="12631"/>
          </a:xfrm>
          <a:prstGeom prst="rect">
            <a:avLst/>
          </a:prstGeom>
        </p:spPr>
      </p:pic>
      <p:pic>
        <p:nvPicPr>
          <p:cNvPr id="1796" name="picture 179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132318" y="4025900"/>
            <a:ext cx="12682" cy="12700"/>
          </a:xfrm>
          <a:prstGeom prst="rect">
            <a:avLst/>
          </a:prstGeom>
        </p:spPr>
      </p:pic>
      <p:graphicFrame>
        <p:nvGraphicFramePr>
          <p:cNvPr id="1798" name="table 1798"/>
          <p:cNvGraphicFramePr>
            <a:graphicFrameLocks noGrp="1"/>
          </p:cNvGraphicFramePr>
          <p:nvPr/>
        </p:nvGraphicFramePr>
        <p:xfrm>
          <a:off x="1143000" y="3619500"/>
          <a:ext cx="16002000" cy="3923665"/>
        </p:xfrm>
        <a:graphic>
          <a:graphicData uri="http://schemas.openxmlformats.org/drawingml/2006/table">
            <a:tbl>
              <a:tblPr/>
              <a:tblGrid>
                <a:gridCol w="4490085"/>
                <a:gridCol w="2303145"/>
                <a:gridCol w="2020570"/>
                <a:gridCol w="2131060"/>
                <a:gridCol w="1524000"/>
                <a:gridCol w="1123315"/>
                <a:gridCol w="2409825"/>
              </a:tblGrid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 E NC</a:t>
                      </a:r>
                      <a:r>
                        <a:rPr sz="9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8535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OPUS</a:t>
                      </a:r>
                      <a:r>
                        <a:rPr sz="9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4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9445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 P</a:t>
                      </a:r>
                      <a:r>
                        <a:rPr sz="900" kern="0" spc="-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900" kern="0" spc="-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6765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 E M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 1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7540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4990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GL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6060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DS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-V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1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23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Codeforces R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ating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算法竞赛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6060" algn="l" rtl="0" eaLnBrk="0">
                        <a:lnSpc>
                          <a:spcPts val="564"/>
                        </a:lnSpc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165" algn="l" rtl="0" eaLnBrk="0">
                        <a:lnSpc>
                          <a:spcPts val="564"/>
                        </a:lnSpc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6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5060" algn="l" rtl="0" eaLnBrk="0">
                        <a:lnSpc>
                          <a:spcPts val="1119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3052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1370" algn="l" rtl="0" eaLnBrk="0">
                        <a:lnSpc>
                          <a:spcPts val="564"/>
                        </a:lnSpc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8520" algn="l" rtl="0" eaLnBrk="0">
                        <a:lnSpc>
                          <a:spcPts val="564"/>
                        </a:lnSpc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372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3206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4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LiveCodeB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ench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实时竞赛编程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6060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165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0" algn="l" rtl="0" eaLnBrk="0">
                        <a:lnSpc>
                          <a:spcPts val="1128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91.7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97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89.6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8520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3095" algn="l" rtl="0" eaLnBrk="0">
                        <a:lnSpc>
                          <a:spcPts val="1128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93.5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0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Putnam-2025 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形式化数学证明 </a:t>
                      </a:r>
                      <a:r>
                        <a:rPr sz="15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</a:t>
                      </a:r>
                      <a:r>
                        <a:rPr sz="15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满分 </a:t>
                      </a:r>
                      <a:r>
                        <a:rPr sz="15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120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6060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165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29385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1370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8520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2415" algn="l" rtl="0" eaLnBrk="0">
                        <a:lnSpc>
                          <a:spcPct val="8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120/120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4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Apex Shortlist</a:t>
                      </a:r>
                      <a:r>
                        <a:rPr sz="15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研究级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数学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6060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165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761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89.1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0390" algn="l" rtl="0" eaLnBrk="0">
                        <a:lnSpc>
                          <a:spcPts val="110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75.5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935" algn="l" rtl="0" eaLnBrk="0">
                        <a:lnSpc>
                          <a:spcPts val="111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72.4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3410" algn="l" rtl="0" eaLnBrk="0">
                        <a:lnSpc>
                          <a:spcPts val="1128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90.2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04" algn="l" rtl="0" eaLnBrk="0">
                        <a:lnSpc>
                          <a:spcPts val="2065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SWE-Bench Verif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ied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工程修</a:t>
                      </a:r>
                      <a:r>
                        <a:rPr sz="1500" kern="0" spc="-1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bug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2855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87.6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165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7605" algn="l" rtl="0" eaLnBrk="0">
                        <a:lnSpc>
                          <a:spcPct val="7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80.6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4035" algn="l" rtl="0" eaLnBrk="0">
                        <a:lnSpc>
                          <a:spcPct val="7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80.2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8520" algn="l" rtl="0" eaLnBrk="0">
                        <a:lnSpc>
                          <a:spcPts val="56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—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5790" algn="l" rtl="0" eaLnBrk="0">
                        <a:lnSpc>
                          <a:spcPct val="7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80.6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04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SWE-Bench Pro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 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</a:t>
                      </a:r>
                      <a:r>
                        <a:rPr sz="15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</a:t>
                      </a:r>
                      <a:r>
                        <a:rPr sz="15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难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39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64.3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9625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58.6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1735" algn="l" rtl="0" eaLnBrk="0">
                        <a:lnSpc>
                          <a:spcPts val="111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54.2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483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58.6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345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58.4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0" algn="l" rtl="0" eaLnBrk="0">
                        <a:lnSpc>
                          <a:spcPts val="1114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55.4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00" name="textbox 1800"/>
          <p:cNvSpPr/>
          <p:nvPr/>
        </p:nvSpPr>
        <p:spPr>
          <a:xfrm>
            <a:off x="1130300" y="1479143"/>
            <a:ext cx="9605010" cy="1807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0 7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 新 对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比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27305" algn="l" rtl="0" eaLnBrk="0">
              <a:lnSpc>
                <a:spcPts val="5394"/>
              </a:lnSpc>
              <a:spcBef>
                <a:spcPts val="1168"/>
              </a:spcBef>
              <a:tabLst/>
            </a:pPr>
            <a:r>
              <a:rPr sz="43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标准化任务</a:t>
            </a:r>
            <a:r>
              <a:rPr sz="43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vs </a:t>
            </a:r>
            <a:r>
              <a:rPr sz="4300" b="1" i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2026-04</a:t>
            </a:r>
            <a:r>
              <a:rPr sz="4300" b="1" i="1" kern="0" spc="4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400" b="1" i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最新闭源旗舰</a:t>
            </a:r>
            <a:endParaRPr sz="44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5560" algn="l" rtl="0" eaLnBrk="0">
              <a:lnSpc>
                <a:spcPts val="2272"/>
              </a:lnSpc>
              <a:spcBef>
                <a:spcPts val="1"/>
              </a:spcBef>
              <a:tabLst/>
            </a:pPr>
            <a:r>
              <a:rPr sz="1700" i="1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论文对标止步于</a:t>
            </a:r>
            <a:r>
              <a:rPr sz="1700" kern="0" spc="-1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Opus 4.6</a:t>
            </a:r>
            <a:r>
              <a:rPr sz="1600" i="1" kern="0" spc="-9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 GPT-5.4</a:t>
            </a:r>
            <a:r>
              <a:rPr sz="1700" i="1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。但这十天里，</a:t>
            </a: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Opus 4.7</a:t>
            </a:r>
            <a:r>
              <a:rPr sz="1700" i="1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04-16</a:t>
            </a:r>
            <a:r>
              <a:rPr sz="1700" i="1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）和</a:t>
            </a:r>
            <a:r>
              <a:rPr sz="17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GPT-5.5</a:t>
            </a:r>
            <a:r>
              <a:rPr sz="1700" i="1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04-23</a:t>
            </a:r>
            <a:r>
              <a:rPr sz="1700" i="1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）都发布了</a:t>
            </a:r>
            <a:r>
              <a:rPr sz="1700" i="1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7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802" name="picture 180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804" name="textbox 1804"/>
          <p:cNvSpPr/>
          <p:nvPr/>
        </p:nvSpPr>
        <p:spPr>
          <a:xfrm>
            <a:off x="1233551" y="7724076"/>
            <a:ext cx="15924530" cy="415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FrontierMath T1-3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前沿数学                                                    </a:t>
            </a:r>
            <a:r>
              <a:rPr sz="15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43.8            </a:t>
            </a:r>
            <a:r>
              <a:rPr sz="15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               51.7                                         36.9                            </a:t>
            </a:r>
            <a:r>
              <a:rPr sz="1500" b="1" kern="0" spc="-1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                              —                                               —     </a:t>
            </a:r>
            <a:endParaRPr sz="1500" dirty="0">
              <a:latin typeface="Georgia"/>
              <a:ea typeface="Georgia"/>
              <a:cs typeface="Georgia"/>
            </a:endParaRPr>
          </a:p>
        </p:txBody>
      </p:sp>
      <p:pic>
        <p:nvPicPr>
          <p:cNvPr id="1806" name="picture 180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101130" y="8102669"/>
            <a:ext cx="12682" cy="12631"/>
          </a:xfrm>
          <a:prstGeom prst="rect">
            <a:avLst/>
          </a:prstGeom>
        </p:spPr>
      </p:pic>
      <p:sp>
        <p:nvSpPr>
          <p:cNvPr id="1808" name="textbox 1808"/>
          <p:cNvSpPr/>
          <p:nvPr/>
        </p:nvSpPr>
        <p:spPr>
          <a:xfrm>
            <a:off x="1137539" y="8978062"/>
            <a:ext cx="15048230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700"/>
              </a:lnSpc>
              <a:tabLst/>
            </a:pPr>
            <a:r>
              <a:rPr sz="14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竞赛编程和形怯化数学上 </a:t>
            </a:r>
            <a:r>
              <a:rPr sz="14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</a:t>
            </a:r>
            <a:r>
              <a:rPr sz="1400" kern="0" spc="3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-V4 </a:t>
            </a:r>
            <a:r>
              <a:rPr sz="14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是全场第一</a:t>
            </a:r>
            <a:r>
              <a:rPr sz="1400" kern="0" spc="-2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，开源首次断档领先。但是</a:t>
            </a:r>
            <a:r>
              <a:rPr sz="1400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换到工程代码 </a:t>
            </a:r>
            <a:r>
              <a:rPr sz="14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SWE</a:t>
            </a:r>
            <a:r>
              <a:rPr sz="14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4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Bench</a:t>
            </a:r>
            <a:r>
              <a:rPr sz="14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Verified</a:t>
            </a:r>
            <a:r>
              <a:rPr sz="1400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4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Opus</a:t>
            </a:r>
            <a:r>
              <a:rPr sz="14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4.7 </a:t>
            </a:r>
            <a:r>
              <a:rPr sz="1400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甩开 </a:t>
            </a:r>
            <a:r>
              <a:rPr sz="14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400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个百分点</a:t>
            </a:r>
            <a:r>
              <a:rPr sz="14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一这是「标准化 </a:t>
            </a: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vs</a:t>
            </a:r>
            <a:r>
              <a:rPr sz="14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工</a:t>
            </a:r>
            <a:r>
              <a:rPr sz="14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程复杂度」</a:t>
            </a:r>
            <a:r>
              <a:rPr sz="1400" kern="0" spc="-3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的分水岭。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810" name="textbox 181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812" name="picture 18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143000" y="8105775"/>
            <a:ext cx="16002000" cy="19050"/>
          </a:xfrm>
          <a:prstGeom prst="rect">
            <a:avLst/>
          </a:prstGeom>
        </p:spPr>
      </p:pic>
      <p:pic>
        <p:nvPicPr>
          <p:cNvPr id="1814" name="picture 18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143000" y="8743950"/>
            <a:ext cx="15240000" cy="19050"/>
          </a:xfrm>
          <a:prstGeom prst="rect">
            <a:avLst/>
          </a:prstGeom>
        </p:spPr>
      </p:pic>
      <p:pic>
        <p:nvPicPr>
          <p:cNvPr id="1816" name="picture 18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72" name="group 72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818" name="picture 181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820" name="textbox 1820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350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822" name="textbox 1822"/>
          <p:cNvSpPr/>
          <p:nvPr/>
        </p:nvSpPr>
        <p:spPr>
          <a:xfrm>
            <a:off x="1134510" y="9642069"/>
            <a:ext cx="19310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824" name="picture 18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826" name="textbox 1826"/>
          <p:cNvSpPr/>
          <p:nvPr/>
        </p:nvSpPr>
        <p:spPr>
          <a:xfrm>
            <a:off x="16195588" y="517118"/>
            <a:ext cx="9404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textbox 1828"/>
          <p:cNvSpPr/>
          <p:nvPr/>
        </p:nvSpPr>
        <p:spPr>
          <a:xfrm>
            <a:off x="1130300" y="1479143"/>
            <a:ext cx="12255500" cy="3632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 7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小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结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73000"/>
              </a:lnSpc>
              <a:spcBef>
                <a:spcPts val="481"/>
              </a:spcBef>
              <a:tabLst/>
            </a:pPr>
            <a:r>
              <a:rPr sz="1600" b="1" i="1" kern="0" spc="24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THE  VERDICT</a:t>
            </a:r>
            <a:endParaRPr sz="16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20" indent="-5715" algn="l" rtl="0" eaLnBrk="0">
              <a:lnSpc>
                <a:spcPct val="93000"/>
              </a:lnSpc>
              <a:tabLst/>
            </a:pPr>
            <a:r>
              <a:rPr sz="8100" b="1" kern="0" spc="-1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标准化、</a:t>
            </a:r>
            <a:r>
              <a:rPr sz="8100" kern="0" spc="-2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100" b="1" kern="0" spc="-1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有明确答案的题，</a:t>
            </a:r>
            <a:r>
              <a:rPr sz="81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100" b="1" kern="0" spc="-1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 </a:t>
            </a:r>
            <a:r>
              <a:rPr sz="8100" b="1" kern="0" spc="-1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</a:t>
            </a:r>
            <a:r>
              <a:rPr sz="8100" b="1" kern="0" spc="-1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开源天花板</a:t>
            </a:r>
            <a:r>
              <a:rPr sz="8100" b="1" kern="0" spc="-52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81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830" name="picture 18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832" name="textbox 1832"/>
          <p:cNvSpPr/>
          <p:nvPr/>
        </p:nvSpPr>
        <p:spPr>
          <a:xfrm>
            <a:off x="1139063" y="8959469"/>
            <a:ext cx="9896475" cy="252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5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竞赛选手基因里的习惯一给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一道有标准答案的题，用尽全部推理能力把它做对一在 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 身上成了护城河。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834" name="textbox 1834"/>
          <p:cNvSpPr/>
          <p:nvPr/>
        </p:nvSpPr>
        <p:spPr>
          <a:xfrm>
            <a:off x="13423694" y="6631711"/>
            <a:ext cx="1895475" cy="1158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9000"/>
              </a:lnSpc>
              <a:tabLst/>
            </a:pP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 U T N A M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- 2 0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  <a:p>
            <a:pPr marL="32385" algn="l" rtl="0" eaLnBrk="0">
              <a:lnSpc>
                <a:spcPct val="81000"/>
              </a:lnSpc>
              <a:spcBef>
                <a:spcPts val="1024"/>
              </a:spcBef>
              <a:tabLst/>
            </a:pPr>
            <a:r>
              <a:rPr sz="3600" b="1" kern="0" spc="-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120/120</a:t>
            </a:r>
            <a:endParaRPr sz="3600" dirty="0">
              <a:latin typeface="Georgia"/>
              <a:ea typeface="Georgia"/>
              <a:cs typeface="Georgia"/>
            </a:endParaRPr>
          </a:p>
          <a:p>
            <a:pPr marL="13970" algn="l" rtl="0" eaLnBrk="0">
              <a:lnSpc>
                <a:spcPct val="79000"/>
              </a:lnSpc>
              <a:spcBef>
                <a:spcPts val="709"/>
              </a:spcBef>
              <a:tabLst/>
            </a:pP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首个满分系统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ts val="1576"/>
              </a:lnSpc>
              <a:tabLst/>
            </a:pP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形怯化证明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836" name="textbox 1836"/>
          <p:cNvSpPr/>
          <p:nvPr/>
        </p:nvSpPr>
        <p:spPr>
          <a:xfrm>
            <a:off x="9325687" y="6631711"/>
            <a:ext cx="1344295" cy="1169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 P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 X   S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 O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T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 T</a:t>
            </a:r>
            <a:endParaRPr sz="9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ts val="2707"/>
              </a:lnSpc>
              <a:spcBef>
                <a:spcPts val="1778"/>
              </a:spcBef>
              <a:tabLst/>
            </a:pPr>
            <a:r>
              <a:rPr sz="3600" b="1" kern="0" spc="-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90.2</a:t>
            </a:r>
            <a:endParaRPr sz="3600" dirty="0">
              <a:latin typeface="Georgia"/>
              <a:ea typeface="Georgia"/>
              <a:cs typeface="Georgia"/>
            </a:endParaRPr>
          </a:p>
          <a:p>
            <a:pPr marL="13334" algn="l" rtl="0" eaLnBrk="0">
              <a:lnSpc>
                <a:spcPct val="85000"/>
              </a:lnSpc>
              <a:spcBef>
                <a:spcPts val="749"/>
              </a:spcBef>
              <a:tabLst/>
            </a:pP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全场第一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研究级数学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838" name="textbox 1838"/>
          <p:cNvSpPr/>
          <p:nvPr/>
        </p:nvSpPr>
        <p:spPr>
          <a:xfrm>
            <a:off x="5231050" y="6631711"/>
            <a:ext cx="1308735" cy="1178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ts val="1073"/>
              </a:lnSpc>
              <a:tabLst/>
            </a:pP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8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8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8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8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endParaRPr sz="800" dirty="0">
              <a:latin typeface="Arial"/>
              <a:ea typeface="Arial"/>
              <a:cs typeface="Arial"/>
            </a:endParaRPr>
          </a:p>
          <a:p>
            <a:pPr marL="26035" algn="l" rtl="0" eaLnBrk="0">
              <a:lnSpc>
                <a:spcPts val="2707"/>
              </a:lnSpc>
              <a:spcBef>
                <a:spcPts val="1778"/>
              </a:spcBef>
              <a:tabLst/>
            </a:pPr>
            <a:r>
              <a:rPr sz="3600" b="1" kern="0" spc="-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93.5</a:t>
            </a:r>
            <a:endParaRPr sz="3600" dirty="0">
              <a:latin typeface="Georgia"/>
              <a:ea typeface="Georgia"/>
              <a:cs typeface="Georgia"/>
            </a:endParaRPr>
          </a:p>
          <a:p>
            <a:pPr marL="12700" algn="l" rtl="0" eaLnBrk="0">
              <a:lnSpc>
                <a:spcPct val="85000"/>
              </a:lnSpc>
              <a:spcBef>
                <a:spcPts val="749"/>
              </a:spcBef>
              <a:tabLst/>
            </a:pP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全场第一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marL="13334" algn="l" rtl="0" eaLnBrk="0">
              <a:lnSpc>
                <a:spcPts val="1342"/>
              </a:lnSpc>
              <a:spcBef>
                <a:spcPts val="305"/>
              </a:spcBef>
              <a:tabLst/>
            </a:pP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超过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Gemini 3.1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840" name="textbox 1840"/>
          <p:cNvSpPr/>
          <p:nvPr/>
        </p:nvSpPr>
        <p:spPr>
          <a:xfrm>
            <a:off x="1135300" y="6657886"/>
            <a:ext cx="1208405" cy="1152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6000"/>
              </a:lnSpc>
              <a:tabLst/>
            </a:pP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 O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 O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8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75000"/>
              </a:lnSpc>
              <a:spcBef>
                <a:spcPts val="1309"/>
              </a:spcBef>
              <a:tabLst/>
            </a:pPr>
            <a:r>
              <a:rPr sz="3600" b="1" kern="0" spc="-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3206</a:t>
            </a:r>
            <a:endParaRPr sz="3600" dirty="0">
              <a:latin typeface="Georgia"/>
              <a:ea typeface="Georgia"/>
              <a:cs typeface="Georgia"/>
            </a:endParaRPr>
          </a:p>
          <a:p>
            <a:pPr marL="12700" algn="l" rtl="0" eaLnBrk="0">
              <a:lnSpc>
                <a:spcPct val="85000"/>
              </a:lnSpc>
              <a:spcBef>
                <a:spcPts val="823"/>
              </a:spcBef>
              <a:tabLst/>
            </a:pP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全场第一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marL="13334" algn="l" rtl="0" eaLnBrk="0">
              <a:lnSpc>
                <a:spcPts val="1342"/>
              </a:lnSpc>
              <a:spcBef>
                <a:spcPts val="305"/>
              </a:spcBef>
              <a:tabLst/>
            </a:pP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超过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GPT-5.4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842" name="textbox 1842"/>
          <p:cNvSpPr/>
          <p:nvPr/>
        </p:nvSpPr>
        <p:spPr>
          <a:xfrm>
            <a:off x="1134510" y="9642069"/>
            <a:ext cx="239268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44" name="textbox 184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846" name="picture 18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74" name="group 74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848" name="picture 18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850" name="textbox 1850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985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1852" name="picture 18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8705850"/>
            <a:ext cx="14287500" cy="19050"/>
          </a:xfrm>
          <a:prstGeom prst="rect">
            <a:avLst/>
          </a:prstGeom>
        </p:spPr>
      </p:pic>
      <p:pic>
        <p:nvPicPr>
          <p:cNvPr id="1854" name="picture 18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1856" name="textbox 1856"/>
          <p:cNvSpPr/>
          <p:nvPr/>
        </p:nvSpPr>
        <p:spPr>
          <a:xfrm>
            <a:off x="16195588" y="517118"/>
            <a:ext cx="9404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858" name="picture 18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6429375"/>
            <a:ext cx="3714750" cy="19050"/>
          </a:xfrm>
          <a:prstGeom prst="rect">
            <a:avLst/>
          </a:prstGeom>
        </p:spPr>
      </p:pic>
      <p:pic>
        <p:nvPicPr>
          <p:cNvPr id="1860" name="picture 18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38750" y="6429375"/>
            <a:ext cx="3714750" cy="19050"/>
          </a:xfrm>
          <a:prstGeom prst="rect">
            <a:avLst/>
          </a:prstGeom>
        </p:spPr>
      </p:pic>
      <p:pic>
        <p:nvPicPr>
          <p:cNvPr id="1862" name="picture 1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334500" y="6429375"/>
            <a:ext cx="3714750" cy="19050"/>
          </a:xfrm>
          <a:prstGeom prst="rect">
            <a:avLst/>
          </a:prstGeom>
        </p:spPr>
      </p:pic>
      <p:pic>
        <p:nvPicPr>
          <p:cNvPr id="1864" name="picture 186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430250" y="6429375"/>
            <a:ext cx="37147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textbox 1866"/>
          <p:cNvSpPr/>
          <p:nvPr/>
        </p:nvSpPr>
        <p:spPr>
          <a:xfrm>
            <a:off x="1130300" y="1526768"/>
            <a:ext cx="11290300" cy="5915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 擅 长 什 么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spcBef>
                <a:spcPts val="310"/>
              </a:spcBef>
              <a:tabLst>
                <a:tab pos="774700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4D6BFE"/>
                  </a:solidFill>
                </a:u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marL="57785" algn="l" rtl="0" eaLnBrk="0">
              <a:lnSpc>
                <a:spcPct val="85000"/>
              </a:lnSpc>
              <a:spcBef>
                <a:spcPts val="1120"/>
              </a:spcBef>
              <a:tabLst/>
            </a:pPr>
            <a:r>
              <a:rPr sz="24000" b="1" kern="0" spc="-5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但是</a:t>
            </a:r>
            <a:r>
              <a:rPr sz="24000" b="1" kern="0" spc="-5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240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689" algn="l" rtl="0" eaLnBrk="0">
              <a:lnSpc>
                <a:spcPts val="4360"/>
              </a:lnSpc>
              <a:spcBef>
                <a:spcPts val="5"/>
              </a:spcBef>
              <a:tabLst/>
            </a:pPr>
            <a:r>
              <a:rPr sz="3400" i="1" kern="0" spc="-1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一旦离开「标准答案」这个安全区，</a:t>
            </a:r>
            <a:r>
              <a:rPr sz="3400" kern="0" spc="-8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300" b="1" kern="0" spc="-1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模型的性格</a:t>
            </a:r>
            <a:r>
              <a:rPr sz="3400" i="1" kern="0" spc="-1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就会露出来</a:t>
            </a:r>
            <a:r>
              <a:rPr sz="3400" i="1" kern="0" spc="-1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34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868" name="textbox 1868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870" name="picture 18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76" name="group 76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872" name="picture 187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874" name="textbox 1874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9017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7 2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876" name="textbox 1876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78" name="textbox 1878"/>
          <p:cNvSpPr/>
          <p:nvPr/>
        </p:nvSpPr>
        <p:spPr>
          <a:xfrm>
            <a:off x="16038426" y="517118"/>
            <a:ext cx="109728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08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880" name="picture 18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textbox 1882"/>
          <p:cNvSpPr/>
          <p:nvPr/>
        </p:nvSpPr>
        <p:spPr>
          <a:xfrm>
            <a:off x="1130300" y="1479143"/>
            <a:ext cx="11641455" cy="1100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硬 推 理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HLE——人类最终考试</a:t>
            </a:r>
            <a:r>
              <a:rPr sz="4800" kern="0" spc="-9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800" kern="0" spc="-14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差距第一次</a:t>
            </a:r>
            <a:r>
              <a:rPr sz="4900" b="1" i="1" kern="0" spc="-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露出来</a:t>
            </a:r>
            <a:endParaRPr sz="4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884" name="picture 18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886" name="textbox 1886"/>
          <p:cNvSpPr/>
          <p:nvPr/>
        </p:nvSpPr>
        <p:spPr>
          <a:xfrm>
            <a:off x="12559233" y="3936593"/>
            <a:ext cx="3547109" cy="2950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1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66000"/>
              </a:lnSpc>
              <a:spcBef>
                <a:spcPts val="2742"/>
              </a:spcBef>
              <a:tabLst/>
            </a:pPr>
            <a:r>
              <a:rPr sz="16100" b="1" kern="0" spc="-150" baseline="3882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6900" b="1" kern="0" spc="-150" baseline="9058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pp</a:t>
            </a:r>
            <a:endParaRPr sz="6900" baseline="9058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4000"/>
              </a:lnSpc>
              <a:spcBef>
                <a:spcPts val="546"/>
              </a:spcBef>
              <a:tabLst/>
            </a:pPr>
            <a:r>
              <a:rPr sz="1800" b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6.7</a:t>
            </a:r>
            <a:r>
              <a:rPr sz="1800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1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个百分点</a:t>
            </a:r>
            <a:endParaRPr sz="18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85000"/>
              </a:lnSpc>
              <a:spcBef>
                <a:spcPts val="1684"/>
              </a:spcBef>
              <a:tabLst/>
            </a:pPr>
            <a:r>
              <a:rPr sz="1800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落后 </a:t>
            </a:r>
            <a:r>
              <a:rPr sz="1800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Opus 4.7</a:t>
            </a:r>
            <a:endParaRPr sz="18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5000"/>
              </a:lnSpc>
              <a:spcBef>
                <a:spcPts val="5"/>
              </a:spcBef>
              <a:tabLst/>
            </a:pPr>
            <a:r>
              <a:rPr sz="1800" b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9.2</a:t>
            </a:r>
            <a:r>
              <a:rPr sz="1800" kern="0" spc="-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个百分点</a:t>
            </a:r>
            <a:endParaRPr sz="18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888" name="textbox 1888"/>
          <p:cNvSpPr/>
          <p:nvPr/>
        </p:nvSpPr>
        <p:spPr>
          <a:xfrm>
            <a:off x="14350543" y="5597525"/>
            <a:ext cx="112395" cy="16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06"/>
              </a:lnSpc>
              <a:tabLst/>
            </a:pPr>
            <a:r>
              <a:rPr sz="1800" kern="0" spc="-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  <a:endParaRPr sz="1800" dirty="0">
              <a:latin typeface="Georgia"/>
              <a:ea typeface="Georgia"/>
              <a:cs typeface="Georgia"/>
            </a:endParaRPr>
          </a:p>
        </p:txBody>
      </p:sp>
      <p:pic>
        <p:nvPicPr>
          <p:cNvPr id="1890" name="picture 18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375800" y="4914328"/>
            <a:ext cx="346709" cy="813397"/>
          </a:xfrm>
          <a:prstGeom prst="rect">
            <a:avLst/>
          </a:prstGeom>
        </p:spPr>
      </p:pic>
      <p:pic>
        <p:nvPicPr>
          <p:cNvPr id="1892" name="picture 18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527763" y="4188904"/>
            <a:ext cx="828620" cy="1576082"/>
          </a:xfrm>
          <a:prstGeom prst="rect">
            <a:avLst/>
          </a:prstGeom>
        </p:spPr>
      </p:pic>
      <p:sp>
        <p:nvSpPr>
          <p:cNvPr id="1894" name="textbox 1894"/>
          <p:cNvSpPr/>
          <p:nvPr/>
        </p:nvSpPr>
        <p:spPr>
          <a:xfrm>
            <a:off x="12559233" y="5531916"/>
            <a:ext cx="1007110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4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8000"/>
              </a:lnSpc>
              <a:tabLst/>
            </a:pPr>
            <a:r>
              <a:rPr sz="2100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落后</a:t>
            </a:r>
            <a:r>
              <a:rPr sz="2100" kern="0" spc="-2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-1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Gem</a:t>
            </a:r>
            <a:endParaRPr sz="1700" dirty="0">
              <a:latin typeface="Georgia"/>
              <a:ea typeface="Georgia"/>
              <a:cs typeface="Georgia"/>
            </a:endParaRPr>
          </a:p>
        </p:txBody>
      </p:sp>
      <p:sp>
        <p:nvSpPr>
          <p:cNvPr id="1896" name="textbox 1896"/>
          <p:cNvSpPr/>
          <p:nvPr/>
        </p:nvSpPr>
        <p:spPr>
          <a:xfrm>
            <a:off x="12657455" y="4706937"/>
            <a:ext cx="856614" cy="448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32"/>
              </a:lnSpc>
              <a:tabLst/>
            </a:pPr>
            <a:r>
              <a:rPr sz="7100" b="1" kern="0" spc="-6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</a:t>
            </a:r>
            <a:endParaRPr sz="7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898" name="textbox 1898"/>
          <p:cNvSpPr/>
          <p:nvPr/>
        </p:nvSpPr>
        <p:spPr>
          <a:xfrm>
            <a:off x="1140968" y="8654669"/>
            <a:ext cx="14173200" cy="557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45" rIns="0" bIns="0"/>
          <a:lstStyle/>
          <a:p>
            <a:pPr marL="12700" indent="5080" algn="l" rtl="0" eaLnBrk="0">
              <a:lnSpc>
                <a:spcPct val="119000"/>
              </a:lnSpc>
              <a:spcBef>
                <a:spcPts val="6"/>
              </a:spcBef>
              <a:tabLst/>
            </a:pP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HLE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500" kern="0" spc="-2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Humanity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'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 Last Exam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）是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跨学科综合硬推理题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。不是做题，是「你有多通J</a:t>
            </a:r>
            <a:r>
              <a:rPr sz="15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500" kern="0" spc="-3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 的 37.7</a:t>
            </a:r>
            <a:r>
              <a:rPr sz="1500" kern="0" spc="-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分在开源阵营仍是第一</a:t>
            </a:r>
            <a:r>
              <a:rPr sz="1500" kern="0" spc="-2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但在闭源对比下开始吃瘪一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这是「擅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长什么J  和「不擅长什么J  的分水</a:t>
            </a:r>
            <a:r>
              <a:rPr sz="1500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岭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900" name="textbox 1900"/>
          <p:cNvSpPr/>
          <p:nvPr/>
        </p:nvSpPr>
        <p:spPr>
          <a:xfrm>
            <a:off x="1136272" y="3928087"/>
            <a:ext cx="1483360" cy="4460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9000"/>
              </a:lnSpc>
              <a:tabLst/>
            </a:pPr>
            <a:r>
              <a:rPr sz="14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Gemini 3.1</a:t>
            </a:r>
            <a:r>
              <a:rPr sz="1400" kern="0" spc="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4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Pro</a:t>
            </a:r>
            <a:endParaRPr sz="14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1000"/>
              </a:lnSpc>
              <a:spcBef>
                <a:spcPts val="425"/>
              </a:spcBef>
              <a:tabLst/>
            </a:pPr>
            <a:r>
              <a:rPr sz="14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Opus 4.7</a:t>
            </a:r>
            <a:endParaRPr sz="14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6000"/>
              </a:lnSpc>
              <a:spcBef>
                <a:spcPts val="430"/>
              </a:spcBef>
              <a:tabLst/>
            </a:pPr>
            <a:r>
              <a:rPr sz="14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GPT-5.5</a:t>
            </a:r>
            <a:endParaRPr sz="14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1000"/>
              </a:lnSpc>
              <a:spcBef>
                <a:spcPts val="425"/>
              </a:spcBef>
              <a:tabLst/>
            </a:pPr>
            <a:r>
              <a:rPr sz="14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Opus 4.6</a:t>
            </a:r>
            <a:endParaRPr sz="14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4000"/>
              </a:lnSpc>
              <a:spcBef>
                <a:spcPts val="426"/>
              </a:spcBef>
              <a:tabLst/>
            </a:pPr>
            <a:r>
              <a:rPr sz="14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GPT</a:t>
            </a:r>
            <a:r>
              <a:rPr sz="1400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-5.4-</a:t>
            </a:r>
            <a:r>
              <a:rPr sz="14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xHigh</a:t>
            </a:r>
            <a:endParaRPr sz="14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428"/>
              </a:spcBef>
              <a:tabLst/>
            </a:pPr>
            <a:r>
              <a:rPr sz="1400" b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DS</a:t>
            </a:r>
            <a:r>
              <a:rPr sz="1400" b="1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-V4-</a:t>
            </a:r>
            <a:r>
              <a:rPr sz="1400" b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Pro</a:t>
            </a:r>
            <a:r>
              <a:rPr sz="1400" b="1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400" b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Max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6000"/>
              </a:lnSpc>
              <a:spcBef>
                <a:spcPts val="425"/>
              </a:spcBef>
              <a:tabLst/>
            </a:pPr>
            <a:r>
              <a:rPr sz="14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Kimi</a:t>
            </a:r>
            <a:r>
              <a:rPr sz="1400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4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K2.6</a:t>
            </a:r>
            <a:endParaRPr sz="14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6000"/>
              </a:lnSpc>
              <a:spcBef>
                <a:spcPts val="3"/>
              </a:spcBef>
              <a:tabLst/>
            </a:pPr>
            <a:r>
              <a:rPr sz="14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GLM-5.1</a:t>
            </a:r>
            <a:endParaRPr sz="1400" dirty="0">
              <a:latin typeface="Georgia"/>
              <a:ea typeface="Georgia"/>
              <a:cs typeface="Georgia"/>
            </a:endParaRPr>
          </a:p>
        </p:txBody>
      </p:sp>
      <p:grpSp>
        <p:nvGrpSpPr>
          <p:cNvPr id="78" name="group 78"/>
          <p:cNvGrpSpPr/>
          <p:nvPr/>
        </p:nvGrpSpPr>
        <p:grpSpPr>
          <a:xfrm rot="21600000">
            <a:off x="3619500" y="3810000"/>
            <a:ext cx="8001000" cy="400050"/>
            <a:chOff x="0" y="0"/>
            <a:chExt cx="8001000" cy="400050"/>
          </a:xfrm>
        </p:grpSpPr>
        <p:sp>
          <p:nvSpPr>
            <p:cNvPr id="1902" name="rect 1902"/>
            <p:cNvSpPr/>
            <p:nvPr/>
          </p:nvSpPr>
          <p:spPr>
            <a:xfrm>
              <a:off x="0" y="0"/>
              <a:ext cx="8001000" cy="40005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4" name="rect 1904"/>
            <p:cNvSpPr/>
            <p:nvPr/>
          </p:nvSpPr>
          <p:spPr>
            <a:xfrm>
              <a:off x="0" y="0"/>
              <a:ext cx="7105650" cy="400050"/>
            </a:xfrm>
            <a:prstGeom prst="rect">
              <a:avLst/>
            </a:prstGeom>
            <a:solidFill>
              <a:srgbClr val="1A1A1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6" name="textbox 1906"/>
            <p:cNvSpPr/>
            <p:nvPr/>
          </p:nvSpPr>
          <p:spPr>
            <a:xfrm>
              <a:off x="6550945" y="155006"/>
              <a:ext cx="433069" cy="1809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4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3000"/>
                </a:lnSpc>
                <a:tabLst/>
              </a:pPr>
              <a:r>
                <a:rPr sz="1400" b="1" kern="0" spc="6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44.4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</p:grpSp>
      <p:sp>
        <p:nvSpPr>
          <p:cNvPr id="1908" name="textbox 1908"/>
          <p:cNvSpPr/>
          <p:nvPr/>
        </p:nvSpPr>
        <p:spPr>
          <a:xfrm>
            <a:off x="3619500" y="4419600"/>
            <a:ext cx="8001000" cy="400050"/>
          </a:xfrm>
          <a:prstGeom prst="rect">
            <a:avLst/>
          </a:prstGeom>
          <a:solidFill>
            <a:srgbClr val="33333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6964044" algn="l" rtl="0" eaLnBrk="0">
              <a:lnSpc>
                <a:spcPct val="77000"/>
              </a:lnSpc>
              <a:tabLst/>
            </a:pPr>
            <a:r>
              <a:rPr sz="1400" b="1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46.9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80" name="group 80"/>
          <p:cNvGrpSpPr/>
          <p:nvPr/>
        </p:nvGrpSpPr>
        <p:grpSpPr>
          <a:xfrm rot="21600000">
            <a:off x="3619500" y="5029200"/>
            <a:ext cx="8001000" cy="400050"/>
            <a:chOff x="0" y="0"/>
            <a:chExt cx="8001000" cy="400050"/>
          </a:xfrm>
        </p:grpSpPr>
        <p:sp>
          <p:nvSpPr>
            <p:cNvPr id="1910" name="rect 1910"/>
            <p:cNvSpPr/>
            <p:nvPr/>
          </p:nvSpPr>
          <p:spPr>
            <a:xfrm>
              <a:off x="0" y="0"/>
              <a:ext cx="8001000" cy="40005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12" name="rect 1912"/>
            <p:cNvSpPr/>
            <p:nvPr/>
          </p:nvSpPr>
          <p:spPr>
            <a:xfrm>
              <a:off x="0" y="0"/>
              <a:ext cx="6629400" cy="400050"/>
            </a:xfrm>
            <a:prstGeom prst="rect">
              <a:avLst/>
            </a:prstGeom>
            <a:solidFill>
              <a:srgbClr val="D5D8D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14" name="textbox 1914"/>
            <p:cNvSpPr/>
            <p:nvPr/>
          </p:nvSpPr>
          <p:spPr>
            <a:xfrm>
              <a:off x="6099996" y="154644"/>
              <a:ext cx="403860" cy="1816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4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3000"/>
                </a:lnSpc>
                <a:tabLst/>
              </a:pPr>
              <a:r>
                <a:rPr sz="1400" b="1" kern="0" spc="7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41.4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 rot="21600000">
            <a:off x="3619500" y="5638800"/>
            <a:ext cx="8001000" cy="400050"/>
            <a:chOff x="0" y="0"/>
            <a:chExt cx="8001000" cy="400050"/>
          </a:xfrm>
        </p:grpSpPr>
        <p:sp>
          <p:nvSpPr>
            <p:cNvPr id="1916" name="rect 1916"/>
            <p:cNvSpPr/>
            <p:nvPr/>
          </p:nvSpPr>
          <p:spPr>
            <a:xfrm>
              <a:off x="0" y="0"/>
              <a:ext cx="8001000" cy="40005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18" name="rect 1918"/>
            <p:cNvSpPr/>
            <p:nvPr/>
          </p:nvSpPr>
          <p:spPr>
            <a:xfrm>
              <a:off x="0" y="0"/>
              <a:ext cx="6400800" cy="400050"/>
            </a:xfrm>
            <a:prstGeom prst="rect">
              <a:avLst/>
            </a:prstGeom>
            <a:solidFill>
              <a:srgbClr val="D5D8D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20" name="textbox 1920"/>
            <p:cNvSpPr/>
            <p:nvPr/>
          </p:nvSpPr>
          <p:spPr>
            <a:xfrm>
              <a:off x="5828384" y="154463"/>
              <a:ext cx="452119" cy="184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4000"/>
                </a:lnSpc>
                <a:tabLst/>
              </a:pPr>
              <a:r>
                <a:rPr sz="1400" b="1" kern="0" spc="10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40.0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 rot="21600000">
            <a:off x="3619500" y="6248400"/>
            <a:ext cx="8001000" cy="400050"/>
            <a:chOff x="0" y="0"/>
            <a:chExt cx="8001000" cy="400050"/>
          </a:xfrm>
        </p:grpSpPr>
        <p:sp>
          <p:nvSpPr>
            <p:cNvPr id="1922" name="rect 1922"/>
            <p:cNvSpPr/>
            <p:nvPr/>
          </p:nvSpPr>
          <p:spPr>
            <a:xfrm>
              <a:off x="0" y="0"/>
              <a:ext cx="8001000" cy="40005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24" name="rect 1924"/>
            <p:cNvSpPr/>
            <p:nvPr/>
          </p:nvSpPr>
          <p:spPr>
            <a:xfrm>
              <a:off x="0" y="0"/>
              <a:ext cx="6372225" cy="400050"/>
            </a:xfrm>
            <a:prstGeom prst="rect">
              <a:avLst/>
            </a:prstGeom>
            <a:solidFill>
              <a:srgbClr val="D5D8D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26" name="textbox 1926"/>
            <p:cNvSpPr/>
            <p:nvPr/>
          </p:nvSpPr>
          <p:spPr>
            <a:xfrm>
              <a:off x="5815022" y="122974"/>
              <a:ext cx="433069" cy="1898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31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7000"/>
                </a:lnSpc>
                <a:tabLst/>
              </a:pPr>
              <a:r>
                <a:rPr sz="1400" b="1" kern="0" spc="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39.8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 rot="21600000">
            <a:off x="3619500" y="6858000"/>
            <a:ext cx="8001000" cy="400050"/>
            <a:chOff x="0" y="0"/>
            <a:chExt cx="8001000" cy="400050"/>
          </a:xfrm>
        </p:grpSpPr>
        <p:sp>
          <p:nvSpPr>
            <p:cNvPr id="1928" name="rect 1928"/>
            <p:cNvSpPr/>
            <p:nvPr/>
          </p:nvSpPr>
          <p:spPr>
            <a:xfrm>
              <a:off x="0" y="0"/>
              <a:ext cx="8001000" cy="40005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30" name="rect 1930"/>
            <p:cNvSpPr/>
            <p:nvPr/>
          </p:nvSpPr>
          <p:spPr>
            <a:xfrm>
              <a:off x="0" y="0"/>
              <a:ext cx="6029325" cy="400050"/>
            </a:xfrm>
            <a:prstGeom prst="rect">
              <a:avLst/>
            </a:prstGeom>
            <a:solidFill>
              <a:srgbClr val="4D6B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32" name="textbox 1932"/>
            <p:cNvSpPr/>
            <p:nvPr/>
          </p:nvSpPr>
          <p:spPr>
            <a:xfrm>
              <a:off x="5518110" y="154463"/>
              <a:ext cx="394970" cy="184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4000"/>
                </a:lnSpc>
                <a:tabLst/>
              </a:pPr>
              <a:r>
                <a:rPr sz="1400" b="1" kern="0" spc="2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37.7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 rot="21600000">
            <a:off x="3619500" y="7467600"/>
            <a:ext cx="8001000" cy="400050"/>
            <a:chOff x="0" y="0"/>
            <a:chExt cx="8001000" cy="400050"/>
          </a:xfrm>
        </p:grpSpPr>
        <p:sp>
          <p:nvSpPr>
            <p:cNvPr id="1934" name="rect 1934"/>
            <p:cNvSpPr/>
            <p:nvPr/>
          </p:nvSpPr>
          <p:spPr>
            <a:xfrm>
              <a:off x="0" y="0"/>
              <a:ext cx="8001000" cy="40005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36" name="rect 1936"/>
            <p:cNvSpPr/>
            <p:nvPr/>
          </p:nvSpPr>
          <p:spPr>
            <a:xfrm>
              <a:off x="0" y="0"/>
              <a:ext cx="5829300" cy="400050"/>
            </a:xfrm>
            <a:prstGeom prst="rect">
              <a:avLst/>
            </a:prstGeom>
            <a:solidFill>
              <a:srgbClr val="D5D8D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38" name="textbox 1938"/>
            <p:cNvSpPr/>
            <p:nvPr/>
          </p:nvSpPr>
          <p:spPr>
            <a:xfrm>
              <a:off x="5275967" y="123155"/>
              <a:ext cx="427990" cy="1892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56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7000"/>
                </a:lnSpc>
                <a:tabLst/>
              </a:pPr>
              <a:r>
                <a:rPr sz="1400" b="1" kern="0" spc="5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36.4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</p:grpSp>
      <p:pic>
        <p:nvPicPr>
          <p:cNvPr id="1940" name="picture 19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19500" y="8077200"/>
            <a:ext cx="8001000" cy="400050"/>
          </a:xfrm>
          <a:prstGeom prst="rect">
            <a:avLst/>
          </a:prstGeom>
        </p:spPr>
      </p:pic>
      <p:sp>
        <p:nvSpPr>
          <p:cNvPr id="1942" name="textbox 194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944" name="picture 19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90" name="group 90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946" name="picture 194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948" name="textbox 1948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7302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950" name="textbox 1950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952" name="picture 19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43000" y="8401050"/>
            <a:ext cx="14287500" cy="19050"/>
          </a:xfrm>
          <a:prstGeom prst="rect">
            <a:avLst/>
          </a:prstGeom>
        </p:spPr>
      </p:pic>
      <p:sp>
        <p:nvSpPr>
          <p:cNvPr id="1954" name="textbox 1954"/>
          <p:cNvSpPr/>
          <p:nvPr/>
        </p:nvSpPr>
        <p:spPr>
          <a:xfrm>
            <a:off x="16038426" y="517118"/>
            <a:ext cx="109728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08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956" name="picture 19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1958" name="picture 195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2192000" y="3810000"/>
            <a:ext cx="28575" cy="3086100"/>
          </a:xfrm>
          <a:prstGeom prst="rect">
            <a:avLst/>
          </a:prstGeom>
        </p:spPr>
      </p:pic>
      <p:sp>
        <p:nvSpPr>
          <p:cNvPr id="1960" name="textbox 1960"/>
          <p:cNvSpPr/>
          <p:nvPr/>
        </p:nvSpPr>
        <p:spPr>
          <a:xfrm>
            <a:off x="8640376" y="8231663"/>
            <a:ext cx="412115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1400" b="1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34.7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2" name="table 1962"/>
          <p:cNvGraphicFramePr>
            <a:graphicFrameLocks noGrp="1"/>
          </p:cNvGraphicFramePr>
          <p:nvPr/>
        </p:nvGraphicFramePr>
        <p:xfrm>
          <a:off x="1143000" y="3238500"/>
          <a:ext cx="7715250" cy="501967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7715250"/>
              </a:tblGrid>
              <a:tr h="5010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 L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 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 O O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 S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2594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22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只靠内置推理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64" name="table 1964"/>
          <p:cNvGraphicFramePr>
            <a:graphicFrameLocks noGrp="1"/>
          </p:cNvGraphicFramePr>
          <p:nvPr/>
        </p:nvGraphicFramePr>
        <p:xfrm>
          <a:off x="9429750" y="3238500"/>
          <a:ext cx="7714614" cy="5019674"/>
        </p:xfrm>
        <a:graphic>
          <a:graphicData uri="http://schemas.openxmlformats.org/drawingml/2006/table">
            <a:tbl>
              <a:tblPr/>
              <a:tblGrid>
                <a:gridCol w="3983990"/>
                <a:gridCol w="3730625"/>
              </a:tblGrid>
              <a:tr h="118554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 L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  ·   W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I T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   T O O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 S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8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9419" algn="l" rtl="0" eaLnBrk="0">
                        <a:lnSpc>
                          <a:spcPts val="2789"/>
                        </a:lnSpc>
                        <a:tabLst/>
                      </a:pPr>
                      <a:r>
                        <a:rPr sz="22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能调搜索、代码、</a:t>
                      </a:r>
                      <a:r>
                        <a:rPr sz="2200" kern="0" spc="-3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2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计算器</a:t>
                      </a:r>
                      <a:endParaRPr sz="2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1960" algn="l" rtl="0" eaLnBrk="0">
                        <a:lnSpc>
                          <a:spcPts val="152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Kimi</a:t>
                      </a:r>
                      <a:r>
                        <a:rPr sz="1200" kern="0" spc="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r>
                        <a:rPr sz="1200" kern="0" spc="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2.6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0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30830" algn="l" rtl="0" eaLnBrk="0">
                        <a:lnSpc>
                          <a:spcPts val="1224"/>
                        </a:lnSpc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54.0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23919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0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7515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2800" b="1" kern="0" spc="-20" dirty="0">
                          <a:solidFill>
                            <a:srgbClr val="C83737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倒</a:t>
                      </a:r>
                      <a:r>
                        <a:rPr sz="2800" kern="0" spc="-20" dirty="0">
                          <a:solidFill>
                            <a:srgbClr val="C83737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800" b="1" kern="0" spc="-20" dirty="0">
                          <a:solidFill>
                            <a:srgbClr val="C83737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2800" b="1" kern="0" spc="560" dirty="0">
                          <a:solidFill>
                            <a:srgbClr val="C83737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从原本倒 </a:t>
                      </a:r>
                      <a:r>
                        <a:rPr sz="11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8565" algn="l" rtl="0" eaLnBrk="0">
                        <a:lnSpc>
                          <a:spcPts val="1381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变成全场倒 </a:t>
                      </a:r>
                      <a:r>
                        <a:rPr sz="11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66" name="table 1966"/>
          <p:cNvGraphicFramePr>
            <a:graphicFrameLocks noGrp="1"/>
          </p:cNvGraphicFramePr>
          <p:nvPr/>
        </p:nvGraphicFramePr>
        <p:xfrm>
          <a:off x="9858375" y="4886325"/>
          <a:ext cx="6857364" cy="2199640"/>
        </p:xfrm>
        <a:graphic>
          <a:graphicData uri="http://schemas.openxmlformats.org/drawingml/2006/table">
            <a:tbl>
              <a:tblPr/>
              <a:tblGrid>
                <a:gridCol w="3800475"/>
                <a:gridCol w="3056890"/>
              </a:tblGrid>
              <a:tr h="4425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ts val="1521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Opus</a:t>
                      </a:r>
                      <a:r>
                        <a:rPr sz="12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4.6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53.1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ts val="152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GPT</a:t>
                      </a:r>
                      <a:r>
                        <a:rPr sz="12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-5.4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4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52.0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ts val="152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Gemini 3.1</a:t>
                      </a:r>
                      <a:r>
                        <a:rPr sz="1200" kern="0" spc="2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12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51.6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ts val="152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GLM</a:t>
                      </a:r>
                      <a:r>
                        <a:rPr sz="12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-5.1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4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50.4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5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ts val="152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DS-V4-Pro-Ma</a:t>
                      </a:r>
                      <a:r>
                        <a:rPr sz="12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10" dirty="0">
                          <a:solidFill>
                            <a:srgbClr val="C83737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48.2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68" name="table 1968"/>
          <p:cNvGraphicFramePr>
            <a:graphicFrameLocks noGrp="1"/>
          </p:cNvGraphicFramePr>
          <p:nvPr/>
        </p:nvGraphicFramePr>
        <p:xfrm>
          <a:off x="1571625" y="4589296"/>
          <a:ext cx="6858635" cy="1945639"/>
        </p:xfrm>
        <a:graphic>
          <a:graphicData uri="http://schemas.openxmlformats.org/drawingml/2006/table">
            <a:tbl>
              <a:tblPr/>
              <a:tblGrid>
                <a:gridCol w="810895"/>
                <a:gridCol w="2981960"/>
                <a:gridCol w="3065780"/>
              </a:tblGrid>
              <a:tr h="297180">
                <a:tc>
                  <a:txBody>
                    <a:bodyPr/>
                    <a:lstStyle/>
                    <a:p>
                      <a:pPr marL="8890" algn="l" rtl="0" eaLnBrk="0">
                        <a:lnSpc>
                          <a:spcPts val="1521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Gemini</a:t>
                      </a:r>
                      <a:r>
                        <a:rPr sz="1200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3.1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2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44.4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59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ts val="1521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Opus</a:t>
                      </a:r>
                      <a:r>
                        <a:rPr sz="12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4.6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4"/>
                        </a:lnSpc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40.0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ts val="1521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GPT</a:t>
                      </a:r>
                      <a:r>
                        <a:rPr sz="12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-5.4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39.8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29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ts val="1521"/>
                        </a:lnSpc>
                        <a:tabLst/>
                      </a:pPr>
                      <a:r>
                        <a:rPr sz="1200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DS-V4-Pro-Ma</a:t>
                      </a:r>
                      <a:r>
                        <a:rPr sz="12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4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6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37.7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48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8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ts val="1469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Kimi</a:t>
                      </a:r>
                      <a:r>
                        <a:rPr sz="1200" kern="0" spc="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r>
                        <a:rPr sz="12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2.6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9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5000"/>
                        </a:lnSpc>
                        <a:tabLst/>
                      </a:pPr>
                      <a:r>
                        <a:rPr sz="16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36.4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70" name="textbox 1970"/>
          <p:cNvSpPr/>
          <p:nvPr/>
        </p:nvSpPr>
        <p:spPr>
          <a:xfrm>
            <a:off x="1130300" y="1479143"/>
            <a:ext cx="11877675" cy="1060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工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具 协 调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579"/>
              </a:lnSpc>
              <a:spcBef>
                <a:spcPts val="4"/>
              </a:spcBef>
              <a:tabLst/>
            </a:pPr>
            <a:r>
              <a:rPr sz="45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给</a:t>
            </a:r>
            <a:r>
              <a:rPr sz="4500" kern="0" spc="-3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1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HLE </a:t>
            </a:r>
            <a:r>
              <a:rPr sz="4500" b="1" kern="0" spc="-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配上工具</a:t>
            </a:r>
            <a:r>
              <a:rPr sz="4500" b="1" kern="0" spc="-1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4500" b="1" i="1" kern="0" spc="-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</a:t>
            </a:r>
            <a:r>
              <a:rPr sz="4500" b="1" i="1" kern="0" spc="-1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pSeek</a:t>
            </a:r>
            <a:r>
              <a:rPr sz="4500" b="1" i="1" kern="0" spc="4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600" b="1" i="1" kern="0" spc="-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反而倒数第一</a:t>
            </a:r>
            <a:endParaRPr sz="4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972" name="picture 19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974" name="textbox 1974"/>
          <p:cNvSpPr/>
          <p:nvPr/>
        </p:nvSpPr>
        <p:spPr>
          <a:xfrm>
            <a:off x="1135443" y="8654669"/>
            <a:ext cx="14188439" cy="572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6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22000"/>
              </a:lnSpc>
              <a:tabLst/>
            </a:pPr>
            <a:r>
              <a:rPr sz="15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所有其他模型加上工具都会涨分 </a:t>
            </a:r>
            <a:r>
              <a:rPr sz="15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11-18 </a:t>
            </a:r>
            <a:r>
              <a:rPr sz="15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个百分点。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</a:t>
            </a:r>
            <a:r>
              <a:rPr sz="15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sz="1500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5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1500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只涨了1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0.5</a:t>
            </a:r>
            <a:r>
              <a:rPr sz="1500" kern="0" spc="-1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分，名次却从倒</a:t>
            </a:r>
            <a:r>
              <a:rPr sz="1500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1500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掉到倒 1一连 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Kimi K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2.6</a:t>
            </a:r>
            <a:r>
              <a:rPr sz="1500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都超不过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5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这是</a:t>
            </a:r>
            <a:r>
              <a:rPr sz="1500" kern="0" spc="-1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 </a:t>
            </a:r>
            <a:r>
              <a:rPr sz="15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能力的结构性短板：工具</a:t>
            </a: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使用的协调不行。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976" name="textbox 197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978" name="picture 19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92" name="group 92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1980" name="picture 198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1982" name="textbox 1982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985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984" name="textbox 1984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986" name="picture 19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8401050"/>
            <a:ext cx="14287500" cy="19050"/>
          </a:xfrm>
          <a:prstGeom prst="rect">
            <a:avLst/>
          </a:prstGeom>
        </p:spPr>
      </p:pic>
      <p:sp>
        <p:nvSpPr>
          <p:cNvPr id="1988" name="textbox 1988"/>
          <p:cNvSpPr/>
          <p:nvPr/>
        </p:nvSpPr>
        <p:spPr>
          <a:xfrm>
            <a:off x="16038426" y="517118"/>
            <a:ext cx="109728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08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990" name="picture 19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1992" name="picture 19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858375" y="7239000"/>
            <a:ext cx="685800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textbox 1994"/>
          <p:cNvSpPr/>
          <p:nvPr/>
        </p:nvSpPr>
        <p:spPr>
          <a:xfrm>
            <a:off x="1130300" y="1479143"/>
            <a:ext cx="10857230" cy="1050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2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. 0</a:t>
            </a:r>
            <a:endParaRPr sz="900" dirty="0">
              <a:latin typeface="Arial"/>
              <a:ea typeface="Arial"/>
              <a:cs typeface="Arial"/>
            </a:endParaRPr>
          </a:p>
          <a:p>
            <a:pPr marL="34290" algn="l" rtl="0" eaLnBrk="0">
              <a:lnSpc>
                <a:spcPts val="5579"/>
              </a:lnSpc>
              <a:spcBef>
                <a:spcPts val="1328"/>
              </a:spcBef>
              <a:tabLst/>
            </a:pPr>
            <a:r>
              <a:rPr sz="4500" b="1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真实终端任务：</a:t>
            </a:r>
            <a:r>
              <a:rPr sz="4500" kern="0" spc="-14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8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差</a:t>
            </a:r>
            <a:r>
              <a:rPr sz="4500" kern="0" spc="-29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8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GPT-5.5 </a:t>
            </a:r>
            <a:r>
              <a:rPr sz="4500" b="1" kern="0" spc="-8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约</a:t>
            </a:r>
            <a:r>
              <a:rPr sz="4500" kern="0" spc="-9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9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15 </a:t>
            </a:r>
            <a:r>
              <a:rPr sz="4500" b="1" kern="0" spc="-9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个百分点</a:t>
            </a:r>
            <a:endParaRPr sz="4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1996" name="picture 19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1998" name="textbox 1998"/>
          <p:cNvSpPr/>
          <p:nvPr/>
        </p:nvSpPr>
        <p:spPr>
          <a:xfrm>
            <a:off x="1197356" y="8333943"/>
            <a:ext cx="9154160" cy="810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sz="10100" b="1" kern="0" spc="-30" baseline="-3094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_14.8</a:t>
            </a:r>
            <a:r>
              <a:rPr sz="4300" b="1" kern="0" spc="-30" baseline="-7268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pp</a:t>
            </a:r>
            <a:r>
              <a:rPr sz="2700" b="1" kern="0" spc="-3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</a:t>
            </a:r>
            <a:r>
              <a:rPr sz="2500" kern="0" spc="-30" baseline="10417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——De</a:t>
            </a:r>
            <a:r>
              <a:rPr sz="2500" kern="0" spc="-40" baseline="10417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epSeek-V4</a:t>
            </a:r>
            <a:r>
              <a:rPr sz="1600" kern="0" spc="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500" kern="0" spc="-40" baseline="10417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与新</a:t>
            </a:r>
            <a:r>
              <a:rPr sz="1600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500" kern="0" spc="-40" baseline="10417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SOTA</a:t>
            </a:r>
            <a:r>
              <a:rPr sz="1600" kern="0" spc="-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500" kern="0" spc="-40" baseline="10417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差距</a:t>
            </a:r>
            <a:r>
              <a:rPr sz="2500" b="1" kern="0" spc="-40" baseline="10417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实际上扩大到</a:t>
            </a:r>
            <a:r>
              <a:rPr sz="1600" kern="0" spc="-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500" b="1" kern="0" spc="-40" baseline="10417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14.8</a:t>
            </a:r>
            <a:r>
              <a:rPr sz="1600" b="1" kern="0" spc="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500" b="1" kern="0" spc="-40" baseline="10417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个百分点</a:t>
            </a:r>
            <a:r>
              <a:rPr sz="2500" kern="0" spc="-40" baseline="10417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2500" baseline="10417" dirty="0"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94" name="group 94"/>
          <p:cNvGrpSpPr/>
          <p:nvPr/>
        </p:nvGrpSpPr>
        <p:grpSpPr>
          <a:xfrm rot="21600000">
            <a:off x="3810000" y="3238500"/>
            <a:ext cx="13335000" cy="419100"/>
            <a:chOff x="0" y="0"/>
            <a:chExt cx="13335000" cy="419100"/>
          </a:xfrm>
        </p:grpSpPr>
        <p:sp>
          <p:nvSpPr>
            <p:cNvPr id="2000" name="rect 2000"/>
            <p:cNvSpPr/>
            <p:nvPr/>
          </p:nvSpPr>
          <p:spPr>
            <a:xfrm>
              <a:off x="0" y="0"/>
              <a:ext cx="13335000" cy="41910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02" name="rect 2002"/>
            <p:cNvSpPr/>
            <p:nvPr/>
          </p:nvSpPr>
          <p:spPr>
            <a:xfrm>
              <a:off x="0" y="0"/>
              <a:ext cx="11029950" cy="419100"/>
            </a:xfrm>
            <a:prstGeom prst="rect">
              <a:avLst/>
            </a:prstGeom>
            <a:solidFill>
              <a:srgbClr val="1A1A1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04" name="textbox 2004"/>
            <p:cNvSpPr/>
            <p:nvPr/>
          </p:nvSpPr>
          <p:spPr>
            <a:xfrm>
              <a:off x="10396609" y="121336"/>
              <a:ext cx="473710" cy="2146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8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600" b="1" kern="0" spc="0" dirty="0">
                  <a:solidFill>
                    <a:srgbClr val="FFFFFF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82.7</a:t>
              </a:r>
              <a:endParaRPr sz="1600" dirty="0">
                <a:latin typeface="Georgia"/>
                <a:ea typeface="Georgia"/>
                <a:cs typeface="Georgia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 rot="21600000">
            <a:off x="3810000" y="3790950"/>
            <a:ext cx="13335000" cy="419100"/>
            <a:chOff x="0" y="0"/>
            <a:chExt cx="13335000" cy="419100"/>
          </a:xfrm>
        </p:grpSpPr>
        <p:sp>
          <p:nvSpPr>
            <p:cNvPr id="2006" name="rect 2006"/>
            <p:cNvSpPr/>
            <p:nvPr/>
          </p:nvSpPr>
          <p:spPr>
            <a:xfrm>
              <a:off x="0" y="0"/>
              <a:ext cx="13335000" cy="41910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08" name="rect 2008"/>
            <p:cNvSpPr/>
            <p:nvPr/>
          </p:nvSpPr>
          <p:spPr>
            <a:xfrm>
              <a:off x="0" y="0"/>
              <a:ext cx="10010775" cy="419100"/>
            </a:xfrm>
            <a:prstGeom prst="rect">
              <a:avLst/>
            </a:prstGeom>
            <a:solidFill>
              <a:srgbClr val="D5D8D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10" name="textbox 2010"/>
            <p:cNvSpPr/>
            <p:nvPr/>
          </p:nvSpPr>
          <p:spPr>
            <a:xfrm>
              <a:off x="9426209" y="158007"/>
              <a:ext cx="429260" cy="1809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222"/>
                </a:lnSpc>
                <a:tabLst/>
              </a:pP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75.1</a:t>
              </a:r>
              <a:endParaRPr sz="1600" dirty="0">
                <a:latin typeface="Georgia"/>
                <a:ea typeface="Georgia"/>
                <a:cs typeface="Georgia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 rot="21600000">
            <a:off x="3810000" y="4343400"/>
            <a:ext cx="13335000" cy="419100"/>
            <a:chOff x="0" y="0"/>
            <a:chExt cx="13335000" cy="419100"/>
          </a:xfrm>
        </p:grpSpPr>
        <p:sp>
          <p:nvSpPr>
            <p:cNvPr id="2012" name="rect 2012"/>
            <p:cNvSpPr/>
            <p:nvPr/>
          </p:nvSpPr>
          <p:spPr>
            <a:xfrm>
              <a:off x="0" y="0"/>
              <a:ext cx="13335000" cy="41910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14" name="rect 2014"/>
            <p:cNvSpPr/>
            <p:nvPr/>
          </p:nvSpPr>
          <p:spPr>
            <a:xfrm>
              <a:off x="0" y="0"/>
              <a:ext cx="9258300" cy="419100"/>
            </a:xfrm>
            <a:prstGeom prst="rect">
              <a:avLst/>
            </a:prstGeom>
            <a:solidFill>
              <a:srgbClr val="D5D8D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16" name="textbox 2016"/>
            <p:cNvSpPr/>
            <p:nvPr/>
          </p:nvSpPr>
          <p:spPr>
            <a:xfrm>
              <a:off x="8604359" y="121545"/>
              <a:ext cx="490855" cy="2152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83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69.4</a:t>
              </a:r>
              <a:endParaRPr sz="1600" dirty="0">
                <a:latin typeface="Georgia"/>
                <a:ea typeface="Georgia"/>
                <a:cs typeface="Georgia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 rot="21600000">
            <a:off x="3810000" y="4895850"/>
            <a:ext cx="13335000" cy="419100"/>
            <a:chOff x="0" y="0"/>
            <a:chExt cx="13335000" cy="419100"/>
          </a:xfrm>
        </p:grpSpPr>
        <p:sp>
          <p:nvSpPr>
            <p:cNvPr id="2018" name="rect 2018"/>
            <p:cNvSpPr/>
            <p:nvPr/>
          </p:nvSpPr>
          <p:spPr>
            <a:xfrm>
              <a:off x="0" y="0"/>
              <a:ext cx="13335000" cy="41910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0" name="rect 2020"/>
            <p:cNvSpPr/>
            <p:nvPr/>
          </p:nvSpPr>
          <p:spPr>
            <a:xfrm>
              <a:off x="0" y="0"/>
              <a:ext cx="9134475" cy="419100"/>
            </a:xfrm>
            <a:prstGeom prst="rect">
              <a:avLst/>
            </a:prstGeom>
            <a:solidFill>
              <a:srgbClr val="D5D8D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2" name="textbox 2022"/>
            <p:cNvSpPr/>
            <p:nvPr/>
          </p:nvSpPr>
          <p:spPr>
            <a:xfrm>
              <a:off x="8488870" y="121336"/>
              <a:ext cx="486410" cy="2146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8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68.5</a:t>
              </a:r>
              <a:endParaRPr sz="1600" dirty="0">
                <a:latin typeface="Georgia"/>
                <a:ea typeface="Georgia"/>
                <a:cs typeface="Georgia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 rot="21600000">
            <a:off x="3810000" y="5448300"/>
            <a:ext cx="13335000" cy="419100"/>
            <a:chOff x="0" y="0"/>
            <a:chExt cx="13335000" cy="419100"/>
          </a:xfrm>
        </p:grpSpPr>
        <p:sp>
          <p:nvSpPr>
            <p:cNvPr id="2024" name="rect 2024"/>
            <p:cNvSpPr/>
            <p:nvPr/>
          </p:nvSpPr>
          <p:spPr>
            <a:xfrm>
              <a:off x="0" y="0"/>
              <a:ext cx="13335000" cy="41910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6" name="rect 2026"/>
            <p:cNvSpPr/>
            <p:nvPr/>
          </p:nvSpPr>
          <p:spPr>
            <a:xfrm>
              <a:off x="0" y="0"/>
              <a:ext cx="9058275" cy="419100"/>
            </a:xfrm>
            <a:prstGeom prst="rect">
              <a:avLst/>
            </a:prstGeom>
            <a:solidFill>
              <a:srgbClr val="4D6BF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8" name="textbox 2028"/>
            <p:cNvSpPr/>
            <p:nvPr/>
          </p:nvSpPr>
          <p:spPr>
            <a:xfrm>
              <a:off x="8424277" y="121545"/>
              <a:ext cx="471169" cy="2152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83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600" b="1" kern="0" spc="0" dirty="0">
                  <a:solidFill>
                    <a:srgbClr val="FFFFFF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67.9</a:t>
              </a:r>
              <a:endParaRPr sz="1600" dirty="0">
                <a:latin typeface="Georgia"/>
                <a:ea typeface="Georgia"/>
                <a:cs typeface="Georgia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 rot="21600000">
            <a:off x="3810000" y="6000750"/>
            <a:ext cx="13335000" cy="419100"/>
            <a:chOff x="0" y="0"/>
            <a:chExt cx="13335000" cy="419100"/>
          </a:xfrm>
        </p:grpSpPr>
        <p:sp>
          <p:nvSpPr>
            <p:cNvPr id="2030" name="rect 2030"/>
            <p:cNvSpPr/>
            <p:nvPr/>
          </p:nvSpPr>
          <p:spPr>
            <a:xfrm>
              <a:off x="0" y="0"/>
              <a:ext cx="13335000" cy="41910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2" name="rect 2032"/>
            <p:cNvSpPr/>
            <p:nvPr/>
          </p:nvSpPr>
          <p:spPr>
            <a:xfrm>
              <a:off x="0" y="0"/>
              <a:ext cx="8896350" cy="419100"/>
            </a:xfrm>
            <a:prstGeom prst="rect">
              <a:avLst/>
            </a:prstGeom>
            <a:solidFill>
              <a:srgbClr val="D5D8D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4" name="textbox 2034"/>
            <p:cNvSpPr/>
            <p:nvPr/>
          </p:nvSpPr>
          <p:spPr>
            <a:xfrm>
              <a:off x="8264287" y="121545"/>
              <a:ext cx="472440" cy="2146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570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66.7</a:t>
              </a:r>
              <a:endParaRPr sz="1600" dirty="0">
                <a:latin typeface="Georgia"/>
                <a:ea typeface="Georgia"/>
                <a:cs typeface="Georgia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 rot="21600000">
            <a:off x="3810000" y="6553200"/>
            <a:ext cx="13335000" cy="419100"/>
            <a:chOff x="0" y="0"/>
            <a:chExt cx="13335000" cy="419100"/>
          </a:xfrm>
        </p:grpSpPr>
        <p:sp>
          <p:nvSpPr>
            <p:cNvPr id="2036" name="rect 2036"/>
            <p:cNvSpPr/>
            <p:nvPr/>
          </p:nvSpPr>
          <p:spPr>
            <a:xfrm>
              <a:off x="0" y="0"/>
              <a:ext cx="13335000" cy="419100"/>
            </a:xfrm>
            <a:prstGeom prst="rect">
              <a:avLst/>
            </a:prstGeom>
            <a:solidFill>
              <a:srgbClr val="F3F4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8" name="rect 2038"/>
            <p:cNvSpPr/>
            <p:nvPr/>
          </p:nvSpPr>
          <p:spPr>
            <a:xfrm>
              <a:off x="0" y="0"/>
              <a:ext cx="8724900" cy="419100"/>
            </a:xfrm>
            <a:prstGeom prst="rect">
              <a:avLst/>
            </a:prstGeom>
            <a:solidFill>
              <a:srgbClr val="D5D8D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0" name="textbox 2040"/>
            <p:cNvSpPr/>
            <p:nvPr/>
          </p:nvSpPr>
          <p:spPr>
            <a:xfrm>
              <a:off x="8081079" y="121545"/>
              <a:ext cx="481330" cy="2146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570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65.4</a:t>
              </a:r>
              <a:endParaRPr sz="1600" dirty="0">
                <a:latin typeface="Georgia"/>
                <a:ea typeface="Georgia"/>
                <a:cs typeface="Georgia"/>
              </a:endParaRPr>
            </a:p>
          </p:txBody>
        </p:sp>
      </p:grpSp>
      <p:sp>
        <p:nvSpPr>
          <p:cNvPr id="2042" name="textbox 2042"/>
          <p:cNvSpPr/>
          <p:nvPr/>
        </p:nvSpPr>
        <p:spPr>
          <a:xfrm>
            <a:off x="1136586" y="3364483"/>
            <a:ext cx="1560195" cy="3522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5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GPT-5.5</a:t>
            </a:r>
            <a:r>
              <a:rPr sz="1500" b="1" kern="0" spc="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i="1" kern="0" spc="-1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1000" b="1" i="1" kern="0" spc="16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i="1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新基准</a:t>
            </a:r>
            <a:endParaRPr sz="10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5000"/>
              </a:lnSpc>
              <a:spcBef>
                <a:spcPts val="451"/>
              </a:spcBef>
              <a:tabLst/>
            </a:pP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GPT-5.4</a:t>
            </a:r>
            <a:endParaRPr sz="15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0000"/>
              </a:lnSpc>
              <a:spcBef>
                <a:spcPts val="455"/>
              </a:spcBef>
              <a:tabLst/>
            </a:pP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Opus 4.7</a:t>
            </a:r>
            <a:endParaRPr sz="15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8000"/>
              </a:lnSpc>
              <a:spcBef>
                <a:spcPts val="461"/>
              </a:spcBef>
              <a:tabLst/>
            </a:pP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Gemini 3.1</a:t>
            </a:r>
            <a:r>
              <a:rPr sz="1500" kern="0" spc="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ro</a:t>
            </a:r>
            <a:endParaRPr sz="15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459"/>
              </a:spcBef>
              <a:tabLst/>
            </a:pPr>
            <a:r>
              <a:rPr sz="1500" b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DS-V4-Pro-Max</a:t>
            </a:r>
            <a:endParaRPr sz="15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6000"/>
              </a:lnSpc>
              <a:spcBef>
                <a:spcPts val="460"/>
              </a:spcBef>
              <a:tabLst/>
            </a:pP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Kimi</a:t>
            </a:r>
            <a:r>
              <a:rPr sz="1500" kern="0" spc="1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K2.6</a:t>
            </a:r>
            <a:endParaRPr sz="15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0000"/>
              </a:lnSpc>
              <a:spcBef>
                <a:spcPts val="1"/>
              </a:spcBef>
              <a:tabLst/>
            </a:pPr>
            <a:r>
              <a:rPr sz="1500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Opus 4.6</a:t>
            </a:r>
            <a:endParaRPr sz="1500" dirty="0">
              <a:latin typeface="Georgia"/>
              <a:ea typeface="Georgia"/>
              <a:cs typeface="Georgia"/>
            </a:endParaRPr>
          </a:p>
        </p:txBody>
      </p:sp>
      <p:sp>
        <p:nvSpPr>
          <p:cNvPr id="2044" name="textbox 2044"/>
          <p:cNvSpPr/>
          <p:nvPr/>
        </p:nvSpPr>
        <p:spPr>
          <a:xfrm>
            <a:off x="4357193" y="8373186"/>
            <a:ext cx="101663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46"/>
              </a:lnSpc>
              <a:tabLst/>
            </a:pPr>
            <a:r>
              <a:rPr sz="16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论文只对标到 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GPT</a:t>
            </a:r>
            <a:r>
              <a:rPr sz="1600" kern="0" spc="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-5.4</a:t>
            </a:r>
            <a:r>
              <a:rPr sz="16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（差 </a:t>
            </a:r>
            <a:r>
              <a:rPr sz="1600" kern="0" spc="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7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pp</a:t>
            </a:r>
            <a:r>
              <a:rPr sz="16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）。但 </a:t>
            </a:r>
            <a:r>
              <a:rPr sz="1600" b="1" kern="0" spc="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GPT</a:t>
            </a:r>
            <a:r>
              <a:rPr sz="16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-5.5 </a:t>
            </a:r>
            <a:r>
              <a:rPr sz="1600" b="1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于</a:t>
            </a:r>
            <a:r>
              <a:rPr sz="1600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kern="0" spc="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2026-</a:t>
            </a:r>
            <a:r>
              <a:rPr sz="1600" b="1" kern="0" spc="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04-23 </a:t>
            </a:r>
            <a:r>
              <a:rPr sz="1600" b="1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发布</a:t>
            </a:r>
            <a:r>
              <a:rPr sz="16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Terminal</a:t>
            </a:r>
            <a:r>
              <a:rPr sz="1600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-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Bench</a:t>
            </a:r>
            <a:r>
              <a:rPr sz="1600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2.0 </a:t>
            </a:r>
            <a:r>
              <a:rPr sz="16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直接做到 </a:t>
            </a:r>
            <a:r>
              <a:rPr sz="1600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82.7 </a:t>
            </a:r>
            <a:r>
              <a:rPr sz="16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046" name="textbox 204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048" name="picture 20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08" name="group 108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050" name="picture 20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052" name="textbox 2052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794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054" name="textbox 2054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56" name="textbox 2056"/>
          <p:cNvSpPr/>
          <p:nvPr/>
        </p:nvSpPr>
        <p:spPr>
          <a:xfrm>
            <a:off x="16038426" y="517118"/>
            <a:ext cx="109728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08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058" name="picture 20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extbox 2060"/>
          <p:cNvSpPr/>
          <p:nvPr/>
        </p:nvSpPr>
        <p:spPr>
          <a:xfrm>
            <a:off x="1130300" y="1479143"/>
            <a:ext cx="16038830" cy="2411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创 意 写 作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22225" algn="l" rtl="0" eaLnBrk="0">
              <a:lnSpc>
                <a:spcPts val="5579"/>
              </a:lnSpc>
              <a:spcBef>
                <a:spcPts val="1403"/>
              </a:spcBef>
              <a:tabLst/>
            </a:pPr>
            <a:r>
              <a:rPr sz="45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打</a:t>
            </a:r>
            <a:r>
              <a:rPr sz="4500" kern="0" spc="-3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Gemini</a:t>
            </a:r>
            <a:r>
              <a:rPr sz="45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能赢</a:t>
            </a:r>
            <a:r>
              <a:rPr sz="4500" kern="0" spc="-8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500" b="1" kern="0" spc="-4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打</a:t>
            </a:r>
            <a:r>
              <a:rPr sz="4500" kern="0" spc="-29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4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Opus</a:t>
            </a:r>
            <a:r>
              <a:rPr sz="4500" b="1" kern="0" spc="-5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4.5 </a:t>
            </a:r>
            <a:r>
              <a:rPr sz="4500" b="1" kern="0" spc="-5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就输了</a:t>
            </a:r>
            <a:endParaRPr sz="45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514" algn="l" rtl="0" eaLnBrk="0">
              <a:lnSpc>
                <a:spcPct val="86000"/>
              </a:lnSpc>
              <a:spcBef>
                <a:spcPts val="515"/>
              </a:spcBef>
              <a:tabLst/>
            </a:pPr>
            <a:r>
              <a:rPr sz="1700" i="1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中文写作胜率（</a:t>
            </a: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DeepSeek-V4-Pro vs  </a:t>
            </a:r>
            <a:r>
              <a:rPr sz="1700" i="1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基线模型）</a:t>
            </a: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1700" i="1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</a:t>
            </a:r>
            <a:r>
              <a:rPr sz="1700" i="1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文</a:t>
            </a:r>
            <a:r>
              <a:rPr sz="1700" kern="0" spc="-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i="1" kern="0" spc="-3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Table 18</a:t>
            </a:r>
            <a:r>
              <a:rPr sz="1600" i="1" kern="0" spc="29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700" i="1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原数据</a:t>
            </a:r>
            <a:endParaRPr sz="17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859"/>
              </a:lnSpc>
              <a:spcBef>
                <a:spcPts val="1"/>
              </a:spcBef>
              <a:tabLst/>
            </a:pPr>
            <a:r>
              <a:rPr sz="15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功能性写作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vs Gemini 3.1 Pro                                                                                                                                                                               </a:t>
            </a:r>
            <a:r>
              <a:rPr sz="15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                                                      </a:t>
            </a:r>
            <a:r>
              <a:rPr sz="1000" i="1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日常白领任务：</a:t>
            </a:r>
            <a:r>
              <a:rPr sz="1000" kern="0" spc="-2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邮件、</a:t>
            </a:r>
            <a:r>
              <a:rPr sz="1000" kern="0" spc="-1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报告、</a:t>
            </a:r>
            <a:r>
              <a:rPr sz="1000" kern="0" spc="-1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总结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062" name="picture 20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pic>
        <p:nvPicPr>
          <p:cNvPr id="2064" name="picture 20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52525" y="3990975"/>
            <a:ext cx="15982950" cy="628650"/>
          </a:xfrm>
          <a:prstGeom prst="rect">
            <a:avLst/>
          </a:prstGeom>
        </p:spPr>
      </p:pic>
      <p:graphicFrame>
        <p:nvGraphicFramePr>
          <p:cNvPr id="2066" name="table 2066"/>
          <p:cNvGraphicFramePr>
            <a:graphicFrameLocks noGrp="1"/>
          </p:cNvGraphicFramePr>
          <p:nvPr/>
        </p:nvGraphicFramePr>
        <p:xfrm>
          <a:off x="1143000" y="3981450"/>
          <a:ext cx="16002000" cy="647700"/>
        </p:xfrm>
        <a:graphic>
          <a:graphicData uri="http://schemas.openxmlformats.org/drawingml/2006/table">
            <a:tbl>
              <a:tblPr/>
              <a:tblGrid>
                <a:gridCol w="16002000"/>
              </a:tblGrid>
              <a:tr h="638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80" algn="l" rtl="0" eaLnBrk="0">
                        <a:lnSpc>
                          <a:spcPct val="7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1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DS-V4</a:t>
                      </a:r>
                      <a:r>
                        <a:rPr sz="2100" b="1" kern="0" spc="1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62.7%                                                                                           </a:t>
                      </a:r>
                      <a:r>
                        <a:rPr sz="2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                                                       </a:t>
                      </a:r>
                      <a:r>
                        <a:rPr sz="2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Gemini</a:t>
                      </a:r>
                      <a:r>
                        <a:rPr sz="2100" b="1" kern="0" spc="1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34.1%</a:t>
                      </a:r>
                      <a:endParaRPr sz="2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68" name="picture 20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52525" y="5324475"/>
            <a:ext cx="15982950" cy="628650"/>
          </a:xfrm>
          <a:prstGeom prst="rect">
            <a:avLst/>
          </a:prstGeom>
        </p:spPr>
      </p:pic>
      <p:graphicFrame>
        <p:nvGraphicFramePr>
          <p:cNvPr id="2070" name="table 2070"/>
          <p:cNvGraphicFramePr>
            <a:graphicFrameLocks noGrp="1"/>
          </p:cNvGraphicFramePr>
          <p:nvPr/>
        </p:nvGraphicFramePr>
        <p:xfrm>
          <a:off x="1143000" y="5314950"/>
          <a:ext cx="16002000" cy="647700"/>
        </p:xfrm>
        <a:graphic>
          <a:graphicData uri="http://schemas.openxmlformats.org/drawingml/2006/table">
            <a:tbl>
              <a:tblPr/>
              <a:tblGrid>
                <a:gridCol w="16002000"/>
              </a:tblGrid>
              <a:tr h="638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80" algn="l" rtl="0" eaLnBrk="0">
                        <a:lnSpc>
                          <a:spcPct val="7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1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DS-V4</a:t>
                      </a:r>
                      <a:r>
                        <a:rPr sz="2100" b="1" kern="0" spc="1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77.5%                                                                                                           </a:t>
                      </a:r>
                      <a:r>
                        <a:rPr sz="2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                                                         </a:t>
                      </a:r>
                      <a:r>
                        <a:rPr sz="2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Gemini</a:t>
                      </a:r>
                      <a:r>
                        <a:rPr sz="2100" b="1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22.5%</a:t>
                      </a:r>
                      <a:endParaRPr sz="2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72" name="picture 20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52525" y="6657975"/>
            <a:ext cx="15982950" cy="628650"/>
          </a:xfrm>
          <a:prstGeom prst="rect">
            <a:avLst/>
          </a:prstGeom>
        </p:spPr>
      </p:pic>
      <p:graphicFrame>
        <p:nvGraphicFramePr>
          <p:cNvPr id="2074" name="table 2074"/>
          <p:cNvGraphicFramePr>
            <a:graphicFrameLocks noGrp="1"/>
          </p:cNvGraphicFramePr>
          <p:nvPr/>
        </p:nvGraphicFramePr>
        <p:xfrm>
          <a:off x="1143000" y="6648450"/>
          <a:ext cx="16002000" cy="647700"/>
        </p:xfrm>
        <a:graphic>
          <a:graphicData uri="http://schemas.openxmlformats.org/drawingml/2006/table">
            <a:tbl>
              <a:tblPr/>
              <a:tblGrid>
                <a:gridCol w="16002000"/>
              </a:tblGrid>
              <a:tr h="638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80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DS-V4</a:t>
                      </a:r>
                      <a:r>
                        <a:rPr sz="2100" b="1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45.9%                                                                                                                         </a:t>
                      </a:r>
                      <a:r>
                        <a:rPr sz="21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   </a:t>
                      </a:r>
                      <a:r>
                        <a:rPr sz="2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Opus 4.5</a:t>
                      </a:r>
                      <a:r>
                        <a:rPr sz="2100" b="1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52.0%</a:t>
                      </a:r>
                      <a:endParaRPr sz="21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76" name="textbox 2076"/>
          <p:cNvSpPr/>
          <p:nvPr/>
        </p:nvSpPr>
        <p:spPr>
          <a:xfrm>
            <a:off x="1431766" y="7965383"/>
            <a:ext cx="10069195" cy="537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ts val="1962"/>
              </a:lnSpc>
              <a:tabLst/>
            </a:pPr>
            <a:r>
              <a:rPr sz="1400" i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「对于复杂约束</a:t>
            </a:r>
            <a:r>
              <a:rPr sz="1400" i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1400" i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多轮场景下的创意写作任务，</a:t>
            </a:r>
            <a:r>
              <a:rPr sz="1400" kern="0" spc="-2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i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DeepSeek-V4</a:t>
            </a:r>
            <a:r>
              <a:rPr sz="1400" i="1" kern="0" spc="1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400" i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相对</a:t>
            </a:r>
            <a:r>
              <a:rPr sz="1400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i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Claude Opus 4.5  </a:t>
            </a:r>
            <a:r>
              <a:rPr sz="1400" i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的胜率为</a:t>
            </a:r>
            <a:r>
              <a:rPr sz="1400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i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45.9%</a:t>
            </a:r>
            <a:r>
              <a:rPr sz="1400" i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，略低于</a:t>
            </a:r>
            <a:r>
              <a:rPr sz="1400" kern="0" spc="-1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i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52.</a:t>
            </a:r>
            <a:r>
              <a:rPr sz="1400" i="1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0%  </a:t>
            </a:r>
            <a:r>
              <a:rPr sz="1400" i="1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的基线。」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"/>
              </a:spcBef>
              <a:tabLst/>
            </a:pP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SEEK-V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TECHNICAL</a:t>
            </a:r>
            <a:r>
              <a:rPr sz="900" kern="0" spc="2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REPORT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TABLE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8</a:t>
            </a:r>
            <a:endParaRPr sz="900" dirty="0">
              <a:latin typeface="Georgia"/>
              <a:ea typeface="Georgia"/>
              <a:cs typeface="Georgia"/>
            </a:endParaRPr>
          </a:p>
        </p:txBody>
      </p:sp>
      <p:sp>
        <p:nvSpPr>
          <p:cNvPr id="2078" name="textbox 2078"/>
          <p:cNvSpPr/>
          <p:nvPr/>
        </p:nvSpPr>
        <p:spPr>
          <a:xfrm>
            <a:off x="1138491" y="6295517"/>
            <a:ext cx="16030575" cy="262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60"/>
              </a:lnSpc>
              <a:tabLst/>
            </a:pPr>
            <a:r>
              <a:rPr sz="1500" b="1" kern="0" spc="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高难度约束</a:t>
            </a:r>
            <a:r>
              <a:rPr sz="1500" kern="0" spc="-11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1" kern="0" spc="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1500" b="1" kern="0" spc="12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1" kern="0" spc="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多轮场景</a:t>
            </a:r>
            <a:r>
              <a:rPr sz="1500" kern="0" spc="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1" kern="0" spc="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vs Claude Opus 4.5                                                                                                                                                                                  </a:t>
            </a:r>
            <a:r>
              <a:rPr sz="1500" b="1" kern="0" spc="-1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                                    </a:t>
            </a:r>
            <a:r>
              <a:rPr sz="1000" i="1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复杂指令跟随、</a:t>
            </a:r>
            <a:r>
              <a:rPr sz="10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i="1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多约束创作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080" name="textbox 2080"/>
          <p:cNvSpPr/>
          <p:nvPr/>
        </p:nvSpPr>
        <p:spPr>
          <a:xfrm>
            <a:off x="1134681" y="4962017"/>
            <a:ext cx="16015970" cy="262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60"/>
              </a:lnSpc>
              <a:tabLst/>
            </a:pPr>
            <a:r>
              <a:rPr sz="1500" b="1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创意写作</a:t>
            </a:r>
            <a:r>
              <a:rPr sz="15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1500" b="1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写作质量</a:t>
            </a:r>
            <a:r>
              <a:rPr sz="15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15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vs</a:t>
            </a:r>
            <a:r>
              <a:rPr sz="1500" b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Gemini</a:t>
            </a:r>
            <a:r>
              <a:rPr sz="1500" b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3.1 </a:t>
            </a:r>
            <a:r>
              <a:rPr sz="15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Pro</a:t>
            </a:r>
            <a:r>
              <a:rPr sz="1500" b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                                                                                                                                </a:t>
            </a:r>
            <a:r>
              <a:rPr sz="15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                                                              </a:t>
            </a:r>
            <a:r>
              <a:rPr sz="10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Gemini</a:t>
            </a:r>
            <a:r>
              <a:rPr sz="1000" i="1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「经常让风格偏好压过用户明确需求」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082" name="textbox 208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084" name="picture 20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10" name="group 110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086" name="picture 20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088" name="textbox 2088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7112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090" name="textbox 2090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92" name="textbox 2092"/>
          <p:cNvSpPr/>
          <p:nvPr/>
        </p:nvSpPr>
        <p:spPr>
          <a:xfrm>
            <a:off x="16038426" y="517118"/>
            <a:ext cx="109728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08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094" name="picture 20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2096" name="picture 20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43000" y="7972425"/>
            <a:ext cx="285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textbox 2098"/>
          <p:cNvSpPr/>
          <p:nvPr/>
        </p:nvSpPr>
        <p:spPr>
          <a:xfrm>
            <a:off x="1130300" y="1479143"/>
            <a:ext cx="16040736" cy="4378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分 水 岭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1115" algn="l" rtl="0" eaLnBrk="0">
              <a:lnSpc>
                <a:spcPts val="5579"/>
              </a:lnSpc>
              <a:spcBef>
                <a:spcPts val="1403"/>
              </a:spcBef>
              <a:tabLst/>
            </a:pPr>
            <a:r>
              <a:rPr sz="45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差距的秘密：</a:t>
            </a:r>
            <a:r>
              <a:rPr sz="4500" kern="0" spc="-9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600" b="1" i="1" kern="0" spc="-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有没有</a:t>
            </a:r>
            <a:r>
              <a:rPr sz="4500" b="1" i="1" kern="0" spc="-4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Ground Truth</a:t>
            </a:r>
            <a:endParaRPr sz="45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625" algn="l" rtl="0" eaLnBrk="0">
              <a:lnSpc>
                <a:spcPct val="86000"/>
              </a:lnSpc>
              <a:spcBef>
                <a:spcPts val="519"/>
              </a:spcBef>
              <a:tabLst/>
            </a:pPr>
            <a:r>
              <a:rPr sz="1700" i="1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任务光谱</a:t>
            </a:r>
            <a:r>
              <a:rPr sz="1600" i="1" kern="0" spc="-7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1600" i="1" kern="0" spc="23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700" i="1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从「有标准答</a:t>
            </a:r>
            <a:r>
              <a:rPr sz="1700" i="1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案」滑向「需要品味」，</a:t>
            </a:r>
            <a:r>
              <a:rPr sz="1700" kern="0" spc="-4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i="1" kern="0" spc="-8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DeepSeek-V4  </a:t>
            </a:r>
            <a:r>
              <a:rPr sz="1700" i="1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的排名也随之滑落。</a:t>
            </a:r>
            <a:endParaRPr sz="17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7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有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D   T R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U T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   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 长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需 要 品 </a:t>
            </a:r>
            <a:r>
              <a:rPr sz="900" kern="0" spc="-1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味</a:t>
            </a:r>
            <a:r>
              <a:rPr sz="900" kern="0" spc="8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10" dirty="0">
                <a:solidFill>
                  <a:srgbClr val="C83737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20" dirty="0">
                <a:solidFill>
                  <a:srgbClr val="C83737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吃</a:t>
            </a:r>
            <a:r>
              <a:rPr sz="900" kern="0" spc="-5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瘪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74520" algn="l" rtl="0" eaLnBrk="0">
              <a:lnSpc>
                <a:spcPct val="92000"/>
              </a:lnSpc>
              <a:spcBef>
                <a:spcPts val="401"/>
              </a:spcBef>
              <a:tabLst/>
            </a:pPr>
            <a:r>
              <a:rPr sz="1200" kern="0" spc="80" baseline="26044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MATH</a:t>
            </a:r>
            <a:r>
              <a:rPr sz="7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</a:t>
            </a:r>
            <a:r>
              <a:rPr sz="7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</a:t>
            </a:r>
            <a:r>
              <a:rPr sz="2000" b="1" kern="0" spc="80" baseline="-10417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HLE</a:t>
            </a:r>
            <a:r>
              <a:rPr sz="1300" b="1" kern="0" spc="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000" b="1" kern="0" spc="80" baseline="-10417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硬推理</a:t>
            </a:r>
            <a:r>
              <a:rPr sz="13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</a:t>
            </a:r>
            <a:r>
              <a:rPr sz="13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   </a:t>
            </a:r>
            <a:r>
              <a:rPr sz="1200" kern="0" spc="80" baseline="26044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WRITING</a:t>
            </a:r>
            <a:endParaRPr sz="1200" baseline="26044" dirty="0">
              <a:latin typeface="Arial"/>
              <a:ea typeface="Arial"/>
              <a:cs typeface="Arial"/>
            </a:endParaRPr>
          </a:p>
          <a:p>
            <a:pPr marL="1424305" algn="l" rtl="0" eaLnBrk="0">
              <a:lnSpc>
                <a:spcPct val="91000"/>
              </a:lnSpc>
              <a:spcBef>
                <a:spcPts val="7"/>
              </a:spcBef>
              <a:tabLst/>
            </a:pPr>
            <a:r>
              <a:rPr sz="13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Putnam</a:t>
            </a:r>
            <a:r>
              <a:rPr sz="1300" b="1" kern="0" spc="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300" b="1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形式化</a:t>
            </a:r>
            <a:r>
              <a:rPr sz="13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</a:t>
            </a:r>
            <a:r>
              <a:rPr sz="13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                                                                                                   </a:t>
            </a:r>
            <a:r>
              <a:rPr sz="1300" b="1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创意写作</a:t>
            </a:r>
            <a:endParaRPr sz="1300" dirty="0">
              <a:latin typeface="PingFang SC"/>
              <a:ea typeface="PingFang SC"/>
              <a:cs typeface="PingFang SC"/>
            </a:endParaRPr>
          </a:p>
          <a:p>
            <a:pPr marL="6416040" algn="l" rtl="0" eaLnBrk="0">
              <a:lnSpc>
                <a:spcPct val="76000"/>
              </a:lnSpc>
              <a:spcBef>
                <a:spcPts val="15"/>
              </a:spcBef>
              <a:tabLst/>
            </a:pPr>
            <a:r>
              <a:rPr sz="1900" b="1" kern="0" spc="20" dirty="0">
                <a:solidFill>
                  <a:srgbClr val="66666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开源</a:t>
            </a:r>
            <a:r>
              <a:rPr sz="1900" kern="0" spc="-120" dirty="0">
                <a:solidFill>
                  <a:srgbClr val="66666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b="1" kern="0" spc="0" dirty="0">
                <a:solidFill>
                  <a:srgbClr val="666666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No</a:t>
            </a:r>
            <a:r>
              <a:rPr sz="1900" b="1" kern="0" spc="20" dirty="0">
                <a:solidFill>
                  <a:srgbClr val="666666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.1                                                      </a:t>
            </a:r>
            <a:r>
              <a:rPr sz="1900" b="1" kern="0" spc="10" dirty="0">
                <a:solidFill>
                  <a:srgbClr val="666666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               </a:t>
            </a:r>
            <a:r>
              <a:rPr sz="13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vs</a:t>
            </a:r>
            <a:r>
              <a:rPr sz="1300" b="1" kern="0" spc="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3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Opus</a:t>
            </a:r>
            <a:r>
              <a:rPr sz="1300" b="1" kern="0" spc="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300" b="1" kern="0" spc="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4.5</a:t>
            </a:r>
            <a:endParaRPr sz="13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800" b="1" i="1" kern="0" spc="-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标准化</a:t>
            </a:r>
            <a:r>
              <a:rPr sz="1800" kern="0" spc="1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800" strike="sngStrike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</a:t>
            </a:r>
            <a:r>
              <a:rPr sz="1800" kern="0" spc="-3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strike="sngStrike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</a:t>
            </a:r>
            <a:r>
              <a:rPr sz="1800" kern="0" spc="-3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strike="sngStrike" kern="0" spc="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</a:t>
            </a:r>
            <a:r>
              <a:rPr sz="1800" strike="sngStrike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</a:t>
            </a:r>
            <a:r>
              <a:rPr sz="1800" kern="0" spc="-3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strike="sngStrike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</a:t>
            </a:r>
            <a:r>
              <a:rPr sz="1800" kern="0" spc="-3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400" strike="sngStrike" kern="0" spc="3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</a:t>
            </a:r>
            <a:r>
              <a:rPr sz="1800" strike="sngStrike" kern="0" spc="-4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800" strike="sngStrike" kern="0" spc="-4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800" strike="sngStrike" kern="0" spc="-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</a:t>
            </a:r>
            <a:r>
              <a:rPr sz="1800" kern="0" spc="-24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strike="sngStrike" kern="0" spc="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1800" kern="0" spc="-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800" b="1" i="1" kern="0" spc="-5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品味</a:t>
            </a:r>
            <a:endParaRPr sz="18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100" name="picture 2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51576" y="5381625"/>
            <a:ext cx="28573" cy="381000"/>
          </a:xfrm>
          <a:prstGeom prst="rect">
            <a:avLst/>
          </a:prstGeom>
        </p:spPr>
      </p:pic>
      <p:pic>
        <p:nvPicPr>
          <p:cNvPr id="2102" name="picture 2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992658" y="5381625"/>
            <a:ext cx="28575" cy="381000"/>
          </a:xfrm>
          <a:prstGeom prst="rect">
            <a:avLst/>
          </a:prstGeom>
        </p:spPr>
      </p:pic>
      <p:pic>
        <p:nvPicPr>
          <p:cNvPr id="2104" name="picture 21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97057" y="5153025"/>
            <a:ext cx="28575" cy="438150"/>
          </a:xfrm>
          <a:prstGeom prst="rect">
            <a:avLst/>
          </a:prstGeom>
        </p:spPr>
      </p:pic>
      <p:pic>
        <p:nvPicPr>
          <p:cNvPr id="2106" name="picture 21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496732" y="5381625"/>
            <a:ext cx="28575" cy="381000"/>
          </a:xfrm>
          <a:prstGeom prst="rect">
            <a:avLst/>
          </a:prstGeom>
        </p:spPr>
      </p:pic>
      <p:pic>
        <p:nvPicPr>
          <p:cNvPr id="2108" name="picture 21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82157" y="5400675"/>
            <a:ext cx="19050" cy="190500"/>
          </a:xfrm>
          <a:prstGeom prst="rect">
            <a:avLst/>
          </a:prstGeom>
        </p:spPr>
      </p:pic>
      <p:pic>
        <p:nvPicPr>
          <p:cNvPr id="2110" name="picture 21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112" name="textbox 2112"/>
          <p:cNvSpPr/>
          <p:nvPr/>
        </p:nvSpPr>
        <p:spPr>
          <a:xfrm>
            <a:off x="1137729" y="8654669"/>
            <a:ext cx="15064105" cy="558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indent="-1905" algn="l" rtl="0" eaLnBrk="0">
              <a:lnSpc>
                <a:spcPct val="119000"/>
              </a:lnSpc>
              <a:tabLst/>
            </a:pPr>
            <a:r>
              <a:rPr sz="1500" kern="0" spc="-2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左端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：每道题有一个唯一正确答案，评分函数明确。强化学习能稳定拉动能力上升，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是开源天花板。</a:t>
            </a:r>
            <a:r>
              <a:rPr sz="15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右端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：「好J  与「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不好J  是连续的、主观的，没有可优化的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reward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信</a:t>
            </a:r>
            <a:r>
              <a:rPr sz="15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号。</a:t>
            </a:r>
            <a:r>
              <a:rPr sz="15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竞赛选手基因不一定</a:t>
            </a:r>
            <a:r>
              <a:rPr sz="15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是优势一甚至可能是劣势</a:t>
            </a:r>
            <a:r>
              <a:rPr sz="15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14" name="textbox 2114"/>
          <p:cNvSpPr/>
          <p:nvPr/>
        </p:nvSpPr>
        <p:spPr>
          <a:xfrm>
            <a:off x="3168650" y="4927574"/>
            <a:ext cx="11275060" cy="495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ts val="2418"/>
              </a:lnSpc>
              <a:tabLst>
                <a:tab pos="4521200" algn="l"/>
              </a:tabLst>
            </a:pP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	</a:t>
            </a:r>
            <a:r>
              <a:rPr sz="1700" kern="0" spc="0" baseline="40103" dirty="0">
                <a:solidFill>
                  <a:srgbClr val="66666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闭源落后</a:t>
            </a: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700" kern="0" spc="0" baseline="40103" dirty="0">
                <a:solidFill>
                  <a:srgbClr val="666666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6pp</a:t>
            </a: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                                                                                                                        </a:t>
            </a:r>
            <a:r>
              <a:rPr sz="1100" kern="0" spc="-10" dirty="0">
                <a:solidFill>
                  <a:srgbClr val="666666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                 </a:t>
            </a:r>
            <a:r>
              <a:rPr sz="3000" b="1" kern="0" spc="-10" baseline="3626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45.9%</a:t>
            </a:r>
            <a:r>
              <a:rPr sz="1900" b="1" kern="0" spc="-1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3000" b="1" kern="0" spc="-10" baseline="3626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</a:t>
            </a:r>
            <a:endParaRPr sz="3000" baseline="3626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116" name="picture 21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181350" y="5029200"/>
            <a:ext cx="19050" cy="381000"/>
          </a:xfrm>
          <a:prstGeom prst="rect">
            <a:avLst/>
          </a:prstGeom>
        </p:spPr>
      </p:pic>
      <p:sp>
        <p:nvSpPr>
          <p:cNvPr id="2118" name="textbox 2118"/>
          <p:cNvSpPr/>
          <p:nvPr/>
        </p:nvSpPr>
        <p:spPr>
          <a:xfrm>
            <a:off x="10275775" y="5779052"/>
            <a:ext cx="1439545" cy="756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6094" algn="l" rtl="0" eaLnBrk="0">
              <a:lnSpc>
                <a:spcPct val="74000"/>
              </a:lnSpc>
              <a:tabLst/>
            </a:pP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AG</a:t>
            </a:r>
            <a:r>
              <a:rPr sz="8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NT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654"/>
              </a:spcBef>
              <a:tabLst/>
            </a:pPr>
            <a:r>
              <a:rPr sz="13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Terminal Bench</a:t>
            </a:r>
            <a:endParaRPr sz="13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2395" algn="l" rtl="0" eaLnBrk="0">
              <a:lnSpc>
                <a:spcPct val="86000"/>
              </a:lnSpc>
              <a:tabLst/>
            </a:pPr>
            <a:r>
              <a:rPr sz="1900" b="1" kern="0" spc="-10" dirty="0">
                <a:solidFill>
                  <a:srgbClr val="66666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差</a:t>
            </a:r>
            <a:r>
              <a:rPr sz="1900" kern="0" spc="-10" dirty="0">
                <a:solidFill>
                  <a:srgbClr val="666666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b="1" kern="0" spc="-10" dirty="0">
                <a:solidFill>
                  <a:srgbClr val="666666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14.8 pp</a:t>
            </a:r>
            <a:endParaRPr sz="1900" dirty="0">
              <a:latin typeface="Georgia"/>
              <a:ea typeface="Georgia"/>
              <a:cs typeface="Georgia"/>
            </a:endParaRPr>
          </a:p>
        </p:txBody>
      </p:sp>
      <p:sp>
        <p:nvSpPr>
          <p:cNvPr id="2120" name="textbox 2120"/>
          <p:cNvSpPr/>
          <p:nvPr/>
        </p:nvSpPr>
        <p:spPr>
          <a:xfrm>
            <a:off x="15023726" y="5779052"/>
            <a:ext cx="1214755" cy="756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2430" algn="l" rtl="0" eaLnBrk="0">
              <a:lnSpc>
                <a:spcPct val="74000"/>
              </a:lnSpc>
              <a:tabLst/>
            </a:pPr>
            <a:r>
              <a:rPr sz="8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TOO</a:t>
            </a:r>
            <a:r>
              <a:rPr sz="8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650"/>
              </a:spcBef>
              <a:tabLst/>
            </a:pPr>
            <a:r>
              <a:rPr sz="13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HLE</a:t>
            </a:r>
            <a:r>
              <a:rPr sz="1300" b="1" kern="0" spc="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3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w</a:t>
            </a:r>
            <a:r>
              <a:rPr sz="1300" b="1" kern="0" spc="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 </a:t>
            </a:r>
            <a:r>
              <a:rPr sz="13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Tools</a:t>
            </a:r>
            <a:endParaRPr sz="13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8590" algn="l" rtl="0" eaLnBrk="0">
              <a:lnSpc>
                <a:spcPct val="85000"/>
              </a:lnSpc>
              <a:tabLst/>
            </a:pPr>
            <a:r>
              <a:rPr sz="1900" b="1" kern="0" spc="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全场倒</a:t>
            </a:r>
            <a:r>
              <a:rPr sz="1900" kern="0" spc="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b="1" kern="0" spc="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endParaRPr sz="1900" dirty="0">
              <a:latin typeface="Georgia"/>
              <a:ea typeface="Georgia"/>
              <a:cs typeface="Georgia"/>
            </a:endParaRPr>
          </a:p>
        </p:txBody>
      </p:sp>
      <p:sp>
        <p:nvSpPr>
          <p:cNvPr id="2122" name="textbox 2122"/>
          <p:cNvSpPr/>
          <p:nvPr/>
        </p:nvSpPr>
        <p:spPr>
          <a:xfrm>
            <a:off x="4993419" y="5754954"/>
            <a:ext cx="1005839" cy="800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9555" algn="l" rtl="0" eaLnBrk="0">
              <a:lnSpc>
                <a:spcPts val="984"/>
              </a:lnSpc>
              <a:tabLst/>
            </a:pPr>
            <a:r>
              <a:rPr sz="8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CODING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8000"/>
              </a:lnSpc>
              <a:spcBef>
                <a:spcPts val="561"/>
              </a:spcBef>
              <a:tabLst/>
            </a:pPr>
            <a:r>
              <a:rPr sz="1300" b="1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Codeforces</a:t>
            </a:r>
            <a:endParaRPr sz="13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18"/>
              </a:lnSpc>
              <a:tabLst/>
            </a:pPr>
            <a:r>
              <a:rPr sz="1900" b="1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全场第一</a:t>
            </a:r>
            <a:endParaRPr sz="1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24" name="textbox 212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26" name="textbox 2126"/>
          <p:cNvSpPr/>
          <p:nvPr/>
        </p:nvSpPr>
        <p:spPr>
          <a:xfrm>
            <a:off x="2676910" y="4698974"/>
            <a:ext cx="1000760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18"/>
              </a:lnSpc>
              <a:tabLst/>
            </a:pPr>
            <a:r>
              <a:rPr sz="1900" b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全场第一</a:t>
            </a:r>
            <a:endParaRPr sz="1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128" name="picture 21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43000" y="8401050"/>
            <a:ext cx="15240000" cy="19050"/>
          </a:xfrm>
          <a:prstGeom prst="rect">
            <a:avLst/>
          </a:prstGeom>
        </p:spPr>
      </p:pic>
      <p:pic>
        <p:nvPicPr>
          <p:cNvPr id="2130" name="picture 21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12" name="group 112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132" name="picture 213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134" name="textbox 2134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858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136" name="textbox 2136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138" name="textbox 2138"/>
          <p:cNvSpPr/>
          <p:nvPr/>
        </p:nvSpPr>
        <p:spPr>
          <a:xfrm>
            <a:off x="16038426" y="517118"/>
            <a:ext cx="109728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08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140" name="picture 21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114"/>
          <p:cNvGrpSpPr/>
          <p:nvPr/>
        </p:nvGrpSpPr>
        <p:grpSpPr>
          <a:xfrm rot="21600000">
            <a:off x="1143000" y="3619500"/>
            <a:ext cx="16002000" cy="1457325"/>
            <a:chOff x="0" y="0"/>
            <a:chExt cx="16002000" cy="1457325"/>
          </a:xfrm>
        </p:grpSpPr>
        <p:sp>
          <p:nvSpPr>
            <p:cNvPr id="2142" name="rect 2142"/>
            <p:cNvSpPr/>
            <p:nvPr/>
          </p:nvSpPr>
          <p:spPr>
            <a:xfrm>
              <a:off x="0" y="0"/>
              <a:ext cx="16002000" cy="1457325"/>
            </a:xfrm>
            <a:prstGeom prst="rect">
              <a:avLst/>
            </a:prstGeom>
            <a:solidFill>
              <a:srgbClr val="F7F8F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44" name="textbox 2144"/>
            <p:cNvSpPr/>
            <p:nvPr/>
          </p:nvSpPr>
          <p:spPr>
            <a:xfrm>
              <a:off x="394969" y="259486"/>
              <a:ext cx="11298555" cy="926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1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18539" algn="l" rtl="0" eaLnBrk="0">
                <a:lnSpc>
                  <a:spcPct val="99000"/>
                </a:lnSpc>
                <a:tabLst/>
              </a:pP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 R C H I T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 CT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 A L   B L OAT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3130"/>
                </a:lnSpc>
                <a:spcBef>
                  <a:spcPts val="98"/>
                </a:spcBef>
                <a:tabLst/>
              </a:pPr>
              <a:r>
                <a:rPr sz="6400" b="1" kern="0" spc="30" baseline="1068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01</a:t>
              </a:r>
              <a:r>
                <a:rPr sz="4100" b="1" kern="0" spc="1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</a:t>
              </a:r>
              <a:r>
                <a:rPr sz="1900" b="1" kern="0" spc="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架构臃肿</a:t>
              </a:r>
              <a:r>
                <a:rPr sz="1900" b="1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——</a:t>
              </a:r>
              <a:r>
                <a:rPr sz="1900" b="1" kern="0" spc="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叠了太</a:t>
              </a:r>
              <a:r>
                <a:rPr sz="1900" b="1" kern="0" spc="2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多组件，不知道哪个真正重要</a:t>
              </a:r>
              <a:endParaRPr sz="19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61415" algn="l" rtl="0" eaLnBrk="0">
                <a:lnSpc>
                  <a:spcPts val="1756"/>
                </a:lnSpc>
                <a:tabLst/>
              </a:pPr>
              <a:r>
                <a:rPr sz="1300" i="1" kern="0" spc="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「现有架构叠加了多项组件（</a:t>
              </a:r>
              <a:r>
                <a:rPr sz="1200" i="1" kern="0" spc="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mHC</a:t>
              </a:r>
              <a:r>
                <a:rPr sz="1200" i="1" kern="0" spc="-13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200" i="1" kern="0" spc="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200" i="1" kern="0" spc="-5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200" i="1" kern="0" spc="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HCA</a:t>
              </a:r>
              <a:r>
                <a:rPr sz="1200" i="1" kern="0" spc="-6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200" i="1" kern="0" spc="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 CSA</a:t>
              </a:r>
              <a:r>
                <a:rPr sz="1200" i="1" kern="0" spc="-5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200" i="1" kern="0" spc="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200" i="1" kern="0" spc="-6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200" i="1" kern="0" spc="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DTA</a:t>
              </a:r>
              <a:r>
                <a:rPr sz="1200" i="1" kern="0" spc="-6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200" i="1" kern="0" spc="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200" i="1" kern="0" spc="-8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200" i="1" kern="0" spc="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Muon</a:t>
              </a:r>
              <a:r>
                <a:rPr sz="1200" i="1" kern="0" spc="-6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200" i="1" kern="0" spc="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200" i="1" kern="0" spc="-6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200" i="1" kern="0" spc="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LPO</a:t>
              </a:r>
              <a:r>
                <a:rPr sz="1300" i="1" kern="0" spc="1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），</a:t>
              </a:r>
              <a:r>
                <a:rPr sz="1200" b="1" kern="0" spc="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我们并未系统消融各</a:t>
              </a:r>
              <a:r>
                <a:rPr sz="1200" b="1" kern="0" spc="-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组件的独立贡献</a:t>
              </a:r>
              <a:r>
                <a:rPr sz="1200" kern="0" spc="-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300" i="1" kern="0" spc="-1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。未来需要更严格的分解实验。」</a:t>
              </a:r>
              <a:endParaRPr sz="13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146" name="picture 21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8100" cy="1457325"/>
            </a:xfrm>
            <a:prstGeom prst="rect">
              <a:avLst/>
            </a:prstGeom>
          </p:spPr>
        </p:pic>
      </p:grpSp>
      <p:grpSp>
        <p:nvGrpSpPr>
          <p:cNvPr id="116" name="group 116"/>
          <p:cNvGrpSpPr/>
          <p:nvPr/>
        </p:nvGrpSpPr>
        <p:grpSpPr>
          <a:xfrm rot="21600000">
            <a:off x="1143000" y="5343525"/>
            <a:ext cx="16002000" cy="1457325"/>
            <a:chOff x="0" y="0"/>
            <a:chExt cx="16002000" cy="1457325"/>
          </a:xfrm>
        </p:grpSpPr>
        <p:sp>
          <p:nvSpPr>
            <p:cNvPr id="2148" name="rect 2148"/>
            <p:cNvSpPr/>
            <p:nvPr/>
          </p:nvSpPr>
          <p:spPr>
            <a:xfrm>
              <a:off x="0" y="0"/>
              <a:ext cx="16002000" cy="1457325"/>
            </a:xfrm>
            <a:prstGeom prst="rect">
              <a:avLst/>
            </a:prstGeom>
            <a:solidFill>
              <a:srgbClr val="F7F8F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50" name="textbox 2150"/>
            <p:cNvSpPr/>
            <p:nvPr/>
          </p:nvSpPr>
          <p:spPr>
            <a:xfrm>
              <a:off x="1406829" y="259486"/>
              <a:ext cx="11584305" cy="926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1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tabLst/>
              </a:pP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 M P I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CA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,   N OT   U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 T O O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7780" algn="l" rtl="0" eaLnBrk="0">
                <a:lnSpc>
                  <a:spcPts val="2418"/>
                </a:lnSpc>
                <a:spcBef>
                  <a:spcPts val="808"/>
                </a:spcBef>
                <a:tabLst/>
              </a:pPr>
              <a:r>
                <a:rPr sz="1900" b="1" kern="0" spc="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关键技术起效了，但不理解为</a:t>
              </a:r>
              <a:r>
                <a:rPr sz="1900" b="1" kern="0" spc="2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什么</a:t>
              </a:r>
              <a:endParaRPr sz="19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6204" algn="l" rtl="0" eaLnBrk="0">
                <a:lnSpc>
                  <a:spcPts val="1580"/>
                </a:lnSpc>
                <a:spcBef>
                  <a:spcPts val="2"/>
                </a:spcBef>
                <a:tabLst/>
              </a:pPr>
              <a:r>
                <a:rPr sz="1300" i="1" kern="0" spc="-1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「</a:t>
              </a:r>
              <a:r>
                <a:rPr sz="1200" b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Anticipatory Routing </a:t>
              </a:r>
              <a:r>
                <a:rPr sz="1200" b="1" kern="0" spc="-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和</a:t>
              </a:r>
              <a:r>
                <a:rPr sz="1200" kern="0" spc="-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200" b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SwiGLU Clam</a:t>
              </a:r>
              <a:r>
                <a:rPr sz="1200" b="1" kern="0" spc="-2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ping </a:t>
              </a:r>
              <a:r>
                <a:rPr sz="1200" b="1" kern="0" spc="-2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在实验中被证实有效</a:t>
              </a:r>
              <a:r>
                <a:rPr sz="1200" kern="0" spc="1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300" i="1" kern="0" spc="-2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，但我们缺乏对其底层机制的理论理解</a:t>
              </a:r>
              <a:r>
                <a:rPr sz="1200" i="1" kern="0" spc="-2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——</a:t>
              </a:r>
              <a:r>
                <a:rPr sz="1300" i="1" kern="0" spc="-2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它们为何起作用</a:t>
              </a:r>
              <a:r>
                <a:rPr sz="1300" kern="0" spc="-2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300" i="1" kern="0" spc="-2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、何时失效，仍是开放问题。」</a:t>
              </a:r>
              <a:endParaRPr sz="13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152" name="picture 215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8100" cy="1457325"/>
            </a:xfrm>
            <a:prstGeom prst="rect">
              <a:avLst/>
            </a:prstGeom>
          </p:spPr>
        </p:pic>
      </p:grpSp>
      <p:grpSp>
        <p:nvGrpSpPr>
          <p:cNvPr id="118" name="group 118"/>
          <p:cNvGrpSpPr/>
          <p:nvPr/>
        </p:nvGrpSpPr>
        <p:grpSpPr>
          <a:xfrm rot="21600000">
            <a:off x="1143000" y="7067550"/>
            <a:ext cx="16002000" cy="1457325"/>
            <a:chOff x="0" y="0"/>
            <a:chExt cx="16002000" cy="1457325"/>
          </a:xfrm>
        </p:grpSpPr>
        <p:sp>
          <p:nvSpPr>
            <p:cNvPr id="2154" name="rect 2154"/>
            <p:cNvSpPr/>
            <p:nvPr/>
          </p:nvSpPr>
          <p:spPr>
            <a:xfrm>
              <a:off x="0" y="0"/>
              <a:ext cx="16002000" cy="1457325"/>
            </a:xfrm>
            <a:prstGeom prst="rect">
              <a:avLst/>
            </a:prstGeom>
            <a:solidFill>
              <a:srgbClr val="F7F8F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56" name="textbox 2156"/>
            <p:cNvSpPr/>
            <p:nvPr/>
          </p:nvSpPr>
          <p:spPr>
            <a:xfrm>
              <a:off x="1403172" y="259486"/>
              <a:ext cx="12985750" cy="926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1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tabLst/>
              </a:pP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 PA R S I T Y   N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OT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E X T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   E</a:t>
              </a:r>
              <a:r>
                <a:rPr sz="900" kern="0" spc="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</a:t>
              </a:r>
              <a:r>
                <a:rPr sz="900" kern="0" spc="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</a:t>
              </a:r>
              <a:r>
                <a:rPr sz="900" kern="0" spc="-1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</a:t>
              </a:r>
              <a:r>
                <a:rPr sz="900" kern="0" spc="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ts val="2417"/>
                </a:lnSpc>
                <a:spcBef>
                  <a:spcPts val="808"/>
                </a:spcBef>
                <a:tabLst/>
              </a:pPr>
              <a:r>
                <a:rPr sz="19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Sparse</a:t>
              </a:r>
              <a:r>
                <a:rPr sz="1900" b="1" kern="0" spc="4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900" b="1" kern="0" spc="4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还不够极致</a:t>
              </a:r>
              <a:r>
                <a:rPr sz="1900" b="1" kern="0" spc="4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——</a:t>
              </a:r>
              <a:r>
                <a:rPr sz="1900" b="1" kern="0" spc="4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激活比还能往下压</a:t>
              </a:r>
              <a:endParaRPr sz="19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0015" algn="l" rtl="0" eaLnBrk="0">
                <a:lnSpc>
                  <a:spcPts val="1581"/>
                </a:lnSpc>
                <a:spcBef>
                  <a:spcPts val="2"/>
                </a:spcBef>
                <a:tabLst/>
              </a:pPr>
              <a:r>
                <a:rPr sz="1300" i="1" kern="0" spc="-4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「</a:t>
              </a:r>
              <a:r>
                <a:rPr sz="1200" b="1" kern="0" spc="-4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我们相信进一步稀疏化仍有空间</a:t>
              </a:r>
              <a:r>
                <a:rPr sz="1200" i="1" kern="0" spc="-4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——</a:t>
              </a:r>
              <a:r>
                <a:rPr sz="1300" i="1" kern="0" spc="-4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当前</a:t>
              </a:r>
              <a:r>
                <a:rPr sz="1300" kern="0" spc="-18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200" i="1" kern="0" spc="-4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49B/1.6T</a:t>
              </a:r>
              <a:r>
                <a:rPr sz="1200" i="1" kern="0" spc="13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300" i="1" kern="0" spc="-4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的</a:t>
              </a:r>
              <a:r>
                <a:rPr sz="1300" kern="0" spc="-23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200" i="1" kern="0" spc="-4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3%</a:t>
              </a:r>
              <a:r>
                <a:rPr sz="1200" i="1" kern="0" spc="200" dirty="0">
                  <a:solidFill>
                    <a:srgbClr val="5A5A5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300" i="1" kern="0" spc="-4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激活比</a:t>
              </a:r>
              <a:r>
                <a:rPr sz="1300" kern="0" spc="10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300" i="1" kern="0" spc="-4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离理论上界仍有距离。极致稀疏化会带来更严重的路由不平衡和训练不稳定，但也是开源打赢</a:t>
              </a:r>
              <a:r>
                <a:rPr sz="1300" i="1" kern="0" spc="-5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闭源的下</a:t>
              </a:r>
              <a:r>
                <a:rPr sz="1300" kern="0" spc="-5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1300" i="1" kern="0" spc="-5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一个关键。」</a:t>
              </a:r>
              <a:endParaRPr sz="13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158" name="picture 21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8100" cy="1457325"/>
            </a:xfrm>
            <a:prstGeom prst="rect">
              <a:avLst/>
            </a:prstGeom>
          </p:spPr>
        </p:pic>
      </p:grpSp>
      <p:sp>
        <p:nvSpPr>
          <p:cNvPr id="2160" name="textbox 2160"/>
          <p:cNvSpPr/>
          <p:nvPr/>
        </p:nvSpPr>
        <p:spPr>
          <a:xfrm>
            <a:off x="1129671" y="1479143"/>
            <a:ext cx="7824469" cy="172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885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诚 实 的 承 认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26035" algn="l" rtl="0" eaLnBrk="0">
              <a:lnSpc>
                <a:spcPts val="5394"/>
              </a:lnSpc>
              <a:spcBef>
                <a:spcPts val="1318"/>
              </a:spcBef>
              <a:tabLst/>
            </a:pPr>
            <a:r>
              <a:rPr sz="43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论文里</a:t>
            </a:r>
            <a:r>
              <a:rPr sz="4400" b="1" i="1" kern="0" spc="-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自己承认</a:t>
            </a:r>
            <a:r>
              <a:rPr sz="43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的三个局限</a:t>
            </a:r>
            <a:endParaRPr sz="43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"/>
              </a:spcBef>
              <a:tabLst/>
            </a:pP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Section</a:t>
            </a:r>
            <a:r>
              <a:rPr sz="1600" i="1" kern="0" spc="9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6</a:t>
            </a:r>
            <a:r>
              <a:rPr sz="1600" i="1" kern="0" spc="14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i="1" kern="0" spc="-2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Limit</a:t>
            </a:r>
            <a:r>
              <a:rPr sz="1600" i="1" kern="0" spc="-3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ations——DeepSeek</a:t>
            </a:r>
            <a:r>
              <a:rPr sz="1600" i="1" kern="0" spc="30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700" i="1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把硬话自己说了，这在国产大模型论文里少见。</a:t>
            </a:r>
            <a:endParaRPr sz="17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162" name="picture 21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164" name="textbox 2164"/>
          <p:cNvSpPr/>
          <p:nvPr/>
        </p:nvSpPr>
        <p:spPr>
          <a:xfrm>
            <a:off x="1140587" y="8983091"/>
            <a:ext cx="8128000" cy="220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这不是模糊的谦虚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一是三个具体、可验证、可被追问的技术承认。</a:t>
            </a:r>
            <a:r>
              <a:rPr sz="15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最诚实本分的模型</a:t>
            </a:r>
            <a:r>
              <a:rPr sz="15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不是口号。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66" name="textbox 216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168" name="picture 21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705850"/>
            <a:ext cx="15240000" cy="19050"/>
          </a:xfrm>
          <a:prstGeom prst="rect">
            <a:avLst/>
          </a:prstGeom>
        </p:spPr>
      </p:pic>
      <p:pic>
        <p:nvPicPr>
          <p:cNvPr id="2170" name="picture 21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20" name="group 120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172" name="picture 217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174" name="textbox 2174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7683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176" name="textbox 2176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178" name="textbox 2178"/>
          <p:cNvSpPr/>
          <p:nvPr/>
        </p:nvSpPr>
        <p:spPr>
          <a:xfrm>
            <a:off x="1537970" y="7475855"/>
            <a:ext cx="705485" cy="423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134"/>
              </a:lnSpc>
              <a:tabLst/>
            </a:pPr>
            <a:r>
              <a:rPr sz="4200" b="1" kern="0" spc="-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03</a:t>
            </a:r>
            <a:endParaRPr sz="4200" dirty="0">
              <a:latin typeface="Georgia"/>
              <a:ea typeface="Georgia"/>
              <a:cs typeface="Georgia"/>
            </a:endParaRPr>
          </a:p>
        </p:txBody>
      </p:sp>
      <p:sp>
        <p:nvSpPr>
          <p:cNvPr id="2180" name="textbox 2180"/>
          <p:cNvSpPr/>
          <p:nvPr/>
        </p:nvSpPr>
        <p:spPr>
          <a:xfrm>
            <a:off x="1537970" y="5751830"/>
            <a:ext cx="706755" cy="387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851"/>
              </a:lnSpc>
              <a:tabLst/>
            </a:pPr>
            <a:r>
              <a:rPr sz="4200" b="1" kern="0" spc="-1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02</a:t>
            </a:r>
            <a:endParaRPr sz="4200" dirty="0">
              <a:latin typeface="Georgia"/>
              <a:ea typeface="Georgia"/>
              <a:cs typeface="Georgia"/>
            </a:endParaRPr>
          </a:p>
        </p:txBody>
      </p:sp>
      <p:sp>
        <p:nvSpPr>
          <p:cNvPr id="2182" name="textbox 2182"/>
          <p:cNvSpPr/>
          <p:nvPr/>
        </p:nvSpPr>
        <p:spPr>
          <a:xfrm>
            <a:off x="16038426" y="517118"/>
            <a:ext cx="109728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08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184" name="picture 218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textbox 2186"/>
          <p:cNvSpPr/>
          <p:nvPr/>
        </p:nvSpPr>
        <p:spPr>
          <a:xfrm>
            <a:off x="1130300" y="1479143"/>
            <a:ext cx="9169400" cy="4341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小 结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73000"/>
              </a:lnSpc>
              <a:spcBef>
                <a:spcPts val="481"/>
              </a:spcBef>
              <a:tabLst/>
            </a:pPr>
            <a:r>
              <a:rPr sz="1600" b="1" i="1" kern="0" spc="24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THE  VERDICT</a:t>
            </a:r>
            <a:endParaRPr sz="16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180" indent="26035" algn="l" rtl="0" eaLnBrk="0">
              <a:lnSpc>
                <a:spcPct val="98000"/>
              </a:lnSpc>
              <a:spcBef>
                <a:spcPts val="1982"/>
              </a:spcBef>
              <a:tabLst/>
            </a:pPr>
            <a:r>
              <a:rPr sz="6600" b="1" kern="0" spc="-2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需要品味、模糊判断、</a:t>
            </a:r>
            <a:r>
              <a:rPr sz="66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6600" b="1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长链工具调用的任务，</a:t>
            </a:r>
            <a:endParaRPr sz="66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ct val="99000"/>
              </a:lnSpc>
              <a:spcBef>
                <a:spcPts val="39"/>
              </a:spcBef>
              <a:tabLst/>
            </a:pPr>
            <a:r>
              <a:rPr sz="6600" b="1" kern="0" spc="-1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 </a:t>
            </a:r>
            <a:r>
              <a:rPr sz="6600" b="1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6600" b="1" kern="0" spc="-1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差距明</a:t>
            </a:r>
            <a:r>
              <a:rPr sz="6600" b="1" kern="0" spc="-1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显</a:t>
            </a:r>
            <a:r>
              <a:rPr sz="6600" b="1" kern="0" spc="-42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6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188" name="picture 2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190" name="textbox 2190"/>
          <p:cNvSpPr/>
          <p:nvPr/>
        </p:nvSpPr>
        <p:spPr>
          <a:xfrm>
            <a:off x="6615025" y="6269761"/>
            <a:ext cx="1702435" cy="1530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99000"/>
              </a:lnSpc>
              <a:tabLst/>
            </a:pP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 E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 A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   B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 C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  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2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. 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1147"/>
              </a:spcBef>
              <a:tabLst/>
            </a:pPr>
            <a:r>
              <a:rPr sz="24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Agent</a:t>
            </a:r>
            <a:r>
              <a:rPr sz="2400" b="1" kern="0" spc="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400" b="1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类</a:t>
            </a:r>
            <a:endParaRPr sz="2400" dirty="0">
              <a:latin typeface="PingFang SC"/>
              <a:ea typeface="PingFang SC"/>
              <a:cs typeface="PingFang SC"/>
            </a:endParaRPr>
          </a:p>
          <a:p>
            <a:pPr marL="47625" algn="l" rtl="0" eaLnBrk="0">
              <a:lnSpc>
                <a:spcPct val="80000"/>
              </a:lnSpc>
              <a:spcBef>
                <a:spcPts val="1209"/>
              </a:spcBef>
              <a:tabLst/>
            </a:pPr>
            <a:r>
              <a:rPr sz="2700" b="1" kern="0" spc="-4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_14.8pp</a:t>
            </a:r>
            <a:endParaRPr sz="2700" dirty="0">
              <a:latin typeface="Georgia"/>
              <a:ea typeface="Georgia"/>
              <a:cs typeface="Georgia"/>
            </a:endParaRPr>
          </a:p>
          <a:p>
            <a:pPr marL="24765" algn="l" rtl="0" eaLnBrk="0">
              <a:lnSpc>
                <a:spcPts val="1342"/>
              </a:lnSpc>
              <a:spcBef>
                <a:spcPts val="541"/>
              </a:spcBef>
              <a:tabLst/>
            </a:pP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vs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GPT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-5.5</a:t>
            </a: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长链工具调用差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92" name="textbox 2192"/>
          <p:cNvSpPr/>
          <p:nvPr/>
        </p:nvSpPr>
        <p:spPr>
          <a:xfrm>
            <a:off x="1135014" y="6269761"/>
            <a:ext cx="1500505" cy="153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9000"/>
              </a:lnSpc>
              <a:tabLst/>
            </a:pP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C R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 AT I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   W R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 T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endParaRPr sz="900" dirty="0">
              <a:latin typeface="Arial"/>
              <a:ea typeface="Arial"/>
              <a:cs typeface="Arial"/>
            </a:endParaRPr>
          </a:p>
          <a:p>
            <a:pPr marL="42545" algn="l" rtl="0" eaLnBrk="0">
              <a:lnSpc>
                <a:spcPts val="2975"/>
              </a:lnSpc>
              <a:spcBef>
                <a:spcPts val="762"/>
              </a:spcBef>
              <a:tabLst/>
            </a:pPr>
            <a:r>
              <a:rPr sz="2400" b="1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品味类</a:t>
            </a:r>
            <a:endParaRPr sz="2400" dirty="0">
              <a:latin typeface="PingFang SC"/>
              <a:ea typeface="PingFang SC"/>
              <a:cs typeface="PingFang SC"/>
            </a:endParaRPr>
          </a:p>
          <a:p>
            <a:pPr marL="15875" algn="l" rtl="0" eaLnBrk="0">
              <a:lnSpc>
                <a:spcPct val="76000"/>
              </a:lnSpc>
              <a:spcBef>
                <a:spcPts val="1050"/>
              </a:spcBef>
              <a:tabLst/>
            </a:pPr>
            <a:r>
              <a:rPr sz="2700" b="1" kern="0" spc="-2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45.9%</a:t>
            </a:r>
            <a:endParaRPr sz="27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18000"/>
              </a:lnSpc>
              <a:spcBef>
                <a:spcPts val="2"/>
              </a:spcBef>
              <a:tabLst/>
            </a:pP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vs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Opus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4.5</a:t>
            </a:r>
            <a:r>
              <a:rPr sz="11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的胜率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论文自认的硬输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94" name="textbox 2194"/>
          <p:cNvSpPr/>
          <p:nvPr/>
        </p:nvSpPr>
        <p:spPr>
          <a:xfrm>
            <a:off x="1139063" y="8959469"/>
            <a:ext cx="9154795" cy="252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竞赛选手擅长把题做对，不擅长决定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「什么题值得做J</a:t>
            </a:r>
            <a:r>
              <a:rPr sz="15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DeepSeek-V4 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的护城河和短板，都来自同一个基因。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96" name="textbox 2196"/>
          <p:cNvSpPr/>
          <p:nvPr/>
        </p:nvSpPr>
        <p:spPr>
          <a:xfrm>
            <a:off x="12120752" y="6269761"/>
            <a:ext cx="1336675" cy="153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9000"/>
              </a:lnSpc>
              <a:tabLst/>
            </a:pP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 L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   W I T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   T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O O L S</a:t>
            </a:r>
            <a:endParaRPr sz="9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4000"/>
              </a:lnSpc>
              <a:spcBef>
                <a:spcPts val="1159"/>
              </a:spcBef>
              <a:tabLst/>
            </a:pPr>
            <a:r>
              <a:rPr sz="24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工具协调</a:t>
            </a:r>
            <a:endParaRPr sz="2400" dirty="0">
              <a:latin typeface="PingFang SC"/>
              <a:ea typeface="PingFang SC"/>
              <a:cs typeface="PingFang SC"/>
            </a:endParaRPr>
          </a:p>
          <a:p>
            <a:pPr marL="15875" algn="l" rtl="0" eaLnBrk="0">
              <a:lnSpc>
                <a:spcPct val="85000"/>
              </a:lnSpc>
              <a:spcBef>
                <a:spcPts val="1094"/>
              </a:spcBef>
              <a:tabLst/>
            </a:pPr>
            <a:r>
              <a:rPr sz="2700" b="1" kern="0" spc="-5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倒数</a:t>
            </a:r>
            <a:r>
              <a:rPr sz="2700" kern="0" spc="-50" dirty="0">
                <a:solidFill>
                  <a:srgbClr val="C83737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700" b="1" kern="0" spc="-50" dirty="0">
                <a:solidFill>
                  <a:srgbClr val="C83737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endParaRPr sz="2700" dirty="0">
              <a:latin typeface="Georgia"/>
              <a:ea typeface="Georgia"/>
              <a:cs typeface="Georgia"/>
            </a:endParaRPr>
          </a:p>
          <a:p>
            <a:pPr marL="12700" indent="3175" algn="l" rtl="0" eaLnBrk="0">
              <a:lnSpc>
                <a:spcPct val="119000"/>
              </a:lnSpc>
              <a:spcBef>
                <a:spcPts val="283"/>
              </a:spcBef>
              <a:tabLst/>
            </a:pP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连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Kimi</a:t>
            </a:r>
            <a:r>
              <a:rPr sz="1100" kern="0" spc="1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2.6 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都不如</a:t>
            </a:r>
            <a:r>
              <a:rPr sz="11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全场最弱项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198" name="textbox 2198"/>
          <p:cNvSpPr/>
          <p:nvPr/>
        </p:nvSpPr>
        <p:spPr>
          <a:xfrm>
            <a:off x="1134510" y="9642069"/>
            <a:ext cx="240347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00" name="textbox 220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02" name="picture 22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8705850"/>
            <a:ext cx="15240000" cy="19050"/>
          </a:xfrm>
          <a:prstGeom prst="rect">
            <a:avLst/>
          </a:prstGeom>
        </p:spPr>
      </p:pic>
      <p:pic>
        <p:nvPicPr>
          <p:cNvPr id="2204" name="picture 22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22" name="group 122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206" name="picture 220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208" name="textbox 2208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858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8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210" name="textbox 2210"/>
          <p:cNvSpPr/>
          <p:nvPr/>
        </p:nvSpPr>
        <p:spPr>
          <a:xfrm>
            <a:off x="16038426" y="517118"/>
            <a:ext cx="109728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08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擅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什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么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12" name="picture 22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2214" name="picture 22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6067425"/>
            <a:ext cx="5019675" cy="19050"/>
          </a:xfrm>
          <a:prstGeom prst="rect">
            <a:avLst/>
          </a:prstGeom>
        </p:spPr>
      </p:pic>
      <p:pic>
        <p:nvPicPr>
          <p:cNvPr id="2216" name="picture 22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125325" y="6067425"/>
            <a:ext cx="5019675" cy="19050"/>
          </a:xfrm>
          <a:prstGeom prst="rect">
            <a:avLst/>
          </a:prstGeom>
        </p:spPr>
      </p:pic>
      <p:pic>
        <p:nvPicPr>
          <p:cNvPr id="2218" name="picture 22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638925" y="6067425"/>
            <a:ext cx="50101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0" name="table 2220"/>
          <p:cNvGraphicFramePr>
            <a:graphicFrameLocks noGrp="1"/>
          </p:cNvGraphicFramePr>
          <p:nvPr/>
        </p:nvGraphicFramePr>
        <p:xfrm>
          <a:off x="1143000" y="4191000"/>
          <a:ext cx="7620000" cy="3324225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7620000"/>
              </a:tblGrid>
              <a:tr h="3314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50" algn="l" rtl="0" eaLnBrk="0">
                        <a:lnSpc>
                          <a:spcPts val="107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  <a:r>
                        <a:rPr sz="8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 O</a:t>
                      </a:r>
                      <a:r>
                        <a:rPr sz="8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8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8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8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8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r>
                        <a:rPr sz="8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r>
                        <a:rPr sz="8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8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 代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553720" algn="l" rtl="0" eaLnBrk="0">
                        <a:lnSpc>
                          <a:spcPts val="3905"/>
                        </a:lnSpc>
                        <a:spcBef>
                          <a:spcPts val="1410"/>
                        </a:spcBef>
                        <a:tabLst/>
                      </a:pPr>
                      <a:r>
                        <a:rPr sz="31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字字计较</a:t>
                      </a:r>
                      <a:endParaRPr sz="3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8640" algn="l" rtl="0" eaLnBrk="0">
                        <a:lnSpc>
                          <a:spcPct val="84000"/>
                        </a:lnSpc>
                        <a:spcBef>
                          <a:spcPts val="424"/>
                        </a:spcBef>
                        <a:tabLst/>
                      </a:pPr>
                      <a:r>
                        <a:rPr sz="14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打开一个代码仓库，</a:t>
                      </a:r>
                      <a:r>
                        <a:rPr sz="14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先问自己「哪几个文件最关键、怎么切片</a:t>
                      </a:r>
                      <a:r>
                        <a:rPr sz="1400" kern="0" spc="-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、怎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550545" algn="l" rtl="0" eaLnBrk="0">
                        <a:lnSpc>
                          <a:spcPts val="2400"/>
                        </a:lnSpc>
                        <a:tabLst/>
                      </a:pPr>
                      <a:r>
                        <a:rPr sz="1400" kern="0" spc="-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么做 </a:t>
                      </a:r>
                      <a:r>
                        <a:rPr sz="1400" kern="0" spc="-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RAG</a:t>
                      </a:r>
                      <a:r>
                        <a:rPr sz="1400" kern="0" spc="-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</a:t>
                      </a:r>
                      <a:r>
                        <a:rPr sz="1400" kern="0" spc="-2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400" kern="0" spc="-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8640" algn="l" rtl="0" eaLnBrk="0">
                        <a:lnSpc>
                          <a:spcPct val="84000"/>
                        </a:lnSpc>
                        <a:spcBef>
                          <a:spcPts val="427"/>
                        </a:spcBef>
                        <a:tabLst/>
                      </a:pPr>
                      <a:r>
                        <a:rPr sz="14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你在为模型做</a:t>
                      </a:r>
                      <a:r>
                        <a:rPr sz="14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取舍规划</a:t>
                      </a:r>
                      <a:r>
                        <a:rPr sz="14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，不是在解决问题。每一次上下文都像是打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555625" algn="l" rtl="0" eaLnBrk="0">
                        <a:lnSpc>
                          <a:spcPts val="2325"/>
                        </a:lnSpc>
                        <a:tabLst/>
                      </a:pPr>
                      <a:r>
                        <a:rPr sz="14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车前算路费。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22" name="table 2222"/>
          <p:cNvGraphicFramePr>
            <a:graphicFrameLocks noGrp="1"/>
          </p:cNvGraphicFramePr>
          <p:nvPr/>
        </p:nvGraphicFramePr>
        <p:xfrm>
          <a:off x="9525000" y="4191000"/>
          <a:ext cx="7620000" cy="3324225"/>
        </p:xfrm>
        <a:graphic>
          <a:graphicData uri="http://schemas.openxmlformats.org/drawingml/2006/table">
            <a:tbl>
              <a:tblPr/>
              <a:tblGrid>
                <a:gridCol w="7620000"/>
              </a:tblGrid>
              <a:tr h="3314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6735" algn="l" rtl="0" eaLnBrk="0">
                        <a:lnSpc>
                          <a:spcPts val="107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8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8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800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   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 认</a:t>
                      </a:r>
                      <a:endParaRPr sz="8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560070" algn="l" rtl="0" eaLnBrk="0">
                        <a:lnSpc>
                          <a:spcPts val="3905"/>
                        </a:lnSpc>
                        <a:spcBef>
                          <a:spcPts val="1410"/>
                        </a:spcBef>
                        <a:tabLst/>
                      </a:pPr>
                      <a:r>
                        <a:rPr sz="31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想塞多少塞多少</a:t>
                      </a:r>
                      <a:endParaRPr sz="31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9275" algn="l" rtl="0" eaLnBrk="0">
                        <a:lnSpc>
                          <a:spcPts val="1700"/>
                        </a:lnSpc>
                        <a:spcBef>
                          <a:spcPts val="428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整个仓库直接丢进去，一周的对</a:t>
                      </a:r>
                      <a:r>
                        <a:rPr sz="14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话历史不用清，</a:t>
                      </a:r>
                      <a:r>
                        <a:rPr sz="1400" kern="0" spc="-3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</a:t>
                      </a:r>
                      <a:r>
                        <a:rPr sz="1400" kern="0" spc="-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份 </a:t>
                      </a:r>
                      <a:r>
                        <a:rPr sz="14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PDF </a:t>
                      </a:r>
                      <a:r>
                        <a:rPr sz="14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同时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549910" algn="l" rtl="0" eaLnBrk="0">
                        <a:lnSpc>
                          <a:spcPts val="2288"/>
                        </a:lnSpc>
                        <a:tabLst/>
                      </a:pPr>
                      <a:r>
                        <a:rPr sz="14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读。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8640" algn="l" rtl="0" eaLnBrk="0">
                        <a:lnSpc>
                          <a:spcPct val="84000"/>
                        </a:lnSpc>
                        <a:spcBef>
                          <a:spcPts val="427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你不再</a:t>
                      </a:r>
                      <a:r>
                        <a:rPr sz="14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为上下文省字</a:t>
                      </a:r>
                      <a:r>
                        <a:rPr sz="1400" kern="0" spc="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。规划节流这个动作本身被消除了一就</a:t>
                      </a:r>
                      <a:r>
                        <a:rPr sz="1400" kern="0" spc="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像从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548640" algn="l" rtl="0" eaLnBrk="0">
                        <a:lnSpc>
                          <a:spcPts val="2325"/>
                        </a:lnSpc>
                        <a:tabLst/>
                      </a:pPr>
                      <a:r>
                        <a:rPr sz="14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打车变成了包月公交。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24" name="textbox 2224"/>
          <p:cNvSpPr/>
          <p:nvPr/>
        </p:nvSpPr>
        <p:spPr>
          <a:xfrm>
            <a:off x="1130300" y="1479143"/>
            <a:ext cx="9421495" cy="1600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一</a:t>
            </a:r>
            <a:r>
              <a:rPr sz="900" kern="0" spc="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 惠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的 真 相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6696"/>
              </a:lnSpc>
              <a:spcBef>
                <a:spcPts val="1311"/>
              </a:spcBef>
              <a:tabLst/>
            </a:pPr>
            <a:r>
              <a:rPr sz="5400" b="1" kern="0" spc="-1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1M </a:t>
            </a:r>
            <a:r>
              <a:rPr sz="5400" b="1" kern="0" spc="-1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不是「能用」</a:t>
            </a:r>
            <a:r>
              <a:rPr sz="5400" kern="0" spc="-6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400" b="1" kern="0" spc="-1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5400" kern="0" spc="-15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500" b="1" i="1" kern="0" spc="-1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是不</a:t>
            </a:r>
            <a:r>
              <a:rPr sz="5500" b="1" i="1" kern="0" spc="-2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再省字</a:t>
            </a:r>
            <a:endParaRPr sz="55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26035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之前你是在字字计较地挑哪段塞给模型。</a:t>
            </a:r>
            <a:r>
              <a:rPr sz="1600" kern="0" spc="-4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现在你想塞多少塞多少，</a:t>
            </a:r>
            <a:r>
              <a:rPr sz="1600" kern="0" spc="-4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规划本身变成了多余动作。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26" name="picture 2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228" name="textbox 2228"/>
          <p:cNvSpPr/>
          <p:nvPr/>
        </p:nvSpPr>
        <p:spPr>
          <a:xfrm>
            <a:off x="1141730" y="8959469"/>
            <a:ext cx="12302490" cy="252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500" kern="0" spc="-1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 contex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真正的价值，不是「多了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8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倍容量J  这种数字。是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让一个之前需要专家判断的前置动作，变成了可以默认跳过的步骤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。这才是「普惠J</a:t>
            </a:r>
            <a:r>
              <a:rPr sz="1500" kern="0" spc="-2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230" name="textbox 223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32" name="picture 22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24" name="group 124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234" name="picture 223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236" name="textbox 223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858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-6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238" name="textbox 2238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240" name="picture 22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8705850"/>
            <a:ext cx="14287500" cy="19050"/>
          </a:xfrm>
          <a:prstGeom prst="rect">
            <a:avLst/>
          </a:prstGeom>
        </p:spPr>
      </p:pic>
      <p:sp>
        <p:nvSpPr>
          <p:cNvPr id="2242" name="textbox 2242"/>
          <p:cNvSpPr/>
          <p:nvPr/>
        </p:nvSpPr>
        <p:spPr>
          <a:xfrm>
            <a:off x="15775966" y="517118"/>
            <a:ext cx="13595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59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真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实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价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值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44" name="picture 22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2246" name="textbox 2246"/>
          <p:cNvSpPr/>
          <p:nvPr/>
        </p:nvSpPr>
        <p:spPr>
          <a:xfrm>
            <a:off x="8926017" y="5796330"/>
            <a:ext cx="459740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100" kern="0" spc="23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→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6"/>
          <p:cNvGrpSpPr/>
          <p:nvPr/>
        </p:nvGrpSpPr>
        <p:grpSpPr>
          <a:xfrm rot="21600000">
            <a:off x="1137551" y="4385386"/>
            <a:ext cx="8164297" cy="2689326"/>
            <a:chOff x="0" y="0"/>
            <a:chExt cx="8164297" cy="2689326"/>
          </a:xfrm>
        </p:grpSpPr>
        <p:pic>
          <p:nvPicPr>
            <p:cNvPr id="2248" name="picture 22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5448" y="91363"/>
              <a:ext cx="8153400" cy="2571750"/>
            </a:xfrm>
            <a:prstGeom prst="rect">
              <a:avLst/>
            </a:prstGeom>
          </p:spPr>
        </p:pic>
        <p:sp>
          <p:nvSpPr>
            <p:cNvPr id="2250" name="textbox 2250"/>
            <p:cNvSpPr/>
            <p:nvPr/>
          </p:nvSpPr>
          <p:spPr>
            <a:xfrm>
              <a:off x="-12700" y="939800"/>
              <a:ext cx="1315085" cy="17672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833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4130" indent="4445" algn="l" rtl="0" eaLnBrk="0">
                <a:lnSpc>
                  <a:spcPct val="117000"/>
                </a:lnSpc>
                <a:tabLst/>
              </a:pPr>
              <a:r>
                <a:rPr sz="1600" b="1" kern="0" spc="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官方</a:t>
              </a:r>
              <a:r>
                <a:rPr sz="1600" kern="0" spc="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Agentic </a:t>
              </a: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Search</a:t>
              </a:r>
              <a:r>
                <a:rPr sz="1600" b="1" kern="0" spc="10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600" b="1" kern="0" spc="4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实测</a:t>
              </a:r>
              <a:endParaRPr sz="1600" dirty="0">
                <a:latin typeface="PingFang SC"/>
                <a:ea typeface="PingFang SC"/>
                <a:cs typeface="PingFang SC"/>
              </a:endParaRPr>
            </a:p>
            <a:p>
              <a:pPr marL="26035" algn="l" rtl="0" eaLnBrk="0">
                <a:lnSpc>
                  <a:spcPct val="74000"/>
                </a:lnSpc>
                <a:spcBef>
                  <a:spcPts val="424"/>
                </a:spcBef>
                <a:tabLst/>
              </a:pP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PAPER  TABLE  1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indent="50800" algn="l" rtl="0" eaLnBrk="0">
                <a:lnSpc>
                  <a:spcPct val="107000"/>
                </a:lnSpc>
                <a:spcBef>
                  <a:spcPts val="2"/>
                </a:spcBef>
                <a:tabLst/>
              </a:pPr>
              <a:r>
                <a:rPr sz="1600" b="1" kern="0" spc="-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日常</a:t>
              </a:r>
              <a:r>
                <a:rPr sz="1600" kern="0" spc="-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600" b="1" kern="0" spc="-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Coding</a:t>
              </a:r>
              <a:r>
                <a:rPr sz="1600" b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600" b="1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Agent</a:t>
              </a:r>
              <a:endParaRPr sz="1600" dirty="0">
                <a:latin typeface="Georgia"/>
                <a:ea typeface="Georgia"/>
                <a:cs typeface="Georgia"/>
              </a:endParaRPr>
            </a:p>
          </p:txBody>
        </p:sp>
        <p:sp>
          <p:nvSpPr>
            <p:cNvPr id="2252" name="textbox 2252"/>
            <p:cNvSpPr/>
            <p:nvPr/>
          </p:nvSpPr>
          <p:spPr>
            <a:xfrm>
              <a:off x="6946913" y="1187545"/>
              <a:ext cx="1230630" cy="14903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152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1445" algn="l" rtl="0" eaLnBrk="0">
                <a:lnSpc>
                  <a:spcPct val="78000"/>
                </a:lnSpc>
                <a:tabLst/>
              </a:pPr>
              <a:r>
                <a:rPr sz="2500" b="1" kern="0" spc="-1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13,649</a:t>
              </a:r>
              <a:endParaRPr sz="2500" dirty="0">
                <a:latin typeface="Georgia"/>
                <a:ea typeface="Georgia"/>
                <a:cs typeface="Georgia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1000"/>
                </a:lnSpc>
                <a:spcBef>
                  <a:spcPts val="4"/>
                </a:spcBef>
                <a:tabLst/>
              </a:pPr>
              <a:r>
                <a:rPr sz="2100" b="1" kern="0" spc="-6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</a:t>
              </a:r>
              <a:r>
                <a:rPr sz="2100" b="1" kern="0" spc="-5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0</a:t>
              </a:r>
              <a:r>
                <a:rPr sz="2100" b="1" kern="0" spc="10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2100" b="1" kern="0" spc="-5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–</a:t>
              </a:r>
              <a:r>
                <a:rPr sz="2100" b="1" kern="0" spc="1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2100" b="1" kern="0" spc="-5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</a:t>
              </a:r>
              <a:r>
                <a:rPr sz="2100" b="1" kern="0" spc="-4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K</a:t>
              </a:r>
              <a:endParaRPr sz="2100" dirty="0">
                <a:latin typeface="Georgia"/>
                <a:ea typeface="Georgia"/>
                <a:cs typeface="Georgia"/>
              </a:endParaRPr>
            </a:p>
          </p:txBody>
        </p:sp>
        <p:sp>
          <p:nvSpPr>
            <p:cNvPr id="2254" name="textbox 2254"/>
            <p:cNvSpPr/>
            <p:nvPr/>
          </p:nvSpPr>
          <p:spPr>
            <a:xfrm>
              <a:off x="-3898" y="-12700"/>
              <a:ext cx="898525" cy="4692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045"/>
                </a:lnSpc>
                <a:tabLst/>
              </a:pPr>
              <a:r>
                <a:rPr sz="1600" b="1" kern="0" spc="2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容量上限</a:t>
              </a:r>
              <a:endParaRPr sz="16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74000"/>
                </a:lnSpc>
                <a:spcBef>
                  <a:spcPts val="5"/>
                </a:spcBef>
                <a:tabLst/>
              </a:pP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900" kern="0" spc="-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  CONTEXT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2256" name="textbox 2256"/>
            <p:cNvSpPr/>
            <p:nvPr/>
          </p:nvSpPr>
          <p:spPr>
            <a:xfrm>
              <a:off x="6731856" y="160578"/>
              <a:ext cx="1437640" cy="2292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604"/>
                </a:lnSpc>
                <a:tabLst/>
              </a:pPr>
              <a:r>
                <a:rPr sz="2100" b="1" kern="0" spc="-2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1,000,000</a:t>
              </a:r>
              <a:endParaRPr sz="2100" dirty="0">
                <a:latin typeface="Georgia"/>
                <a:ea typeface="Georgia"/>
                <a:cs typeface="Georgia"/>
              </a:endParaRPr>
            </a:p>
          </p:txBody>
        </p:sp>
      </p:grpSp>
      <p:sp>
        <p:nvSpPr>
          <p:cNvPr id="2258" name="textbox 2258"/>
          <p:cNvSpPr/>
          <p:nvPr/>
        </p:nvSpPr>
        <p:spPr>
          <a:xfrm>
            <a:off x="1130300" y="1479143"/>
            <a:ext cx="10372725" cy="1527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一</a:t>
            </a:r>
            <a:r>
              <a:rPr sz="900" kern="0" spc="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 惠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的 真 相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46990" algn="l" rtl="0" eaLnBrk="0">
              <a:lnSpc>
                <a:spcPts val="5951"/>
              </a:lnSpc>
              <a:spcBef>
                <a:spcPts val="1422"/>
              </a:spcBef>
              <a:tabLst/>
            </a:pPr>
            <a:r>
              <a:rPr sz="4800" b="1" kern="0" spc="-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1M </a:t>
            </a:r>
            <a:r>
              <a:rPr sz="48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是容量上限</a:t>
            </a:r>
            <a:r>
              <a:rPr sz="4800" kern="0" spc="-9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800" kern="0" spc="-14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1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不是日常用量</a:t>
            </a:r>
            <a:endParaRPr sz="4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68"/>
              </a:lnSpc>
              <a:tabLst/>
            </a:pP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Table 10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V4-Agentic Search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的实际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prefill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只用了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13,649 tokens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600" kern="0" spc="-4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1M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的真正用途是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让你「不再需要规划J</a:t>
            </a:r>
            <a:r>
              <a:rPr sz="1600" kern="0" spc="-2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60" name="picture 22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262" name="textbox 2262"/>
          <p:cNvSpPr/>
          <p:nvPr/>
        </p:nvSpPr>
        <p:spPr>
          <a:xfrm>
            <a:off x="10343990" y="4364761"/>
            <a:ext cx="5269230" cy="285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W H Y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 T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 AT T E R S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3533"/>
              </a:lnSpc>
              <a:spcBef>
                <a:spcPts val="1240"/>
              </a:spcBef>
              <a:tabLst/>
            </a:pPr>
            <a:r>
              <a:rPr sz="2800" b="1" kern="0" spc="-1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容量买的不是字数，</a:t>
            </a:r>
            <a:endParaRPr sz="2800" dirty="0">
              <a:latin typeface="PingFang SC"/>
              <a:ea typeface="PingFang SC"/>
              <a:cs typeface="PingFang SC"/>
            </a:endParaRPr>
          </a:p>
          <a:p>
            <a:pPr marL="22860" algn="l" rtl="0" eaLnBrk="0">
              <a:lnSpc>
                <a:spcPts val="3408"/>
              </a:lnSpc>
              <a:spcBef>
                <a:spcPts val="42"/>
              </a:spcBef>
              <a:tabLst/>
            </a:pPr>
            <a:r>
              <a:rPr sz="2800" b="1" kern="0" spc="-2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是自由度。</a:t>
            </a:r>
            <a:endParaRPr sz="28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1700"/>
              </a:lnSpc>
              <a:spcBef>
                <a:spcPts val="429"/>
              </a:spcBef>
              <a:tabLst/>
            </a:pPr>
            <a:r>
              <a:rPr sz="14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你大部分时候仍然只用几万</a:t>
            </a: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14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。但</a:t>
            </a:r>
            <a:r>
              <a:rPr sz="14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不用再提前做</a:t>
            </a:r>
            <a:r>
              <a:rPr sz="14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切片</a:t>
            </a:r>
            <a:r>
              <a:rPr sz="1400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400" kern="0" spc="-3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RAG</a:t>
            </a:r>
            <a:r>
              <a:rPr sz="14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marL="14605" algn="l" rtl="0" eaLnBrk="0">
              <a:lnSpc>
                <a:spcPts val="2362"/>
              </a:lnSpc>
              <a:tabLst/>
            </a:pPr>
            <a:r>
              <a:rPr sz="1400" kern="0" spc="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排优先级</a:t>
            </a:r>
            <a:r>
              <a:rPr sz="14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一该塞就塞，</a:t>
            </a:r>
            <a:r>
              <a:rPr sz="14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该忘就忘。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84000"/>
              </a:lnSpc>
              <a:spcBef>
                <a:spcPts val="425"/>
              </a:spcBef>
              <a:tabLst/>
            </a:pP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类比：</a:t>
            </a:r>
            <a:r>
              <a:rPr sz="1400" kern="0" spc="-3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你每天只喝一杯水</a:t>
            </a:r>
            <a:r>
              <a:rPr sz="1400" kern="0" spc="-2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，但家里还是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要通自来水</a:t>
            </a:r>
            <a:r>
              <a:rPr sz="14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400" kern="0" spc="-3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因为</a:t>
            </a:r>
            <a:r>
              <a:rPr sz="14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需要时不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marL="14605" algn="l" rtl="0" eaLnBrk="0">
              <a:lnSpc>
                <a:spcPts val="2406"/>
              </a:lnSpc>
              <a:tabLst/>
            </a:pPr>
            <a:r>
              <a:rPr sz="1400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能临时想办法</a:t>
            </a:r>
            <a:r>
              <a:rPr sz="14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4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264" name="textbox 2264"/>
          <p:cNvSpPr/>
          <p:nvPr/>
        </p:nvSpPr>
        <p:spPr>
          <a:xfrm>
            <a:off x="1141101" y="8977605"/>
            <a:ext cx="7733030" cy="230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10"/>
              </a:lnSpc>
              <a:tabLst/>
            </a:pPr>
            <a:r>
              <a:rPr sz="13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300" kern="0" spc="-1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 </a:t>
            </a:r>
            <a:r>
              <a:rPr sz="13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的商业价值不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在「装得下J</a:t>
            </a:r>
            <a:r>
              <a:rPr sz="13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300" kern="0" spc="-3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而在</a:t>
            </a:r>
            <a:r>
              <a:rPr sz="13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规划开销的边际消失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300" kern="0" spc="-3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这是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从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走到生产的关键阈值。</a:t>
            </a:r>
            <a:endParaRPr sz="13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266" name="textbox 226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68" name="picture 22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28" name="group 128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270" name="picture 22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272" name="textbox 2272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604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274" name="textbox 2274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276" name="picture 22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753475"/>
            <a:ext cx="14287500" cy="19050"/>
          </a:xfrm>
          <a:prstGeom prst="rect">
            <a:avLst/>
          </a:prstGeom>
        </p:spPr>
      </p:pic>
      <p:sp>
        <p:nvSpPr>
          <p:cNvPr id="2278" name="textbox 2278"/>
          <p:cNvSpPr/>
          <p:nvPr/>
        </p:nvSpPr>
        <p:spPr>
          <a:xfrm>
            <a:off x="15286027" y="517118"/>
            <a:ext cx="1849754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6 0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Ag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 r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i l l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实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测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80" name="picture 22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2282" name="picture 22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058400" y="4295775"/>
            <a:ext cx="28575" cy="3048000"/>
          </a:xfrm>
          <a:prstGeom prst="rect">
            <a:avLst/>
          </a:prstGeom>
        </p:spPr>
      </p:pic>
      <p:sp>
        <p:nvSpPr>
          <p:cNvPr id="2284" name="textbox 2284"/>
          <p:cNvSpPr/>
          <p:nvPr/>
        </p:nvSpPr>
        <p:spPr>
          <a:xfrm>
            <a:off x="1138186" y="7142975"/>
            <a:ext cx="797560" cy="127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ESTIMATED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6" name="table 2286"/>
          <p:cNvGraphicFramePr>
            <a:graphicFrameLocks noGrp="1"/>
          </p:cNvGraphicFramePr>
          <p:nvPr/>
        </p:nvGraphicFramePr>
        <p:xfrm>
          <a:off x="1143000" y="3810000"/>
          <a:ext cx="16001366" cy="4961890"/>
        </p:xfrm>
        <a:graphic>
          <a:graphicData uri="http://schemas.openxmlformats.org/drawingml/2006/table">
            <a:tbl>
              <a:tblPr/>
              <a:tblGrid>
                <a:gridCol w="2826385"/>
                <a:gridCol w="2690495"/>
                <a:gridCol w="3839209"/>
                <a:gridCol w="4930775"/>
                <a:gridCol w="1714500"/>
              </a:tblGrid>
              <a:tr h="504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ct val="8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型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9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6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</a:t>
                      </a:r>
                      <a:r>
                        <a:rPr sz="9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 中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9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06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</a:t>
                      </a:r>
                      <a:r>
                        <a:rPr sz="9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 中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6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985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3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268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1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上下文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deepseek</a:t>
                      </a:r>
                      <a:r>
                        <a:rPr sz="2200" b="1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-v4-</a:t>
                      </a:r>
                      <a:r>
                        <a:rPr sz="22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pro</a:t>
                      </a:r>
                      <a:endParaRPr sz="22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FLAGSHIP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</a:t>
                      </a:r>
                      <a:r>
                        <a:rPr sz="900" kern="0" spc="-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闭</a:t>
                      </a:r>
                      <a:r>
                        <a:rPr sz="900" kern="0" spc="-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源</a:t>
                      </a:r>
                      <a:r>
                        <a:rPr sz="900" kern="0" spc="-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顶</a:t>
                      </a:r>
                      <a:r>
                        <a:rPr sz="900" kern="0" spc="-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级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algn="l" rtl="0" eaLnBrk="0">
                        <a:lnSpc>
                          <a:spcPts val="1922"/>
                        </a:lnSpc>
                        <a:tabLst/>
                      </a:pPr>
                      <a:r>
                        <a:rPr sz="2800" b="1" kern="0" spc="-1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28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1200" kern="0" spc="2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200" kern="0" spc="3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7940" algn="l" rtl="0" eaLnBrk="0">
                        <a:lnSpc>
                          <a:spcPts val="1927"/>
                        </a:lnSpc>
                        <a:tabLst/>
                      </a:pPr>
                      <a:r>
                        <a:rPr sz="28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12 </a:t>
                      </a:r>
                      <a:r>
                        <a:rPr sz="12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1200" kern="0" spc="2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  M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9540" algn="l" rtl="0" eaLnBrk="0">
                        <a:lnSpc>
                          <a:spcPts val="2686"/>
                        </a:lnSpc>
                        <a:tabLst/>
                      </a:pPr>
                      <a:r>
                        <a:rPr sz="3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24 </a:t>
                      </a:r>
                      <a:r>
                        <a:rPr sz="12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1200" kern="0" spc="2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  M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7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40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2400" b="1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2400" b="1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b="1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 sz="24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deepseek</a:t>
                      </a:r>
                      <a:r>
                        <a:rPr sz="2200" b="1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-v4-</a:t>
                      </a:r>
                      <a:r>
                        <a:rPr sz="22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flash</a:t>
                      </a:r>
                      <a:endParaRPr sz="22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6845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COST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EFFICI</a:t>
                      </a:r>
                      <a:r>
                        <a:rPr sz="9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ENT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9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 </a:t>
                      </a:r>
                      <a:r>
                        <a:rPr sz="9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价</a:t>
                      </a:r>
                      <a:r>
                        <a:rPr sz="900" kern="0" spc="-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格</a:t>
                      </a:r>
                      <a:r>
                        <a:rPr sz="900" kern="0" spc="-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屠</a:t>
                      </a:r>
                      <a:r>
                        <a:rPr sz="900" kern="0" spc="-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夫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975" algn="l" rtl="0" eaLnBrk="0">
                        <a:lnSpc>
                          <a:spcPts val="244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0.2 </a:t>
                      </a:r>
                      <a:r>
                        <a:rPr sz="12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1200" kern="0" spc="2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  M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7940" algn="l" rtl="0" eaLnBrk="0">
                        <a:lnSpc>
                          <a:spcPts val="1922"/>
                        </a:lnSpc>
                        <a:tabLst/>
                      </a:pPr>
                      <a:r>
                        <a:rPr sz="2800" b="1" kern="0" spc="-1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28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1200" kern="0" spc="2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200" kern="0" spc="3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4460" algn="l" rtl="0" eaLnBrk="0">
                        <a:lnSpc>
                          <a:spcPts val="1927"/>
                        </a:lnSpc>
                        <a:tabLst/>
                      </a:pPr>
                      <a:r>
                        <a:rPr sz="2800" b="1" kern="0" spc="-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</a:t>
                      </a:r>
                      <a:r>
                        <a:rPr sz="28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1200" kern="0" spc="2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200" kern="0" spc="3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40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2400" b="1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  <a:r>
                        <a:rPr sz="2400" b="1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b="1" kern="0" spc="-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 sz="24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376170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88" name="textbox 2288"/>
          <p:cNvSpPr/>
          <p:nvPr/>
        </p:nvSpPr>
        <p:spPr>
          <a:xfrm>
            <a:off x="1130300" y="1479143"/>
            <a:ext cx="7208519" cy="1465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一</a:t>
            </a:r>
            <a:r>
              <a:rPr sz="900" kern="0" spc="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 惠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的 真 相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2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官方价格</a:t>
            </a:r>
            <a:r>
              <a:rPr sz="4800" kern="0" spc="-2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2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4800" b="1" kern="0" spc="6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900" b="1" i="1" kern="0" spc="-2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两款模型一张表</a:t>
            </a:r>
            <a:endParaRPr sz="4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2860" algn="l" rtl="0" eaLnBrk="0">
              <a:lnSpc>
                <a:spcPct val="99000"/>
              </a:lnSpc>
              <a:spcBef>
                <a:spcPts val="5"/>
              </a:spcBef>
              <a:tabLst/>
            </a:pP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单位：人民币元</a:t>
            </a:r>
            <a:r>
              <a:rPr sz="15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/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百万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tokens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。两款模型均支持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1M </a:t>
            </a:r>
            <a:r>
              <a:rPr sz="15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上下文。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90" name="picture 22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292" name="textbox 2292"/>
          <p:cNvSpPr/>
          <p:nvPr/>
        </p:nvSpPr>
        <p:spPr>
          <a:xfrm>
            <a:off x="1145387" y="8977605"/>
            <a:ext cx="12045315" cy="230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10"/>
              </a:lnSpc>
              <a:tabLst/>
            </a:pP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13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的定位是「对标顶级闭源的开源最佳J  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一便宜是结果，不是主打。</a:t>
            </a:r>
            <a:r>
              <a:rPr sz="1300" kern="0" spc="-3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真正的价格屠夫是 </a:t>
            </a:r>
            <a:r>
              <a:rPr sz="13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Flash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一缓存命中输入 0.2</a:t>
            </a:r>
            <a:r>
              <a:rPr sz="13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元，每百万</a:t>
            </a:r>
            <a:r>
              <a:rPr sz="1300" kern="0" spc="-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tokens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一杯蜜雪冰城都不到。</a:t>
            </a:r>
            <a:endParaRPr sz="13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294" name="textbox 229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296" name="picture 2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30" name="group 130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298" name="picture 229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300" name="textbox 2300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8636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900" kern="0" spc="7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7 2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302" name="textbox 2302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304" name="textbox 2304"/>
          <p:cNvSpPr/>
          <p:nvPr/>
        </p:nvSpPr>
        <p:spPr>
          <a:xfrm>
            <a:off x="16058890" y="517118"/>
            <a:ext cx="107696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61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官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方 价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格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表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06" name="picture 23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2308"/>
          <p:cNvGraphicFramePr>
            <a:graphicFrameLocks noGrp="1"/>
          </p:cNvGraphicFramePr>
          <p:nvPr/>
        </p:nvGraphicFramePr>
        <p:xfrm>
          <a:off x="1143000" y="3619500"/>
          <a:ext cx="16001998" cy="3752215"/>
        </p:xfrm>
        <a:graphic>
          <a:graphicData uri="http://schemas.openxmlformats.org/drawingml/2006/table">
            <a:tbl>
              <a:tblPr/>
              <a:tblGrid>
                <a:gridCol w="2517140"/>
                <a:gridCol w="3635375"/>
                <a:gridCol w="5830569"/>
                <a:gridCol w="4018915"/>
              </a:tblGrid>
              <a:tr h="428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ct val="8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型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30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</a:t>
                      </a:r>
                      <a:r>
                        <a:rPr sz="900" kern="0" spc="8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9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43429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64180" algn="l" rtl="0" eaLnBrk="0">
                        <a:lnSpc>
                          <a:spcPts val="11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VS</a:t>
                      </a:r>
                      <a:r>
                        <a:rPr sz="900" kern="0" spc="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4 -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9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DeepSeek</a:t>
                      </a:r>
                      <a:r>
                        <a:rPr sz="1900" b="1" kern="0" spc="-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9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V</a:t>
                      </a:r>
                      <a:r>
                        <a:rPr sz="1900" b="1" kern="0" spc="2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4-</a:t>
                      </a:r>
                      <a:r>
                        <a:rPr sz="19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Pro</a:t>
                      </a:r>
                      <a:endParaRPr sz="19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684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 P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LAG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7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$1.67 </a:t>
                      </a:r>
                      <a:r>
                        <a:rPr sz="11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100" kern="0" spc="3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4225" algn="l" rtl="0" eaLnBrk="0">
                        <a:lnSpc>
                          <a:spcPct val="7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$3.33 </a:t>
                      </a:r>
                      <a:r>
                        <a:rPr sz="11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100" kern="0" spc="3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84805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800" b="1" kern="0" spc="-10" dirty="0">
                          <a:solidFill>
                            <a:srgbClr val="CCCCCC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baseline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65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9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Claude</a:t>
                      </a:r>
                      <a:r>
                        <a:rPr sz="19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9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Opus</a:t>
                      </a:r>
                      <a:r>
                        <a:rPr sz="1900" b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900" b="1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4.7</a:t>
                      </a:r>
                      <a:endParaRPr sz="19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76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NT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IC</a:t>
                      </a:r>
                      <a:r>
                        <a:rPr sz="900" kern="0" spc="1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$15 </a:t>
                      </a:r>
                      <a:r>
                        <a:rPr sz="11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100" kern="0" spc="2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422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$75 </a:t>
                      </a:r>
                      <a:r>
                        <a:rPr sz="11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100" kern="0" spc="2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83510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9× /</a:t>
                      </a:r>
                      <a:r>
                        <a:rPr sz="1800" b="1" kern="0" spc="1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8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22.5×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655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9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GPT</a:t>
                      </a:r>
                      <a:r>
                        <a:rPr sz="19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900" b="1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5.5</a:t>
                      </a:r>
                      <a:endParaRPr sz="19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684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 P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900" kern="0" spc="-1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   ·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$5</a:t>
                      </a:r>
                      <a:r>
                        <a:rPr sz="2400" b="1" kern="0" spc="1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–</a:t>
                      </a:r>
                      <a:r>
                        <a:rPr sz="2400" b="1" kern="0" spc="1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b="1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10 </a:t>
                      </a:r>
                      <a:r>
                        <a:rPr sz="11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  M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422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$30</a:t>
                      </a:r>
                      <a:r>
                        <a:rPr sz="2400" b="1" kern="0" spc="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– 40 </a:t>
                      </a:r>
                      <a:r>
                        <a:rPr sz="11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100" kern="0" spc="-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M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8990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 –</a:t>
                      </a:r>
                      <a:r>
                        <a:rPr sz="18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800" b="1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6×</a:t>
                      </a:r>
                      <a:r>
                        <a:rPr sz="1800" b="1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800" b="1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/</a:t>
                      </a:r>
                      <a:r>
                        <a:rPr sz="1800" b="1" kern="0" spc="7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800" b="1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</a:t>
                      </a:r>
                      <a:r>
                        <a:rPr sz="1800" b="1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800" b="1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–</a:t>
                      </a:r>
                      <a:r>
                        <a:rPr sz="1800" b="1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800" b="1" kern="0" spc="-4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12×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655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9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Gemini</a:t>
                      </a:r>
                      <a:r>
                        <a:rPr sz="1900" b="1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900" b="1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3.1 </a:t>
                      </a:r>
                      <a:r>
                        <a:rPr sz="19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Pro</a:t>
                      </a:r>
                      <a:endParaRPr sz="19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684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GOOG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1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900" kern="0" spc="-7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~$5 </a:t>
                      </a:r>
                      <a:r>
                        <a:rPr sz="11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100" kern="0" spc="3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057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b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~$30 </a:t>
                      </a:r>
                      <a:r>
                        <a:rPr sz="11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100" kern="0" spc="2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35935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3× /</a:t>
                      </a:r>
                      <a:r>
                        <a:rPr sz="1800" b="1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8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9×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10" name="rect 2310"/>
          <p:cNvSpPr/>
          <p:nvPr/>
        </p:nvSpPr>
        <p:spPr>
          <a:xfrm>
            <a:off x="1143000" y="7667625"/>
            <a:ext cx="16002000" cy="1285875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12" name="textbox 2312"/>
          <p:cNvSpPr/>
          <p:nvPr/>
        </p:nvSpPr>
        <p:spPr>
          <a:xfrm>
            <a:off x="1113155" y="1479143"/>
            <a:ext cx="10797540" cy="141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2745" algn="l" rtl="0" eaLnBrk="0">
              <a:lnSpc>
                <a:spcPts val="1163"/>
              </a:lnSpc>
              <a:tabLst>
                <a:tab pos="493394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一</a:t>
            </a:r>
            <a:r>
              <a:rPr sz="900" kern="0" spc="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 惠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的 真 相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5579"/>
              </a:lnSpc>
              <a:spcBef>
                <a:spcPts val="1403"/>
              </a:spcBef>
              <a:tabLst/>
            </a:pPr>
            <a:r>
              <a:rPr sz="4500" b="1" kern="0" spc="-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V4-Pro vs </a:t>
            </a:r>
            <a:r>
              <a:rPr sz="4500" b="1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最新</a:t>
            </a:r>
            <a:r>
              <a:rPr sz="4500" b="1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闭源旗舰：</a:t>
            </a:r>
            <a:r>
              <a:rPr sz="4500" kern="0" spc="-1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600" b="1" i="1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输出便宜</a:t>
            </a:r>
            <a:r>
              <a:rPr sz="4500" b="1" i="1" kern="0" spc="-5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22</a:t>
            </a:r>
            <a:r>
              <a:rPr sz="4500" b="1" i="1" kern="0" spc="3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600" b="1" i="1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倍</a:t>
            </a:r>
            <a:endParaRPr sz="4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99000"/>
              </a:lnSpc>
              <a:tabLst/>
            </a:pP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对标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Opus 4.7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GPT-5.5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Gemini 3.1</a:t>
            </a:r>
            <a:r>
              <a:rPr sz="1500" kern="0" spc="30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。单位：美元</a:t>
            </a:r>
            <a:r>
              <a:rPr sz="1500" kern="0" spc="-1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百万</a:t>
            </a:r>
            <a:r>
              <a:rPr sz="15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tokens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（输入未缓存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输出）。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14" name="picture 23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316" name="textbox 2316"/>
          <p:cNvSpPr/>
          <p:nvPr/>
        </p:nvSpPr>
        <p:spPr>
          <a:xfrm>
            <a:off x="1507528" y="7893202"/>
            <a:ext cx="8244205" cy="821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60" algn="l" rtl="0" eaLnBrk="0">
              <a:lnSpc>
                <a:spcPct val="85000"/>
              </a:lnSpc>
              <a:tabLst/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CAV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诚</a:t>
            </a:r>
            <a:r>
              <a:rPr sz="900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实</a:t>
            </a:r>
            <a:r>
              <a:rPr sz="900" kern="0" spc="-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说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ts val="2046"/>
              </a:lnSpc>
              <a:spcBef>
                <a:spcPts val="1061"/>
              </a:spcBef>
              <a:tabLst/>
            </a:pPr>
            <a:r>
              <a:rPr sz="1600" kern="0" spc="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V4-</a:t>
            </a:r>
            <a:r>
              <a:rPr sz="16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Pro</a:t>
            </a:r>
            <a:r>
              <a:rPr sz="1600" kern="0" spc="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b="1" kern="0" spc="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不是无脑便宜</a:t>
            </a:r>
            <a:r>
              <a:rPr sz="16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6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是「对标顶级闭源的开源性价比」。</a:t>
            </a:r>
            <a:endParaRPr sz="1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238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600" kern="0" spc="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$1.67</a:t>
            </a:r>
            <a:r>
              <a:rPr sz="1600" kern="0" spc="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6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的输入价格在全球模型里只是中档</a:t>
            </a:r>
            <a:r>
              <a:rPr sz="1600" kern="0" spc="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16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便宜是相对旗舰，绝对价格已经是主流水平。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318" name="textbox 2318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20" name="picture 23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32" name="group 132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322" name="picture 23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324" name="textbox 2324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921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-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326" name="textbox 2326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328" name="textbox 2328"/>
          <p:cNvSpPr/>
          <p:nvPr/>
        </p:nvSpPr>
        <p:spPr>
          <a:xfrm>
            <a:off x="15639790" y="517118"/>
            <a:ext cx="149606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6 2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P r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闭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源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旗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舰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30" name="picture 23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2332" name="picture 23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7667625"/>
            <a:ext cx="38100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4" name="table 2334"/>
          <p:cNvGraphicFramePr>
            <a:graphicFrameLocks noGrp="1"/>
          </p:cNvGraphicFramePr>
          <p:nvPr/>
        </p:nvGraphicFramePr>
        <p:xfrm>
          <a:off x="1143000" y="3905250"/>
          <a:ext cx="8382000" cy="4352925"/>
        </p:xfrm>
        <a:graphic>
          <a:graphicData uri="http://schemas.openxmlformats.org/drawingml/2006/table">
            <a:tbl>
              <a:tblPr/>
              <a:tblGrid>
                <a:gridCol w="8382000"/>
              </a:tblGrid>
              <a:tr h="4333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626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 4 -</a:t>
                      </a:r>
                      <a:r>
                        <a:rPr sz="900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r>
                        <a:rPr sz="900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 A</a:t>
                      </a:r>
                      <a:r>
                        <a:rPr sz="9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6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9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9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  </a:t>
                      </a:r>
                      <a:r>
                        <a:rPr sz="900" kern="0" spc="-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 入 缓</a:t>
                      </a:r>
                      <a:r>
                        <a:rPr sz="900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存 命 中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8175" algn="l" rtl="0" eaLnBrk="0">
                        <a:lnSpc>
                          <a:spcPts val="9164"/>
                        </a:lnSpc>
                        <a:spcBef>
                          <a:spcPts val="4058"/>
                        </a:spcBef>
                        <a:tabLst/>
                      </a:pPr>
                      <a:r>
                        <a:rPr sz="13500" b="1" kern="0" spc="-4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0.2</a:t>
                      </a:r>
                      <a:endParaRPr sz="135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562610" algn="l" rtl="0" eaLnBrk="0">
                        <a:lnSpc>
                          <a:spcPts val="3304"/>
                        </a:lnSpc>
                        <a:spcBef>
                          <a:spcPts val="858"/>
                        </a:spcBef>
                        <a:tabLst/>
                      </a:pPr>
                      <a:r>
                        <a:rPr sz="24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2400" kern="0" spc="-1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/ </a:t>
                      </a:r>
                      <a:r>
                        <a:rPr sz="24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百万</a:t>
                      </a:r>
                      <a:r>
                        <a:rPr sz="2400" kern="0" spc="-2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tokens  </a:t>
                      </a:r>
                      <a:r>
                        <a:rPr sz="15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·  </a:t>
                      </a:r>
                      <a:r>
                        <a:rPr sz="15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</a:t>
                      </a:r>
                      <a:r>
                        <a:rPr sz="15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$0.02</a:t>
                      </a:r>
                      <a:r>
                        <a:rPr sz="15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8 /</a:t>
                      </a:r>
                      <a:r>
                        <a:rPr sz="15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5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 sz="15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0705" algn="l" rtl="0" eaLnBrk="0">
                        <a:lnSpc>
                          <a:spcPct val="99000"/>
                        </a:lnSpc>
                        <a:spcBef>
                          <a:spcPts val="451"/>
                        </a:spcBef>
                        <a:tabLst/>
                      </a:pPr>
                      <a:r>
                        <a:rPr sz="15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缓存未命中 </a:t>
                      </a:r>
                      <a:r>
                        <a:rPr sz="15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 </a:t>
                      </a:r>
                      <a:r>
                        <a:rPr sz="15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15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，输出 </a:t>
                      </a:r>
                      <a:r>
                        <a:rPr sz="15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 </a:t>
                      </a:r>
                      <a:r>
                        <a:rPr sz="1500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</a:t>
                      </a:r>
                      <a:r>
                        <a:rPr sz="1500" kern="0" spc="-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，上</a:t>
                      </a:r>
                      <a:r>
                        <a:rPr sz="15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下文 </a:t>
                      </a:r>
                      <a:r>
                        <a:rPr sz="1500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1M</a:t>
                      </a:r>
                      <a:r>
                        <a:rPr sz="15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134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一杯蜜雪冰城的钱，够跑完一本 </a:t>
                      </a:r>
                      <a:r>
                        <a:rPr sz="15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 </a:t>
                      </a:r>
                      <a:r>
                        <a:rPr sz="15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万字的小说。</a:t>
                      </a:r>
                      <a:endParaRPr sz="15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36" name="table 2336"/>
          <p:cNvGraphicFramePr>
            <a:graphicFrameLocks noGrp="1"/>
          </p:cNvGraphicFramePr>
          <p:nvPr/>
        </p:nvGraphicFramePr>
        <p:xfrm>
          <a:off x="10280714" y="4229100"/>
          <a:ext cx="6863716" cy="3448050"/>
        </p:xfrm>
        <a:graphic>
          <a:graphicData uri="http://schemas.openxmlformats.org/drawingml/2006/table">
            <a:tbl>
              <a:tblPr/>
              <a:tblGrid>
                <a:gridCol w="3618865"/>
                <a:gridCol w="3244850"/>
              </a:tblGrid>
              <a:tr h="10337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600" b="1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V4-</a:t>
                      </a:r>
                      <a:r>
                        <a:rPr sz="1600" b="1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Flash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8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 E</a:t>
                      </a:r>
                      <a:r>
                        <a:rPr sz="8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800" kern="0" spc="-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8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·</a:t>
                      </a:r>
                      <a:r>
                        <a:rPr sz="800" kern="0" spc="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8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800" kern="0" spc="-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800" kern="0" spc="-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$0.14 /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r" rtl="0" eaLnBrk="0">
                        <a:lnSpc>
                          <a:spcPct val="78000"/>
                        </a:lnSpc>
                        <a:spcBef>
                          <a:spcPts val="281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$0.28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Haiku</a:t>
                      </a:r>
                      <a:r>
                        <a:rPr sz="16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4.7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NT</a:t>
                      </a:r>
                      <a:r>
                        <a:rPr sz="8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8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8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2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IC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~$1 /</a:t>
                      </a:r>
                      <a:r>
                        <a:rPr sz="1800" b="1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8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~$5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GPT</a:t>
                      </a:r>
                      <a:r>
                        <a:rPr sz="1600" b="1" kern="0" spc="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-5.5-</a:t>
                      </a:r>
                      <a:r>
                        <a:rPr sz="16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mini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~$0.5 /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8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 E</a:t>
                      </a:r>
                      <a:r>
                        <a:rPr sz="8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800" kern="0" spc="-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800" kern="0" spc="-4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8000"/>
                        </a:lnSpc>
                        <a:tabLst/>
                      </a:pPr>
                      <a:r>
                        <a:rPr sz="1800" b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~$2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Gemini Flash</a:t>
                      </a:r>
                      <a:endParaRPr sz="16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~$0.3 /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GOOG</a:t>
                      </a:r>
                      <a:r>
                        <a:rPr sz="8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800" kern="0" spc="-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~$2.5</a:t>
                      </a:r>
                      <a:endParaRPr sz="18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38" name="textbox 2338"/>
          <p:cNvSpPr/>
          <p:nvPr/>
        </p:nvSpPr>
        <p:spPr>
          <a:xfrm>
            <a:off x="1112012" y="1479143"/>
            <a:ext cx="8822690" cy="1489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3380" algn="l" rtl="0" eaLnBrk="0">
              <a:lnSpc>
                <a:spcPts val="1163"/>
              </a:lnSpc>
              <a:tabLst>
                <a:tab pos="494665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一</a:t>
            </a:r>
            <a:r>
              <a:rPr sz="900" kern="0" spc="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 惠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的 真 相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1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V4-Flash</a:t>
            </a:r>
            <a:r>
              <a:rPr sz="4800" b="1" kern="0" spc="-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4800" kern="0" spc="-5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同性能里最便宜</a:t>
            </a:r>
            <a:endParaRPr sz="4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68"/>
              </a:lnSpc>
              <a:spcBef>
                <a:spcPts val="4"/>
              </a:spcBef>
              <a:tabLst/>
            </a:pP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普惠叙事的主力不是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600" kern="0" spc="-4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Flash</a:t>
            </a:r>
            <a:r>
              <a:rPr sz="1600" kern="0" spc="-2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6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它把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1M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上下文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+ </a:t>
            </a:r>
            <a:r>
              <a:rPr sz="16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接近顶级推理能力压到了全球最低价位。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40" name="picture 23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342" name="textbox 2342"/>
          <p:cNvSpPr/>
          <p:nvPr/>
        </p:nvSpPr>
        <p:spPr>
          <a:xfrm>
            <a:off x="1140396" y="8959469"/>
            <a:ext cx="13459461" cy="252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如果说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是「让闭源发抖J  的一张牌，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Flash 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才是「让每个独立开发者都能</a:t>
            </a:r>
            <a:r>
              <a:rPr sz="1500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塞百万上下文J  的那张牌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5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官方的「迈入百万上下文普惠时代J</a:t>
            </a:r>
            <a:r>
              <a:rPr sz="15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，兑现它的是 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Flash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344" name="textbox 2344"/>
          <p:cNvSpPr/>
          <p:nvPr/>
        </p:nvSpPr>
        <p:spPr>
          <a:xfrm>
            <a:off x="10279729" y="8023732"/>
            <a:ext cx="3293109" cy="196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42"/>
              </a:lnSpc>
              <a:tabLst/>
            </a:pPr>
            <a:r>
              <a:rPr sz="11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相比</a:t>
            </a:r>
            <a:r>
              <a:rPr sz="1100" kern="0" spc="3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Haiku</a:t>
            </a:r>
            <a:r>
              <a:rPr sz="1100" kern="0" spc="2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4.7</a:t>
            </a:r>
            <a:r>
              <a:rPr sz="11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100" kern="0" spc="-2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输入便宜</a:t>
            </a:r>
            <a:r>
              <a:rPr sz="1100" kern="0" spc="1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1100" kern="0" spc="-1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×</a:t>
            </a:r>
            <a:r>
              <a:rPr sz="1100" kern="0" spc="2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9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100" kern="0" spc="2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输出便宜</a:t>
            </a:r>
            <a:r>
              <a:rPr sz="1100" kern="0" spc="2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18</a:t>
            </a:r>
            <a:r>
              <a:rPr sz="1100" kern="0" spc="-1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×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2346" name="textbox 2346"/>
          <p:cNvSpPr/>
          <p:nvPr/>
        </p:nvSpPr>
        <p:spPr>
          <a:xfrm>
            <a:off x="10284825" y="3908018"/>
            <a:ext cx="222948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同</a:t>
            </a:r>
            <a:r>
              <a:rPr sz="9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档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对 比</a:t>
            </a:r>
            <a:r>
              <a:rPr sz="9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入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/  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 出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$</a:t>
            </a:r>
            <a:r>
              <a:rPr sz="900" kern="0" spc="6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/   M</a:t>
            </a:r>
            <a:r>
              <a:rPr sz="9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348" name="textbox 2348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50" name="picture 23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8705850"/>
            <a:ext cx="15240000" cy="19050"/>
          </a:xfrm>
          <a:prstGeom prst="rect">
            <a:avLst/>
          </a:prstGeom>
        </p:spPr>
      </p:pic>
      <p:pic>
        <p:nvPicPr>
          <p:cNvPr id="2352" name="picture 23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34" name="group 134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354" name="picture 23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356" name="textbox 235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604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-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358" name="textbox 2358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360" name="textbox 2360"/>
          <p:cNvSpPr/>
          <p:nvPr/>
        </p:nvSpPr>
        <p:spPr>
          <a:xfrm>
            <a:off x="15420119" y="517118"/>
            <a:ext cx="171577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6 3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F l a s h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才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价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格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屠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夫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62" name="picture 23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2364" name="picture 23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287000" y="7867650"/>
            <a:ext cx="685800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textbox 2366"/>
          <p:cNvSpPr/>
          <p:nvPr/>
        </p:nvSpPr>
        <p:spPr>
          <a:xfrm>
            <a:off x="1130300" y="1479143"/>
            <a:ext cx="11996420" cy="1461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一</a:t>
            </a:r>
            <a:r>
              <a:rPr sz="900" kern="0" spc="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 惠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的 真 相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4290" algn="l" rtl="0" eaLnBrk="0">
              <a:lnSpc>
                <a:spcPts val="5579"/>
              </a:lnSpc>
              <a:spcBef>
                <a:spcPts val="1403"/>
              </a:spcBef>
              <a:tabLst/>
            </a:pPr>
            <a:r>
              <a:rPr sz="4500" b="1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不抢终端</a:t>
            </a:r>
            <a:r>
              <a:rPr sz="4500" kern="0" spc="-8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500" b="1" kern="0" spc="-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500" kern="0" spc="-13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600" b="1" i="1" kern="0" spc="-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进开发者的</a:t>
            </a:r>
            <a:r>
              <a:rPr sz="4500" b="1" i="1" kern="0" spc="-9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agent</a:t>
            </a:r>
            <a:r>
              <a:rPr sz="4500" b="1" i="1" kern="0" spc="3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4600" b="1" i="1" kern="0" spc="-1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工具链</a:t>
            </a:r>
            <a:endParaRPr sz="4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5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4" algn="l" rtl="0" eaLnBrk="0">
              <a:lnSpc>
                <a:spcPts val="1968"/>
              </a:lnSpc>
              <a:tabLst/>
            </a:pPr>
            <a:r>
              <a:rPr sz="16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官方发布文明确提到已为这四个</a:t>
            </a:r>
            <a:r>
              <a:rPr sz="16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</a:t>
            </a:r>
            <a:r>
              <a:rPr sz="16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产品做了适配和优化一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</a:t>
            </a:r>
            <a:r>
              <a:rPr sz="1600" kern="0" spc="7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的战场不在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5A5A5A"/>
                      <wpsdc:folHlinkClr xmlns:wpsdc="http://www.wps.cn/officeDocument/2017/drawingmlCustomData" val="5A5A5A"/>
                      <wpsdc:hlinkUnderline xmlns:wpsdc="http://www.wps.cn/officeDocument/2017/drawingmlCustomData" val="0"/>
                    </a:ext>
                  </a:extLst>
                </a:hlinkClick>
              </a:rPr>
              <a:t>chat</a:t>
            </a:r>
            <a:r>
              <a:rPr sz="16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5A5A5A"/>
                      <wpsdc:folHlinkClr xmlns:wpsdc="http://www.wps.cn/officeDocument/2017/drawingmlCustomData" val="5A5A5A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5A5A5A"/>
                      <wpsdc:folHlinkClr xmlns:wpsdc="http://www.wps.cn/officeDocument/2017/drawingmlCustomData" val="5A5A5A"/>
                      <wpsdc:hlinkUnderline xmlns:wpsdc="http://www.wps.cn/officeDocument/2017/drawingmlCustomData" val="0"/>
                    </a:ext>
                  </a:extLst>
                </a:hlinkClick>
              </a:rPr>
              <a:t>xxx</a:t>
            </a:r>
            <a:r>
              <a:rPr sz="16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5A5A5A"/>
                      <wpsdc:folHlinkClr xmlns:wpsdc="http://www.wps.cn/officeDocument/2017/drawingmlCustomData" val="5A5A5A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5A5A5A"/>
                      <wpsdc:folHlinkClr xmlns:wpsdc="http://www.wps.cn/officeDocument/2017/drawingmlCustomData" val="5A5A5A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6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，在开发者每天</a:t>
            </a:r>
            <a:r>
              <a:rPr sz="16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打开的终端里。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68" name="picture 23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graphicFrame>
        <p:nvGraphicFramePr>
          <p:cNvPr id="2370" name="table 2370"/>
          <p:cNvGraphicFramePr>
            <a:graphicFrameLocks noGrp="1"/>
          </p:cNvGraphicFramePr>
          <p:nvPr/>
        </p:nvGraphicFramePr>
        <p:xfrm>
          <a:off x="1143000" y="4095750"/>
          <a:ext cx="3771900" cy="209550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3771900"/>
              </a:tblGrid>
              <a:tr h="2085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0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</a:t>
                      </a:r>
                      <a:r>
                        <a:rPr sz="800" kern="0" spc="5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·</a:t>
                      </a:r>
                      <a:r>
                        <a:rPr sz="800" kern="0" spc="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0 1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5755" algn="l" rtl="0" eaLnBrk="0">
                        <a:lnSpc>
                          <a:spcPct val="78000"/>
                        </a:lnSpc>
                        <a:spcBef>
                          <a:spcPts val="1319"/>
                        </a:spcBef>
                        <a:tabLst/>
                      </a:pPr>
                      <a:r>
                        <a:rPr sz="27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Claude Code</a:t>
                      </a:r>
                      <a:endParaRPr sz="27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770" algn="l" rtl="0" eaLnBrk="0">
                        <a:lnSpc>
                          <a:spcPct val="124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Anthropic</a:t>
                      </a:r>
                      <a:r>
                        <a:rPr sz="12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官方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CLI</a:t>
                      </a:r>
                      <a:r>
                        <a:rPr sz="12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r>
                        <a:rPr sz="12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 </a:t>
                      </a:r>
                      <a:r>
                        <a:rPr sz="12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完全兼容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Anthropic        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API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</a:t>
                      </a:r>
                      <a:r>
                        <a:rPr sz="1200" kern="0" spc="-1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，改个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model_name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即可接入。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2" name="table 2372"/>
          <p:cNvGraphicFramePr>
            <a:graphicFrameLocks noGrp="1"/>
          </p:cNvGraphicFramePr>
          <p:nvPr/>
        </p:nvGraphicFramePr>
        <p:xfrm>
          <a:off x="5219700" y="4095750"/>
          <a:ext cx="3771900" cy="209550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3771900"/>
              </a:tblGrid>
              <a:tr h="2085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0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</a:t>
                      </a:r>
                      <a:r>
                        <a:rPr sz="800" kern="0" spc="8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·</a:t>
                      </a:r>
                      <a:r>
                        <a:rPr sz="800" kern="0" spc="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0 2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5755" algn="l" rtl="0" eaLnBrk="0">
                        <a:lnSpc>
                          <a:spcPct val="83000"/>
                        </a:lnSpc>
                        <a:spcBef>
                          <a:spcPts val="1329"/>
                        </a:spcBef>
                        <a:tabLst/>
                      </a:pPr>
                      <a:r>
                        <a:rPr sz="27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OpenClaw</a:t>
                      </a:r>
                      <a:endParaRPr sz="27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9405" indent="1905" algn="l" rtl="0" eaLnBrk="0">
                        <a:lnSpc>
                          <a:spcPct val="12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花叔每天用的开源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Claude C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ode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替代品。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做了针对性调优，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直接当后端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4" name="table 2374"/>
          <p:cNvGraphicFramePr>
            <a:graphicFrameLocks noGrp="1"/>
          </p:cNvGraphicFramePr>
          <p:nvPr/>
        </p:nvGraphicFramePr>
        <p:xfrm>
          <a:off x="9296400" y="4095750"/>
          <a:ext cx="3771900" cy="209550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3771900"/>
              </a:tblGrid>
              <a:tr h="2085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0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</a:t>
                      </a:r>
                      <a:r>
                        <a:rPr sz="800" kern="0" spc="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·</a:t>
                      </a:r>
                      <a:r>
                        <a:rPr sz="800" kern="0" spc="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0 3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5755" algn="l" rtl="0" eaLnBrk="0">
                        <a:lnSpc>
                          <a:spcPct val="83000"/>
                        </a:lnSpc>
                        <a:spcBef>
                          <a:spcPts val="1329"/>
                        </a:spcBef>
                        <a:tabLst/>
                      </a:pPr>
                      <a:r>
                        <a:rPr sz="27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OpenCode</a:t>
                      </a:r>
                      <a:endParaRPr sz="27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6390" indent="-3810" algn="l" rtl="0" eaLnBrk="0">
                        <a:lnSpc>
                          <a:spcPct val="125000"/>
                        </a:lnSpc>
                        <a:tabLst/>
                      </a:pP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开源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coding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生态。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进入默认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       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list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开源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 </a:t>
                      </a:r>
                      <a:r>
                        <a:rPr sz="1200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开源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的组合。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6" name="table 2376"/>
          <p:cNvGraphicFramePr>
            <a:graphicFrameLocks noGrp="1"/>
          </p:cNvGraphicFramePr>
          <p:nvPr/>
        </p:nvGraphicFramePr>
        <p:xfrm>
          <a:off x="13373100" y="4095750"/>
          <a:ext cx="3771900" cy="2095500"/>
        </p:xfrm>
        <a:graphic>
          <a:graphicData uri="http://schemas.openxmlformats.org/drawingml/2006/table">
            <a:tbl>
              <a:tblPr>
                <a:solidFill>
                  <a:srgbClr val="F7F8FA"/>
                </a:solidFill>
              </a:tblPr>
              <a:tblGrid>
                <a:gridCol w="3771900"/>
              </a:tblGrid>
              <a:tr h="2085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0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</a:t>
                      </a:r>
                      <a:r>
                        <a:rPr sz="8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800" kern="0" spc="3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·</a:t>
                      </a:r>
                      <a:r>
                        <a:rPr sz="800" kern="0" spc="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800" kern="0" spc="2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 </a:t>
                      </a:r>
                      <a:r>
                        <a:rPr sz="800" kern="0" spc="1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5755" algn="l" rtl="0" eaLnBrk="0">
                        <a:lnSpc>
                          <a:spcPct val="83000"/>
                        </a:lnSpc>
                        <a:spcBef>
                          <a:spcPts val="1329"/>
                        </a:spcBef>
                        <a:tabLst/>
                      </a:pPr>
                      <a:r>
                        <a:rPr sz="27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CodeBuddy</a:t>
                      </a:r>
                      <a:endParaRPr sz="27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0675" indent="6350" algn="l" rtl="0" eaLnBrk="0">
                        <a:lnSpc>
                          <a:spcPct val="123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国内开发者常用的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插件。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V4-Flash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的价格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</a:t>
                      </a:r>
                      <a:r>
                        <a:rPr sz="12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coding</a:t>
                      </a:r>
                      <a:r>
                        <a:rPr sz="12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  <a:r>
                        <a:rPr sz="12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后台任务</a:t>
                      </a:r>
                      <a:r>
                        <a:rPr sz="12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真正可持续跑。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378" name="textbox 2378"/>
          <p:cNvSpPr/>
          <p:nvPr/>
        </p:nvSpPr>
        <p:spPr>
          <a:xfrm>
            <a:off x="1593672" y="7088911"/>
            <a:ext cx="8362315" cy="946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 T R AT E G I C   TA K E</a:t>
            </a:r>
            <a:endParaRPr sz="900" dirty="0">
              <a:latin typeface="Arial"/>
              <a:ea typeface="Arial"/>
              <a:cs typeface="Arial"/>
            </a:endParaRPr>
          </a:p>
          <a:p>
            <a:pPr marL="33020" algn="l" rtl="0" eaLnBrk="0">
              <a:lnSpc>
                <a:spcPts val="2687"/>
              </a:lnSpc>
              <a:spcBef>
                <a:spcPts val="764"/>
              </a:spcBef>
              <a:tabLst/>
            </a:pPr>
            <a:r>
              <a:rPr sz="19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闭源大厂在抢谁用它们的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chat</a:t>
            </a:r>
            <a:r>
              <a:rPr sz="1900" kern="0" spc="-2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9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900" kern="0" spc="-4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</a:t>
            </a:r>
            <a:r>
              <a:rPr sz="1900" kern="0" spc="5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9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在抢</a:t>
            </a:r>
            <a:r>
              <a:rPr sz="1900" b="1" kern="0" spc="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谁被开发者嵌</a:t>
            </a:r>
            <a:r>
              <a:rPr sz="1900" b="1" kern="0" spc="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进脚本里</a:t>
            </a:r>
            <a:r>
              <a:rPr sz="1900" kern="0" spc="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6000"/>
              </a:lnSpc>
              <a:tabLst/>
            </a:pP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一个是</a:t>
            </a:r>
            <a:r>
              <a:rPr sz="1900" kern="0" spc="-1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toC 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入又战，</a:t>
            </a:r>
            <a:r>
              <a:rPr sz="1900" kern="0" spc="-1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一个是</a:t>
            </a:r>
            <a:r>
              <a:rPr sz="1900" kern="0" spc="-1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toDev 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基础设施战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后者更慢，</a:t>
            </a:r>
            <a:r>
              <a:rPr sz="19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但更不可替代。</a:t>
            </a:r>
            <a:endParaRPr sz="1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380" name="textbox 238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82" name="picture 23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36" name="group 136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384" name="picture 238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386" name="textbox 238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413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388" name="textbox 2388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390" name="picture 23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2392" name="textbox 2392"/>
          <p:cNvSpPr/>
          <p:nvPr/>
        </p:nvSpPr>
        <p:spPr>
          <a:xfrm>
            <a:off x="16182715" y="517118"/>
            <a:ext cx="95313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64</a:t>
            </a:r>
            <a:r>
              <a:rPr sz="900" kern="0" spc="1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生</a:t>
            </a:r>
            <a:r>
              <a:rPr sz="900" kern="0" spc="-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态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卡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94" name="picture 23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6791325"/>
            <a:ext cx="38100" cy="159067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textbox 2396"/>
          <p:cNvSpPr/>
          <p:nvPr/>
        </p:nvSpPr>
        <p:spPr>
          <a:xfrm>
            <a:off x="1130300" y="2717393"/>
            <a:ext cx="13246736" cy="540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一</a:t>
            </a:r>
            <a:r>
              <a:rPr sz="900" kern="0" spc="1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 惠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的 真 相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180" algn="l" rtl="0" eaLnBrk="0">
              <a:lnSpc>
                <a:spcPct val="82000"/>
              </a:lnSpc>
              <a:spcBef>
                <a:spcPts val="2160"/>
              </a:spcBef>
              <a:tabLst/>
            </a:pPr>
            <a:r>
              <a:rPr sz="7200" b="1" kern="0" spc="-2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从「</a:t>
            </a:r>
            <a:r>
              <a:rPr sz="7200" kern="0" spc="-18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7200" strike="sngStrike" kern="0" spc="-202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7200" strike="sngStrike" kern="0" spc="-29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字字计较</a:t>
            </a:r>
            <a:r>
              <a:rPr sz="7200" b="1" kern="0" spc="-2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」</a:t>
            </a:r>
            <a:endParaRPr sz="7200" dirty="0">
              <a:latin typeface="PingFang SC"/>
              <a:ea typeface="PingFang SC"/>
              <a:cs typeface="PingFang SC"/>
            </a:endParaRPr>
          </a:p>
          <a:p>
            <a:pPr marL="59689" algn="l" rtl="0" eaLnBrk="0">
              <a:lnSpc>
                <a:spcPts val="9366"/>
              </a:lnSpc>
              <a:tabLst/>
            </a:pPr>
            <a:r>
              <a:rPr sz="7200" b="1" kern="0" spc="-2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到「</a:t>
            </a:r>
            <a:r>
              <a:rPr sz="7400" b="1" i="1" kern="0" spc="-29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包月随用</a:t>
            </a:r>
            <a:r>
              <a:rPr sz="7200" b="1" kern="0" spc="-2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」</a:t>
            </a:r>
            <a:r>
              <a:rPr sz="7200" kern="0" spc="-17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7200" b="1" kern="0" spc="-29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endParaRPr sz="7200" dirty="0">
              <a:latin typeface="PingFang SC"/>
              <a:ea typeface="PingFang SC"/>
              <a:cs typeface="PingFang SC"/>
            </a:endParaRPr>
          </a:p>
          <a:p>
            <a:pPr marL="48260" algn="l" rtl="0" eaLnBrk="0">
              <a:lnSpc>
                <a:spcPct val="85000"/>
              </a:lnSpc>
              <a:spcBef>
                <a:spcPts val="62"/>
              </a:spcBef>
              <a:tabLst/>
            </a:pPr>
            <a:r>
              <a:rPr sz="7200" b="1" kern="0" spc="-1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agent </a:t>
            </a:r>
            <a:r>
              <a:rPr sz="7200" b="1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时代。</a:t>
            </a:r>
            <a:endParaRPr sz="72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spcBef>
                <a:spcPts val="302"/>
              </a:spcBef>
              <a:tabLst>
                <a:tab pos="1155700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1A1A1A"/>
                  </a:solidFill>
                </a:u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4130" indent="3810" algn="l" rtl="0" eaLnBrk="0">
              <a:lnSpc>
                <a:spcPct val="121000"/>
              </a:lnSpc>
              <a:spcBef>
                <a:spcPts val="4"/>
              </a:spcBef>
              <a:tabLst/>
            </a:pPr>
            <a:r>
              <a:rPr sz="2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这不是一个冲破天花板的世界最佳发布。</a:t>
            </a:r>
            <a:r>
              <a:rPr sz="2100" kern="0" spc="-5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这是一个让每个独立开发者都能默认用上</a:t>
            </a:r>
            <a:r>
              <a:rPr sz="2100" kern="0" spc="-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kern="0" spc="-1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1M agent </a:t>
            </a:r>
            <a:r>
              <a:rPr sz="21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的普惠发布</a:t>
            </a:r>
            <a:r>
              <a:rPr sz="2100" kern="0" spc="1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</a:t>
            </a:r>
            <a:r>
              <a:rPr sz="2100" kern="0" spc="1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Flash</a:t>
            </a:r>
            <a:r>
              <a:rPr sz="21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把价格砸到地板，</a:t>
            </a:r>
            <a:r>
              <a:rPr sz="2100" kern="0" spc="-5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 </a:t>
            </a:r>
            <a:r>
              <a:rPr sz="21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</a:t>
            </a:r>
            <a:r>
              <a:rPr sz="2100" kern="0" spc="-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</a:t>
            </a:r>
            <a:r>
              <a:rPr sz="2100" kern="0" spc="-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工具链生态吃下来。</a:t>
            </a:r>
            <a:endParaRPr sz="21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98" name="picture 23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2790825"/>
            <a:ext cx="342900" cy="19050"/>
          </a:xfrm>
          <a:prstGeom prst="rect">
            <a:avLst/>
          </a:prstGeom>
        </p:spPr>
      </p:pic>
      <p:sp>
        <p:nvSpPr>
          <p:cNvPr id="2400" name="textbox 2400"/>
          <p:cNvSpPr/>
          <p:nvPr/>
        </p:nvSpPr>
        <p:spPr>
          <a:xfrm>
            <a:off x="15943402" y="1898243"/>
            <a:ext cx="1189990" cy="1845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·   1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普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惠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02" name="textbox 2402"/>
          <p:cNvSpPr/>
          <p:nvPr/>
        </p:nvSpPr>
        <p:spPr>
          <a:xfrm>
            <a:off x="15717541" y="2549525"/>
            <a:ext cx="149288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7127"/>
              </a:lnSpc>
              <a:tabLst/>
            </a:pPr>
            <a:r>
              <a:rPr sz="10500" b="1" kern="0" spc="-68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10500" b="1" kern="0" spc="-3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endParaRPr sz="10500" dirty="0">
              <a:latin typeface="Georgia"/>
              <a:ea typeface="Georgia"/>
              <a:cs typeface="Georgia"/>
            </a:endParaRPr>
          </a:p>
        </p:txBody>
      </p:sp>
      <p:sp>
        <p:nvSpPr>
          <p:cNvPr id="2404" name="textbox 240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406" name="picture 24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38" name="group 138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408" name="picture 240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410" name="textbox 2410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731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412" name="textbox 2412"/>
          <p:cNvSpPr/>
          <p:nvPr/>
        </p:nvSpPr>
        <p:spPr>
          <a:xfrm>
            <a:off x="1134510" y="9642069"/>
            <a:ext cx="1941829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0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414" name="textbox 2414"/>
          <p:cNvSpPr/>
          <p:nvPr/>
        </p:nvSpPr>
        <p:spPr>
          <a:xfrm>
            <a:off x="15868687" y="517118"/>
            <a:ext cx="126682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6 5</a:t>
            </a:r>
            <a:r>
              <a:rPr sz="900" kern="0" spc="1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第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九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幕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小 结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416" name="picture 24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textbox 2418"/>
          <p:cNvSpPr/>
          <p:nvPr/>
        </p:nvSpPr>
        <p:spPr>
          <a:xfrm>
            <a:off x="1130300" y="1479143"/>
            <a:ext cx="8812530" cy="1508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 H A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1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四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诚 实 本 分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27305" algn="l" rtl="0" eaLnBrk="0">
              <a:lnSpc>
                <a:spcPts val="5951"/>
              </a:lnSpc>
              <a:spcBef>
                <a:spcPts val="1422"/>
              </a:spcBef>
              <a:tabLst/>
            </a:pPr>
            <a:r>
              <a:rPr sz="4800" b="1" kern="0" spc="-2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论文里</a:t>
            </a:r>
            <a:r>
              <a:rPr sz="4800" kern="0" spc="-6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800" b="1" kern="0" spc="-2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4800" kern="0" spc="-13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20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三个「我们还不理解」</a:t>
            </a:r>
            <a:endParaRPr sz="4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68"/>
              </a:lnSpc>
              <a:spcBef>
                <a:spcPts val="4"/>
              </a:spcBef>
              <a:tabLst/>
            </a:pP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Section 6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Limitations___DeepSeek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主动写出来的三个短板。</a:t>
            </a:r>
            <a:r>
              <a:rPr sz="1600" kern="0" spc="-4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这种坦白在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LLM </a:t>
            </a:r>
            <a:r>
              <a:rPr sz="16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论文里不常见。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420" name="picture 24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grpSp>
        <p:nvGrpSpPr>
          <p:cNvPr id="140" name="group 140"/>
          <p:cNvGrpSpPr/>
          <p:nvPr/>
        </p:nvGrpSpPr>
        <p:grpSpPr>
          <a:xfrm rot="21600000">
            <a:off x="6600825" y="6029325"/>
            <a:ext cx="5086350" cy="828675"/>
            <a:chOff x="0" y="0"/>
            <a:chExt cx="5086350" cy="828675"/>
          </a:xfrm>
        </p:grpSpPr>
        <p:sp>
          <p:nvSpPr>
            <p:cNvPr id="2422" name="rect 2422"/>
            <p:cNvSpPr/>
            <p:nvPr/>
          </p:nvSpPr>
          <p:spPr>
            <a:xfrm>
              <a:off x="0" y="0"/>
              <a:ext cx="5086350" cy="828675"/>
            </a:xfrm>
            <a:prstGeom prst="rect">
              <a:avLst/>
            </a:prstGeom>
            <a:solidFill>
              <a:srgbClr val="F7F8F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24" name="textbox 2424"/>
            <p:cNvSpPr/>
            <p:nvPr/>
          </p:nvSpPr>
          <p:spPr>
            <a:xfrm>
              <a:off x="227502" y="186277"/>
              <a:ext cx="4300220" cy="444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28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110490" algn="l" rtl="0" eaLnBrk="0">
                <a:lnSpc>
                  <a:spcPct val="125000"/>
                </a:lnSpc>
                <a:tabLst/>
              </a:pP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「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Anticipatory Routing and Sw</a:t>
              </a:r>
              <a:r>
                <a:rPr sz="1100" i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iGLU Clamping</a:t>
              </a:r>
              <a:r>
                <a:rPr sz="1100" i="1" kern="0" spc="7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...</a:t>
              </a:r>
              <a:r>
                <a:rPr sz="1100" i="1" kern="0" spc="6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their underlying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principles</a:t>
              </a:r>
              <a:r>
                <a:rPr sz="1100" i="1" kern="0" spc="9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remain</a:t>
              </a:r>
              <a:r>
                <a:rPr sz="1100" i="1" kern="0" spc="9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insufficiently</a:t>
              </a:r>
              <a:r>
                <a:rPr sz="1100" i="1" kern="0" spc="9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understood</a:t>
              </a:r>
              <a:r>
                <a:rPr sz="1100" i="1" kern="0" spc="9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.</a:t>
              </a:r>
              <a:r>
                <a:rPr sz="1100" i="1" kern="0" spc="-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9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」</a:t>
              </a:r>
              <a:endParaRPr sz="11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426" name="picture 24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9050" cy="828675"/>
            </a:xfrm>
            <a:prstGeom prst="rect">
              <a:avLst/>
            </a:prstGeom>
          </p:spPr>
        </p:pic>
      </p:grpSp>
      <p:grpSp>
        <p:nvGrpSpPr>
          <p:cNvPr id="142" name="group 142"/>
          <p:cNvGrpSpPr/>
          <p:nvPr/>
        </p:nvGrpSpPr>
        <p:grpSpPr>
          <a:xfrm rot="21600000">
            <a:off x="1143000" y="6029325"/>
            <a:ext cx="5076825" cy="828675"/>
            <a:chOff x="0" y="0"/>
            <a:chExt cx="5076825" cy="828675"/>
          </a:xfrm>
        </p:grpSpPr>
        <p:sp>
          <p:nvSpPr>
            <p:cNvPr id="2428" name="rect 2428"/>
            <p:cNvSpPr/>
            <p:nvPr/>
          </p:nvSpPr>
          <p:spPr>
            <a:xfrm>
              <a:off x="0" y="0"/>
              <a:ext cx="5076825" cy="828675"/>
            </a:xfrm>
            <a:prstGeom prst="rect">
              <a:avLst/>
            </a:prstGeom>
            <a:solidFill>
              <a:srgbClr val="F7F8F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30" name="textbox 2430"/>
            <p:cNvSpPr/>
            <p:nvPr/>
          </p:nvSpPr>
          <p:spPr>
            <a:xfrm>
              <a:off x="239093" y="186277"/>
              <a:ext cx="4409440" cy="444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28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95885" algn="l" rtl="0" eaLnBrk="0">
                <a:lnSpc>
                  <a:spcPct val="125000"/>
                </a:lnSpc>
                <a:tabLst/>
              </a:pP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「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We retained many</a:t>
              </a:r>
              <a:r>
                <a:rPr sz="1100" i="1" kern="0" spc="-8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preliminarily validated components and</a:t>
              </a:r>
              <a:r>
                <a:rPr sz="1100" i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tricks,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which</a:t>
              </a:r>
              <a:r>
                <a:rPr sz="1100" i="1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,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while</a:t>
              </a:r>
              <a:r>
                <a:rPr sz="1100" i="1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effective</a:t>
              </a:r>
              <a:r>
                <a:rPr sz="1100" i="1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,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made</a:t>
              </a:r>
              <a:r>
                <a:rPr sz="1100" i="1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the</a:t>
              </a:r>
              <a:r>
                <a:rPr sz="1100" i="1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architecture</a:t>
              </a:r>
              <a:r>
                <a:rPr sz="1100" i="1" kern="0" spc="1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relatively</a:t>
              </a:r>
              <a:r>
                <a:rPr sz="1100" i="1" kern="0" spc="4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complex</a:t>
              </a:r>
              <a:r>
                <a:rPr sz="1100" i="1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. </a:t>
              </a:r>
              <a:r>
                <a:rPr sz="1100" i="1" kern="0" spc="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」</a:t>
              </a:r>
              <a:endParaRPr sz="11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432" name="picture 24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9050" cy="828675"/>
            </a:xfrm>
            <a:prstGeom prst="rect">
              <a:avLst/>
            </a:prstGeom>
          </p:spPr>
        </p:pic>
      </p:grpSp>
      <p:grpSp>
        <p:nvGrpSpPr>
          <p:cNvPr id="144" name="group 144"/>
          <p:cNvGrpSpPr/>
          <p:nvPr/>
        </p:nvGrpSpPr>
        <p:grpSpPr>
          <a:xfrm rot="21600000">
            <a:off x="12068175" y="6029325"/>
            <a:ext cx="5076825" cy="828675"/>
            <a:chOff x="0" y="0"/>
            <a:chExt cx="5076825" cy="828675"/>
          </a:xfrm>
        </p:grpSpPr>
        <p:sp>
          <p:nvSpPr>
            <p:cNvPr id="2434" name="rect 2434"/>
            <p:cNvSpPr/>
            <p:nvPr/>
          </p:nvSpPr>
          <p:spPr>
            <a:xfrm>
              <a:off x="0" y="0"/>
              <a:ext cx="5076825" cy="828675"/>
            </a:xfrm>
            <a:prstGeom prst="rect">
              <a:avLst/>
            </a:prstGeom>
            <a:solidFill>
              <a:srgbClr val="F7F8F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36" name="textbox 2436"/>
            <p:cNvSpPr/>
            <p:nvPr/>
          </p:nvSpPr>
          <p:spPr>
            <a:xfrm>
              <a:off x="232819" y="186277"/>
              <a:ext cx="4248785" cy="432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261" rIns="0" bIns="0"/>
            <a:lstStyle/>
            <a:p>
              <a:pPr marL="12700" indent="98425" algn="l" rtl="0" eaLnBrk="0">
                <a:lnSpc>
                  <a:spcPct val="125000"/>
                </a:lnSpc>
                <a:spcBef>
                  <a:spcPts val="2"/>
                </a:spcBef>
                <a:tabLst/>
              </a:pPr>
              <a:r>
                <a:rPr sz="1100" i="1" kern="0" spc="-1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「</a:t>
              </a:r>
              <a:r>
                <a:rPr sz="1100" i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Beyond</a:t>
              </a:r>
              <a:r>
                <a:rPr sz="1100" i="1" kern="0" spc="-6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Mo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E and sparse attention</a:t>
              </a:r>
              <a:r>
                <a:rPr sz="1100" i="1" kern="0" spc="8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... explore new dimension</a:t>
              </a:r>
              <a:r>
                <a:rPr sz="1100" i="1" kern="0" spc="-1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 o</a:t>
              </a:r>
              <a:r>
                <a:rPr sz="1100" i="1" kern="0" spc="8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f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sparsity</a:t>
              </a:r>
              <a:r>
                <a:rPr sz="1100" i="1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.</a:t>
              </a:r>
              <a:r>
                <a:rPr sz="1100" i="1" kern="0" spc="-7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100" i="1" kern="0" spc="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」</a:t>
              </a:r>
              <a:endParaRPr sz="11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438" name="picture 243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9050" cy="828675"/>
            </a:xfrm>
            <a:prstGeom prst="rect">
              <a:avLst/>
            </a:prstGeom>
          </p:spPr>
        </p:pic>
      </p:grpSp>
      <p:sp>
        <p:nvSpPr>
          <p:cNvPr id="2440" name="textbox 2440"/>
          <p:cNvSpPr/>
          <p:nvPr/>
        </p:nvSpPr>
        <p:spPr>
          <a:xfrm>
            <a:off x="6597423" y="4317365"/>
            <a:ext cx="2271395" cy="1525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" algn="l" rtl="0" eaLnBrk="0">
              <a:lnSpc>
                <a:spcPts val="2443"/>
              </a:lnSpc>
              <a:tabLst/>
            </a:pPr>
            <a:r>
              <a:rPr sz="3600" b="1" kern="0" spc="-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02</a:t>
            </a:r>
            <a:endParaRPr sz="3600" dirty="0">
              <a:latin typeface="Georgia"/>
              <a:ea typeface="Georgia"/>
              <a:cs typeface="Georgia"/>
            </a:endParaRPr>
          </a:p>
          <a:p>
            <a:pPr marL="12700" algn="l" rtl="0" eaLnBrk="0">
              <a:lnSpc>
                <a:spcPct val="99000"/>
              </a:lnSpc>
              <a:spcBef>
                <a:spcPts val="1159"/>
              </a:spcBef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 TA B I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 T Y   ·</a:t>
            </a:r>
            <a:r>
              <a:rPr sz="9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机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制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理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7780" algn="l" rtl="0" eaLnBrk="0">
              <a:lnSpc>
                <a:spcPct val="86000"/>
              </a:lnSpc>
              <a:spcBef>
                <a:spcPts val="1834"/>
              </a:spcBef>
              <a:tabLst/>
            </a:pPr>
            <a:r>
              <a:rPr sz="22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管用但</a:t>
            </a:r>
            <a:endParaRPr sz="22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2789"/>
              </a:lnSpc>
              <a:spcBef>
                <a:spcPts val="248"/>
              </a:spcBef>
              <a:tabLst/>
            </a:pPr>
            <a:r>
              <a:rPr sz="22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不知道为什么管用</a:t>
            </a:r>
            <a:endParaRPr sz="2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42" name="textbox 2442"/>
          <p:cNvSpPr/>
          <p:nvPr/>
        </p:nvSpPr>
        <p:spPr>
          <a:xfrm>
            <a:off x="12058373" y="4317365"/>
            <a:ext cx="2011045" cy="1502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" algn="l" rtl="0" eaLnBrk="0">
              <a:lnSpc>
                <a:spcPts val="2686"/>
              </a:lnSpc>
              <a:tabLst/>
            </a:pPr>
            <a:r>
              <a:rPr sz="3600" b="1" kern="0" spc="-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03</a:t>
            </a:r>
            <a:endParaRPr sz="3600" dirty="0">
              <a:latin typeface="Georgia"/>
              <a:ea typeface="Georgia"/>
              <a:cs typeface="Georgia"/>
            </a:endParaRPr>
          </a:p>
          <a:p>
            <a:pPr marL="12700" algn="l" rtl="0" eaLnBrk="0">
              <a:lnSpc>
                <a:spcPct val="99000"/>
              </a:lnSpc>
              <a:spcBef>
                <a:spcPts val="916"/>
              </a:spcBef>
              <a:tabLst/>
            </a:pP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 PA R S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 T Y   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还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够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极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致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ts val="2789"/>
              </a:lnSpc>
              <a:spcBef>
                <a:spcPts val="1502"/>
              </a:spcBef>
              <a:tabLst/>
            </a:pPr>
            <a:r>
              <a:rPr sz="2200" b="1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稀疏性的</a:t>
            </a:r>
            <a:endParaRPr sz="2200" dirty="0">
              <a:latin typeface="PingFang SC"/>
              <a:ea typeface="PingFang SC"/>
              <a:cs typeface="PingFang SC"/>
            </a:endParaRPr>
          </a:p>
          <a:p>
            <a:pPr marL="13970" algn="l" rtl="0" eaLnBrk="0">
              <a:lnSpc>
                <a:spcPct val="86000"/>
              </a:lnSpc>
              <a:spcBef>
                <a:spcPts val="394"/>
              </a:spcBef>
              <a:tabLst/>
            </a:pPr>
            <a:r>
              <a:rPr sz="2200" b="1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天花板还没碰到</a:t>
            </a:r>
            <a:endParaRPr sz="2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44" name="textbox 2444"/>
          <p:cNvSpPr/>
          <p:nvPr/>
        </p:nvSpPr>
        <p:spPr>
          <a:xfrm>
            <a:off x="1134186" y="4317365"/>
            <a:ext cx="1930400" cy="1564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ts val="2443"/>
              </a:lnSpc>
              <a:tabLst/>
            </a:pPr>
            <a:r>
              <a:rPr sz="3600" b="1" kern="0" spc="-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01</a:t>
            </a:r>
            <a:endParaRPr sz="3600" dirty="0">
              <a:latin typeface="Georgia"/>
              <a:ea typeface="Georgia"/>
              <a:cs typeface="Georgia"/>
            </a:endParaRPr>
          </a:p>
          <a:p>
            <a:pPr marL="12700" algn="l" rtl="0" eaLnBrk="0">
              <a:lnSpc>
                <a:spcPct val="99000"/>
              </a:lnSpc>
              <a:spcBef>
                <a:spcPts val="1159"/>
              </a:spcBef>
              <a:tabLst/>
            </a:pP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 R C H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I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 CT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   ·  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架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构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臃</a:t>
            </a:r>
            <a:r>
              <a:rPr sz="900" kern="0" spc="-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肿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1590" indent="-3810" algn="l" rtl="0" eaLnBrk="0">
              <a:lnSpc>
                <a:spcPct val="112000"/>
              </a:lnSpc>
              <a:spcBef>
                <a:spcPts val="2"/>
              </a:spcBef>
              <a:tabLst/>
            </a:pPr>
            <a:r>
              <a:rPr sz="2200" b="1" kern="0" spc="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验证过的组件</a:t>
            </a:r>
            <a:r>
              <a:rPr sz="2200" b="1" kern="0" spc="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堆得太多了</a:t>
            </a:r>
            <a:endParaRPr sz="2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46" name="textbox 2446"/>
          <p:cNvSpPr/>
          <p:nvPr/>
        </p:nvSpPr>
        <p:spPr>
          <a:xfrm>
            <a:off x="1137539" y="8959469"/>
            <a:ext cx="9888855" cy="252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别人写论文是证明自己无懈可击，</a:t>
            </a:r>
            <a:r>
              <a:rPr sz="1500" kern="0" spc="-3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写论文是告诉你哪里还没做好</a:t>
            </a:r>
            <a:r>
              <a:rPr sz="15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。这是工程师的语言，不是市场部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的语言。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48" name="textbox 2448"/>
          <p:cNvSpPr/>
          <p:nvPr/>
        </p:nvSpPr>
        <p:spPr>
          <a:xfrm>
            <a:off x="12066612" y="7024522"/>
            <a:ext cx="4948555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indent="-635" algn="l" rtl="0" eaLnBrk="0">
              <a:lnSpc>
                <a:spcPct val="128000"/>
              </a:lnSpc>
              <a:tabLst/>
            </a:pP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MoE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和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sparse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只是起点，</a:t>
            </a:r>
            <a:r>
              <a:rPr sz="12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要沿更多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维度挖。</a:t>
            </a: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V5 </a:t>
            </a:r>
            <a:r>
              <a:rPr sz="12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大概率会走</a:t>
            </a:r>
            <a:r>
              <a:rPr sz="1200" kern="0" spc="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向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scalable</a:t>
            </a:r>
            <a:r>
              <a:rPr sz="1200" kern="0" spc="12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lookup</a:t>
            </a:r>
            <a:r>
              <a:rPr sz="1200" kern="0" spc="12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怯记忆模块</a:t>
            </a:r>
            <a:r>
              <a:rPr sz="1200" kern="0" spc="1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50" name="textbox 2450"/>
          <p:cNvSpPr/>
          <p:nvPr/>
        </p:nvSpPr>
        <p:spPr>
          <a:xfrm>
            <a:off x="6598375" y="7043953"/>
            <a:ext cx="5038090" cy="455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37" rIns="0" bIns="0"/>
          <a:lstStyle/>
          <a:p>
            <a:pPr marL="12700" indent="635" algn="l" rtl="0" eaLnBrk="0">
              <a:lnSpc>
                <a:spcPct val="121000"/>
              </a:lnSpc>
              <a:spcBef>
                <a:spcPts val="3"/>
              </a:spcBef>
              <a:tabLst/>
            </a:pP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专家预路由和激活裁剪确实有效，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但</a:t>
            </a:r>
            <a:r>
              <a:rPr sz="12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原理还没搞清楚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200" kern="0" spc="-1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白纸黑字写进论</a:t>
            </a:r>
            <a:r>
              <a:rPr sz="12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文</a:t>
            </a:r>
            <a:r>
              <a:rPr sz="1200" kern="0" spc="-1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200" kern="0" spc="-2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这种诚实 </a:t>
            </a:r>
            <a:r>
              <a:rPr sz="12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LLM</a:t>
            </a:r>
            <a:r>
              <a:rPr sz="12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圈子里少见。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52" name="textbox 2452"/>
          <p:cNvSpPr/>
          <p:nvPr/>
        </p:nvSpPr>
        <p:spPr>
          <a:xfrm>
            <a:off x="1136777" y="7044925"/>
            <a:ext cx="5038725" cy="454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8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20000"/>
              </a:lnSpc>
              <a:tabLst/>
            </a:pP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为了降低训练风险，</a:t>
            </a:r>
            <a:r>
              <a:rPr sz="1200" kern="0" spc="-3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把一堆验证过的小</a:t>
            </a:r>
            <a:r>
              <a:rPr sz="1200" kern="0" spc="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技巧全堆上去了。</a:t>
            </a:r>
            <a:r>
              <a:rPr sz="1200" kern="0" spc="-2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下一版要做减</a:t>
            </a:r>
            <a:r>
              <a:rPr sz="1200" kern="0" spc="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法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200" kern="0" spc="-2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kern="0" spc="5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蒸馏出最本质的设计。</a:t>
            </a:r>
            <a:endParaRPr sz="12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54" name="textbox 2454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456" name="picture 24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705850"/>
            <a:ext cx="15240000" cy="19050"/>
          </a:xfrm>
          <a:prstGeom prst="rect">
            <a:avLst/>
          </a:prstGeom>
        </p:spPr>
      </p:pic>
      <p:pic>
        <p:nvPicPr>
          <p:cNvPr id="2458" name="picture 24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46" name="group 146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460" name="picture 246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462" name="textbox 2462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477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464" name="textbox 2464"/>
          <p:cNvSpPr/>
          <p:nvPr/>
        </p:nvSpPr>
        <p:spPr>
          <a:xfrm>
            <a:off x="1134510" y="9642069"/>
            <a:ext cx="192024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466" name="textbox 2466"/>
          <p:cNvSpPr/>
          <p:nvPr/>
        </p:nvSpPr>
        <p:spPr>
          <a:xfrm>
            <a:off x="15891309" y="517118"/>
            <a:ext cx="122555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66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文 里 的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坦 白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468" name="picture 24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2470" name="picture 24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00825" y="3905250"/>
            <a:ext cx="5086350" cy="28575"/>
          </a:xfrm>
          <a:prstGeom prst="rect">
            <a:avLst/>
          </a:prstGeom>
        </p:spPr>
      </p:pic>
      <p:pic>
        <p:nvPicPr>
          <p:cNvPr id="2472" name="picture 247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143000" y="3905250"/>
            <a:ext cx="5076825" cy="28575"/>
          </a:xfrm>
          <a:prstGeom prst="rect">
            <a:avLst/>
          </a:prstGeom>
        </p:spPr>
      </p:pic>
      <p:pic>
        <p:nvPicPr>
          <p:cNvPr id="2474" name="picture 247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2068175" y="3905250"/>
            <a:ext cx="5076825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148"/>
          <p:cNvGrpSpPr/>
          <p:nvPr/>
        </p:nvGrpSpPr>
        <p:grpSpPr>
          <a:xfrm rot="21600000">
            <a:off x="1143000" y="7077075"/>
            <a:ext cx="16002000" cy="1590675"/>
            <a:chOff x="0" y="0"/>
            <a:chExt cx="16002000" cy="1590675"/>
          </a:xfrm>
        </p:grpSpPr>
        <p:sp>
          <p:nvSpPr>
            <p:cNvPr id="2476" name="rect 2476"/>
            <p:cNvSpPr/>
            <p:nvPr/>
          </p:nvSpPr>
          <p:spPr>
            <a:xfrm>
              <a:off x="0" y="0"/>
              <a:ext cx="16002000" cy="1590675"/>
            </a:xfrm>
            <a:prstGeom prst="rect">
              <a:avLst/>
            </a:prstGeom>
            <a:solidFill>
              <a:srgbClr val="F3F5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78" name="textbox 2478"/>
            <p:cNvSpPr/>
            <p:nvPr/>
          </p:nvSpPr>
          <p:spPr>
            <a:xfrm>
              <a:off x="440042" y="288061"/>
              <a:ext cx="9461500" cy="10153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1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0955" algn="l" rtl="0" eaLnBrk="0">
                <a:lnSpc>
                  <a:spcPct val="99000"/>
                </a:lnSpc>
                <a:tabLst/>
              </a:pPr>
              <a:r>
                <a:rPr sz="900" kern="0" spc="-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 5   </a:t>
              </a:r>
              <a:r>
                <a:rPr sz="900" kern="0" spc="-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预 告</a:t>
              </a:r>
              <a:r>
                <a:rPr sz="900" kern="0" spc="10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900" kern="0" spc="-3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</a:t>
              </a:r>
              <a:r>
                <a:rPr sz="900" kern="0" spc="1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-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最 关</a:t>
              </a:r>
              <a:r>
                <a:rPr sz="900" kern="0" spc="-6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-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键 的</a:t>
              </a:r>
              <a:r>
                <a:rPr sz="900" kern="0" spc="-4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-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一 条</a:t>
              </a:r>
              <a:endParaRPr sz="9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0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14605" algn="l" rtl="0" eaLnBrk="0">
                <a:lnSpc>
                  <a:spcPct val="120000"/>
                </a:lnSpc>
                <a:tabLst/>
              </a:pPr>
              <a:r>
                <a:rPr sz="1900" kern="0" spc="5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参考文献指向 </a:t>
              </a:r>
              <a:r>
                <a:rPr sz="1900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Cheng</a:t>
              </a:r>
              <a:r>
                <a:rPr sz="1900" kern="0" spc="5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900" kern="0" spc="5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等 </a:t>
              </a:r>
              <a:r>
                <a:rPr sz="1900" kern="0" spc="5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2026 </a:t>
              </a:r>
              <a:r>
                <a:rPr sz="1900" kern="0" spc="5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年的</a:t>
              </a:r>
              <a:r>
                <a:rPr sz="1900" b="1" kern="0" spc="5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「</a:t>
              </a:r>
              <a:r>
                <a:rPr sz="1900" b="1" kern="0" spc="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Conditional</a:t>
              </a:r>
              <a:r>
                <a:rPr sz="1900" b="1" kern="0" spc="5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900" b="1" kern="0" spc="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Memory</a:t>
              </a:r>
              <a:r>
                <a:rPr sz="1900" b="1" kern="0" spc="5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900" b="1" kern="0" spc="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via</a:t>
              </a:r>
              <a:r>
                <a:rPr sz="1900" b="1" kern="0" spc="5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900" b="1" kern="0" spc="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Scalable</a:t>
              </a:r>
              <a:r>
                <a:rPr sz="1900" b="1" kern="0" spc="5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900" b="1" kern="0" spc="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Lookup</a:t>
              </a:r>
              <a:r>
                <a:rPr sz="1900" b="1" kern="0" spc="5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」</a:t>
              </a:r>
              <a:r>
                <a:rPr sz="1900" kern="0" spc="1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900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V5 </a:t>
              </a:r>
              <a:r>
                <a:rPr sz="1900" kern="0" spc="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大概率会引入</a:t>
              </a:r>
              <a:r>
                <a:rPr sz="1900" b="1" kern="0" spc="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可扩展查找式的记忆模块</a:t>
              </a:r>
              <a:r>
                <a:rPr sz="1900" kern="0" spc="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，超越 </a:t>
              </a:r>
              <a:r>
                <a:rPr sz="1900" kern="0" spc="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attention</a:t>
              </a:r>
              <a:r>
                <a:rPr sz="1900" kern="0" spc="3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1900" kern="0" spc="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本身的范式。</a:t>
              </a:r>
              <a:endParaRPr sz="1900" dirty="0">
                <a:latin typeface="PingFang SC"/>
                <a:ea typeface="PingFang SC"/>
                <a:cs typeface="PingFang SC"/>
              </a:endParaRPr>
            </a:p>
          </p:txBody>
        </p:sp>
        <p:pic>
          <p:nvPicPr>
            <p:cNvPr id="2480" name="picture 24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8100" cy="1590675"/>
            </a:xfrm>
            <a:prstGeom prst="rect">
              <a:avLst/>
            </a:prstGeom>
          </p:spPr>
        </p:pic>
      </p:grpSp>
      <p:sp>
        <p:nvSpPr>
          <p:cNvPr id="2482" name="textbox 2482"/>
          <p:cNvSpPr/>
          <p:nvPr/>
        </p:nvSpPr>
        <p:spPr>
          <a:xfrm>
            <a:off x="1112012" y="1479143"/>
            <a:ext cx="10110470" cy="1489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3380" algn="l" rtl="0" eaLnBrk="0">
              <a:lnSpc>
                <a:spcPts val="1163"/>
              </a:lnSpc>
              <a:tabLst>
                <a:tab pos="494665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 H A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1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四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诚 实 本 分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6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V5</a:t>
            </a:r>
            <a:r>
              <a:rPr sz="48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路线图：</a:t>
            </a:r>
            <a:r>
              <a:rPr sz="4800" kern="0" spc="-11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900" b="1" i="1" kern="0" spc="-6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直接告</a:t>
            </a:r>
            <a:r>
              <a:rPr sz="4900" b="1" i="1" kern="0" spc="-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诉你下一步做什么</a:t>
            </a:r>
            <a:endParaRPr sz="4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39370" algn="l" rtl="0" eaLnBrk="0">
              <a:lnSpc>
                <a:spcPts val="1968"/>
              </a:lnSpc>
              <a:spcBef>
                <a:spcPts val="4"/>
              </a:spcBef>
              <a:tabLst/>
            </a:pP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Section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6 </a:t>
            </a:r>
            <a:r>
              <a:rPr sz="16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最后一段是未来五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个方向。别人藏着掖着，</a:t>
            </a:r>
            <a:r>
              <a:rPr sz="1600" kern="0" spc="-3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直接铺出来。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484" name="picture 24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486" name="textbox 2486"/>
          <p:cNvSpPr/>
          <p:nvPr/>
        </p:nvSpPr>
        <p:spPr>
          <a:xfrm>
            <a:off x="1134157" y="4514532"/>
            <a:ext cx="2900045" cy="1123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677"/>
              </a:lnSpc>
              <a:tabLst/>
            </a:pP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1000" b="1" kern="0" spc="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20955" algn="l" rtl="0" eaLnBrk="0">
              <a:lnSpc>
                <a:spcPts val="2231"/>
              </a:lnSpc>
              <a:spcBef>
                <a:spcPts val="1291"/>
              </a:spcBef>
              <a:tabLst/>
            </a:pPr>
            <a:r>
              <a:rPr sz="1800" b="1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更极致的</a:t>
            </a:r>
            <a:r>
              <a:rPr sz="1800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1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sparse</a:t>
            </a:r>
            <a:endParaRPr sz="18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indent="2540" algn="l" rtl="0" eaLnBrk="0">
              <a:lnSpc>
                <a:spcPct val="133000"/>
              </a:lnSpc>
              <a:spcBef>
                <a:spcPts val="6"/>
              </a:spcBef>
              <a:tabLst/>
            </a:pP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不止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MoE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和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稀疏，沿</a:t>
            </a:r>
            <a:r>
              <a:rPr sz="11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新维</a:t>
            </a:r>
            <a:r>
              <a:rPr sz="11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度挖稀疏</a:t>
            </a:r>
            <a:r>
              <a:rPr sz="11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性</a:t>
            </a: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88" name="textbox 2488"/>
          <p:cNvSpPr/>
          <p:nvPr/>
        </p:nvSpPr>
        <p:spPr>
          <a:xfrm>
            <a:off x="10873286" y="4514532"/>
            <a:ext cx="2819400" cy="1123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ts val="776"/>
              </a:lnSpc>
              <a:tabLst/>
            </a:pP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24130" algn="l" rtl="0" eaLnBrk="0">
              <a:lnSpc>
                <a:spcPts val="2231"/>
              </a:lnSpc>
              <a:spcBef>
                <a:spcPts val="1191"/>
              </a:spcBef>
              <a:tabLst/>
            </a:pPr>
            <a:r>
              <a:rPr sz="1800" b="1" kern="0" spc="-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多模态</a:t>
            </a:r>
            <a:endParaRPr sz="18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605" indent="-1905" algn="l" rtl="0" eaLnBrk="0">
              <a:lnSpc>
                <a:spcPct val="133000"/>
              </a:lnSpc>
              <a:spcBef>
                <a:spcPts val="2"/>
              </a:spcBef>
              <a:tabLst/>
            </a:pP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V5 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大概率是</a:t>
            </a:r>
            <a:r>
              <a:rPr sz="11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原生多模态</a:t>
            </a:r>
            <a:r>
              <a:rPr sz="11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，不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再走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adapter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路</a:t>
            </a:r>
            <a:r>
              <a:rPr sz="11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线。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90" name="textbox 2490"/>
          <p:cNvSpPr/>
          <p:nvPr/>
        </p:nvSpPr>
        <p:spPr>
          <a:xfrm>
            <a:off x="4380277" y="4514532"/>
            <a:ext cx="2755265" cy="1123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677"/>
              </a:lnSpc>
              <a:tabLst/>
            </a:pP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1000" b="1" kern="0" spc="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2700" algn="l" rtl="0" eaLnBrk="0">
              <a:lnSpc>
                <a:spcPct val="84000"/>
              </a:lnSpc>
              <a:spcBef>
                <a:spcPts val="1578"/>
              </a:spcBef>
              <a:tabLst/>
            </a:pPr>
            <a:r>
              <a:rPr sz="1800" b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低延迟架构</a:t>
            </a:r>
            <a:endParaRPr sz="18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133000"/>
              </a:lnSpc>
              <a:tabLst/>
            </a:pP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让长上下文部署</a:t>
            </a:r>
            <a:r>
              <a:rPr sz="1100" kern="0" spc="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更响应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，为 </a:t>
            </a:r>
            <a:r>
              <a:rPr sz="11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交互做准</a:t>
            </a:r>
            <a:r>
              <a:rPr sz="11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备。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92" name="textbox 2492"/>
          <p:cNvSpPr/>
          <p:nvPr/>
        </p:nvSpPr>
        <p:spPr>
          <a:xfrm>
            <a:off x="7629148" y="4514532"/>
            <a:ext cx="2858135" cy="885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76"/>
              </a:lnSpc>
              <a:tabLst/>
            </a:pP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3334" algn="l" rtl="0" eaLnBrk="0">
              <a:lnSpc>
                <a:spcPct val="83000"/>
              </a:lnSpc>
              <a:spcBef>
                <a:spcPts val="1494"/>
              </a:spcBef>
              <a:tabLst/>
            </a:pPr>
            <a:r>
              <a:rPr sz="1800" b="1" kern="0" spc="-1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Long-horizon agent</a:t>
            </a:r>
            <a:endParaRPr sz="18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1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多轮、跨小时的</a:t>
            </a:r>
            <a:r>
              <a:rPr sz="11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长周期任务</a:t>
            </a:r>
            <a:r>
              <a:rPr sz="11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作为下一步主攻。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94" name="textbox 2494"/>
          <p:cNvSpPr/>
          <p:nvPr/>
        </p:nvSpPr>
        <p:spPr>
          <a:xfrm>
            <a:off x="14121327" y="4514532"/>
            <a:ext cx="2858135" cy="887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76"/>
              </a:lnSpc>
              <a:tabLst/>
            </a:pP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0</a:t>
            </a:r>
            <a:r>
              <a:rPr sz="1000" b="1" kern="0" spc="-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b="1" kern="0" spc="-2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5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14605" algn="l" rtl="0" eaLnBrk="0">
              <a:lnSpc>
                <a:spcPts val="2231"/>
              </a:lnSpc>
              <a:spcBef>
                <a:spcPts val="1191"/>
              </a:spcBef>
              <a:tabLst/>
            </a:pPr>
            <a:r>
              <a:rPr sz="1800" b="1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数据合成与</a:t>
            </a:r>
            <a:r>
              <a:rPr sz="18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1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curat</a:t>
            </a:r>
            <a:r>
              <a:rPr sz="1800" b="1" kern="0" spc="-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ion</a:t>
            </a:r>
            <a:endParaRPr sz="18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3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100" kern="0" spc="-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持续优化数据策略，尤其是</a:t>
            </a:r>
            <a:r>
              <a:rPr sz="1100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合成</a:t>
            </a:r>
            <a:r>
              <a:rPr sz="11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数据</a:t>
            </a:r>
            <a:r>
              <a:rPr sz="11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的质量。</a:t>
            </a:r>
            <a:endParaRPr sz="11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496" name="textbox 2496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498" name="picture 24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2500" name="picture 25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91024" y="4152900"/>
            <a:ext cx="3019425" cy="95250"/>
          </a:xfrm>
          <a:prstGeom prst="rect">
            <a:avLst/>
          </a:prstGeom>
        </p:spPr>
      </p:pic>
      <p:pic>
        <p:nvPicPr>
          <p:cNvPr id="2502" name="picture 25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2999" y="4152900"/>
            <a:ext cx="3019425" cy="95250"/>
          </a:xfrm>
          <a:prstGeom prst="rect">
            <a:avLst/>
          </a:prstGeom>
        </p:spPr>
      </p:pic>
      <p:pic>
        <p:nvPicPr>
          <p:cNvPr id="2504" name="picture 25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877550" y="4152900"/>
            <a:ext cx="3019425" cy="95250"/>
          </a:xfrm>
          <a:prstGeom prst="rect">
            <a:avLst/>
          </a:prstGeom>
        </p:spPr>
      </p:pic>
      <p:pic>
        <p:nvPicPr>
          <p:cNvPr id="2506" name="picture 25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4125575" y="4152900"/>
            <a:ext cx="3019425" cy="95250"/>
          </a:xfrm>
          <a:prstGeom prst="rect">
            <a:avLst/>
          </a:prstGeom>
        </p:spPr>
      </p:pic>
      <p:pic>
        <p:nvPicPr>
          <p:cNvPr id="2508" name="picture 250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639050" y="4152900"/>
            <a:ext cx="3009900" cy="95250"/>
          </a:xfrm>
          <a:prstGeom prst="rect">
            <a:avLst/>
          </a:prstGeom>
        </p:spPr>
      </p:pic>
      <p:grpSp>
        <p:nvGrpSpPr>
          <p:cNvPr id="150" name="group 150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510" name="picture 251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512" name="textbox 2512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73025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  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514" name="textbox 2514"/>
          <p:cNvSpPr/>
          <p:nvPr/>
        </p:nvSpPr>
        <p:spPr>
          <a:xfrm>
            <a:off x="1134510" y="9642069"/>
            <a:ext cx="192024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516" name="picture 25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2518" name="textbox 2518"/>
          <p:cNvSpPr/>
          <p:nvPr/>
        </p:nvSpPr>
        <p:spPr>
          <a:xfrm>
            <a:off x="16078535" y="517118"/>
            <a:ext cx="105727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67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V 5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路</a:t>
            </a:r>
            <a:r>
              <a:rPr sz="900" kern="0" spc="-7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线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图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520" name="textbox 2520"/>
          <p:cNvSpPr/>
          <p:nvPr/>
        </p:nvSpPr>
        <p:spPr>
          <a:xfrm>
            <a:off x="11061483" y="7816774"/>
            <a:ext cx="437515" cy="111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70"/>
              </a:lnSpc>
              <a:tabLst/>
            </a:pPr>
            <a:r>
              <a:rPr sz="1900" kern="0" spc="-2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</a:t>
            </a:r>
            <a:endParaRPr sz="1900" dirty="0">
              <a:latin typeface="Georgia"/>
              <a:ea typeface="Georgia"/>
              <a:cs typeface="Georgi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2"/>
          <p:cNvGrpSpPr/>
          <p:nvPr/>
        </p:nvGrpSpPr>
        <p:grpSpPr>
          <a:xfrm rot="21600000">
            <a:off x="1143000" y="3429000"/>
            <a:ext cx="17145000" cy="4101487"/>
            <a:chOff x="0" y="0"/>
            <a:chExt cx="17145000" cy="4101487"/>
          </a:xfrm>
        </p:grpSpPr>
        <p:sp>
          <p:nvSpPr>
            <p:cNvPr id="2522" name="rect 2522"/>
            <p:cNvSpPr/>
            <p:nvPr/>
          </p:nvSpPr>
          <p:spPr>
            <a:xfrm>
              <a:off x="0" y="0"/>
              <a:ext cx="17145000" cy="3990975"/>
            </a:xfrm>
            <a:prstGeom prst="rect">
              <a:avLst/>
            </a:prstGeom>
            <a:solidFill>
              <a:srgbClr val="F7F8F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24" name="textbox 2524"/>
            <p:cNvSpPr/>
            <p:nvPr/>
          </p:nvSpPr>
          <p:spPr>
            <a:xfrm>
              <a:off x="944867" y="684253"/>
              <a:ext cx="9135110" cy="26377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81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780" algn="l" rtl="0" eaLnBrk="0">
                <a:lnSpc>
                  <a:spcPct val="87000"/>
                </a:lnSpc>
                <a:tabLst/>
              </a:pP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</a:t>
              </a:r>
              <a:r>
                <a:rPr sz="900" kern="0" spc="6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6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7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 S</a:t>
              </a:r>
              <a:r>
                <a:rPr sz="900" kern="0" spc="6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6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</a:t>
              </a:r>
              <a:r>
                <a:rPr sz="900" kern="0" spc="6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  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官 方 发 布 文</a:t>
              </a:r>
              <a:r>
                <a:rPr sz="900" kern="0" spc="11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·   </a:t>
              </a:r>
              <a:r>
                <a:rPr sz="900" kern="0" spc="-1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原 话</a:t>
              </a:r>
              <a:endParaRPr sz="9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4092"/>
                </a:lnSpc>
                <a:spcBef>
                  <a:spcPts val="991"/>
                </a:spcBef>
                <a:tabLst/>
              </a:pPr>
              <a:r>
                <a:rPr sz="3300" kern="0" spc="-10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受限于高端算力</a:t>
              </a:r>
              <a:r>
                <a:rPr sz="3300" kern="0" spc="-28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3300" kern="0" spc="-10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，</a:t>
              </a:r>
              <a:r>
                <a:rPr sz="3300" kern="0" spc="-6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3300" kern="0" spc="-10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目前 </a:t>
              </a:r>
              <a:r>
                <a:rPr sz="3300" kern="0" spc="-10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Pro</a:t>
              </a:r>
              <a:r>
                <a:rPr sz="3300" kern="0" spc="26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3300" kern="0" spc="-10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的服务吞吐</a:t>
              </a:r>
              <a:r>
                <a:rPr sz="3300" b="1" kern="0" spc="-10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十分有限</a:t>
              </a:r>
              <a:r>
                <a:rPr sz="3300" kern="0" spc="-242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，</a:t>
              </a:r>
              <a:endParaRPr sz="3300" dirty="0">
                <a:latin typeface="PingFang SC"/>
                <a:ea typeface="PingFang SC"/>
                <a:cs typeface="PingFang SC"/>
              </a:endParaRPr>
            </a:p>
            <a:p>
              <a:pPr marL="17780" algn="l" rtl="0" eaLnBrk="0">
                <a:lnSpc>
                  <a:spcPts val="4397"/>
                </a:lnSpc>
                <a:tabLst/>
              </a:pPr>
              <a:r>
                <a:rPr sz="3300" kern="0" spc="-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预计下半年</a:t>
              </a:r>
              <a:r>
                <a:rPr sz="3300" b="1" kern="0" spc="-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昇腾</a:t>
              </a:r>
              <a:r>
                <a:rPr sz="3300" kern="0" spc="-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3300" b="1" kern="0" spc="-30" dirty="0">
                  <a:solidFill>
                    <a:srgbClr val="4D6BFE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950 </a:t>
              </a:r>
              <a:r>
                <a:rPr sz="3300" b="1" kern="0" spc="-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超节点</a:t>
              </a:r>
              <a:r>
                <a:rPr sz="3300" kern="0" spc="-3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批量上市后，</a:t>
              </a:r>
              <a:endParaRPr sz="3300" dirty="0">
                <a:latin typeface="PingFang SC"/>
                <a:ea typeface="PingFang SC"/>
                <a:cs typeface="PingFang SC"/>
              </a:endParaRPr>
            </a:p>
            <a:p>
              <a:pPr marL="26035" algn="l" rtl="0" eaLnBrk="0">
                <a:lnSpc>
                  <a:spcPct val="85000"/>
                </a:lnSpc>
                <a:spcBef>
                  <a:spcPts val="1581"/>
                </a:spcBef>
                <a:tabLst/>
              </a:pPr>
              <a:r>
                <a:rPr sz="3300" kern="0" spc="-6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Pro</a:t>
              </a:r>
              <a:r>
                <a:rPr sz="3300" kern="0" spc="290" dirty="0">
                  <a:solidFill>
                    <a:srgbClr val="1A1A1A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3300" kern="0" spc="-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的价格</a:t>
              </a:r>
              <a:r>
                <a:rPr sz="3300" b="1" kern="0" spc="-6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会大幅下调</a:t>
              </a:r>
              <a:r>
                <a:rPr sz="3300" kern="0" spc="-60" dirty="0">
                  <a:solidFill>
                    <a:srgbClr val="1A1A1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。</a:t>
              </a:r>
              <a:endParaRPr sz="3300" dirty="0">
                <a:latin typeface="PingFang SC"/>
                <a:ea typeface="PingFang SC"/>
                <a:cs typeface="PingFang SC"/>
              </a:endParaRPr>
            </a:p>
            <a:p>
              <a:pPr algn="l" rtl="0" eaLnBrk="0">
                <a:lnSpc>
                  <a:spcPct val="19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252"/>
                </a:lnSpc>
                <a:spcBef>
                  <a:spcPts val="2"/>
                </a:spcBef>
                <a:tabLst/>
              </a:pPr>
              <a:r>
                <a:rPr sz="1000" kern="0" spc="9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—</a:t>
              </a:r>
              <a:r>
                <a:rPr sz="1000" kern="0" spc="-7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9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—  2026</a:t>
              </a:r>
              <a:r>
                <a:rPr sz="10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9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1000" kern="0" spc="-4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04</a:t>
              </a:r>
              <a:r>
                <a:rPr sz="1000" kern="0" spc="-2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1000" kern="0" spc="-3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kern="0" spc="80" dirty="0">
                  <a:solidFill>
                    <a:srgbClr val="5A5A5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24  </a:t>
              </a:r>
              <a:r>
                <a:rPr sz="1000" kern="0" spc="8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官</a:t>
              </a:r>
              <a:r>
                <a:rPr sz="1000" kern="0" spc="-9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000" kern="0" spc="8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方</a:t>
              </a:r>
              <a:r>
                <a:rPr sz="1000" kern="0" spc="-5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000" kern="0" spc="8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公</a:t>
              </a:r>
              <a:r>
                <a:rPr sz="1000" kern="0" spc="-11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000" kern="0" spc="8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众</a:t>
              </a:r>
              <a:r>
                <a:rPr sz="1000" kern="0" spc="-10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000" kern="0" spc="80" dirty="0">
                  <a:solidFill>
                    <a:srgbClr val="5A5A5A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号</a:t>
              </a:r>
              <a:endParaRPr sz="1000" dirty="0">
                <a:latin typeface="PingFang SC"/>
                <a:ea typeface="PingFang SC"/>
                <a:cs typeface="PingFang SC"/>
              </a:endParaRPr>
            </a:p>
          </p:txBody>
        </p:sp>
        <p:sp>
          <p:nvSpPr>
            <p:cNvPr id="2526" name="path 2526"/>
            <p:cNvSpPr/>
            <p:nvPr/>
          </p:nvSpPr>
          <p:spPr>
            <a:xfrm>
              <a:off x="13999758" y="3958900"/>
              <a:ext cx="1768662" cy="142587"/>
            </a:xfrm>
            <a:custGeom>
              <a:avLst/>
              <a:gdLst/>
              <a:ahLst/>
              <a:cxnLst/>
              <a:rect l="0" t="0" r="0" b="0"/>
              <a:pathLst>
                <a:path w="2785" h="224">
                  <a:moveTo>
                    <a:pt x="1" y="209"/>
                  </a:moveTo>
                  <a:lnTo>
                    <a:pt x="2784" y="14"/>
                  </a:lnTo>
                </a:path>
              </a:pathLst>
            </a:custGeom>
            <a:noFill/>
            <a:ln w="19049" cap="flat">
              <a:solidFill>
                <a:srgbClr val="4D6BFE"/>
              </a:solidFill>
              <a:prstDash val="solid"/>
              <a:miter lim="4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528" name="textbox 2528"/>
          <p:cNvSpPr/>
          <p:nvPr/>
        </p:nvSpPr>
        <p:spPr>
          <a:xfrm>
            <a:off x="1130300" y="1479143"/>
            <a:ext cx="7329805" cy="1100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 H A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1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四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诚 实 本 分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33020" algn="l" rtl="0" eaLnBrk="0">
              <a:lnSpc>
                <a:spcPts val="5951"/>
              </a:lnSpc>
              <a:spcBef>
                <a:spcPts val="1347"/>
              </a:spcBef>
              <a:tabLst/>
            </a:pPr>
            <a:r>
              <a:rPr sz="4800" b="1" kern="0" spc="-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Pro </a:t>
            </a:r>
            <a:r>
              <a:rPr sz="4800" b="1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现在</a:t>
            </a:r>
            <a:r>
              <a:rPr sz="4900" b="1" i="1" kern="0" spc="-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贵</a:t>
            </a:r>
            <a:r>
              <a:rPr sz="4800" b="1" kern="0" spc="-8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，官方亲又承认</a:t>
            </a:r>
            <a:endParaRPr sz="48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30" name="picture 25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532" name="textbox 2532"/>
          <p:cNvSpPr/>
          <p:nvPr/>
        </p:nvSpPr>
        <p:spPr>
          <a:xfrm>
            <a:off x="1136205" y="8959469"/>
            <a:ext cx="11259820" cy="252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承认当前贵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点名国产算力</a:t>
            </a:r>
            <a:r>
              <a:rPr sz="1500" kern="0" spc="1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1500" kern="0" spc="-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给出时间节点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1500" kern="0" spc="-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不画大饼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一一句话包含了四层诚实。这种姿态在 2026</a:t>
            </a:r>
            <a:r>
              <a:rPr sz="1500" kern="0" spc="-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年的</a:t>
            </a:r>
            <a:r>
              <a:rPr sz="1500" kern="0" spc="-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AI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发布会里</a:t>
            </a:r>
            <a:r>
              <a:rPr sz="15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500" kern="0" spc="-3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已经是稀缺品。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154" name="group 154"/>
          <p:cNvGrpSpPr/>
          <p:nvPr/>
        </p:nvGrpSpPr>
        <p:grpSpPr>
          <a:xfrm rot="21600000">
            <a:off x="15133921" y="7396737"/>
            <a:ext cx="1850787" cy="1055424"/>
            <a:chOff x="0" y="0"/>
            <a:chExt cx="1850787" cy="1055424"/>
          </a:xfrm>
        </p:grpSpPr>
        <p:sp>
          <p:nvSpPr>
            <p:cNvPr id="2534" name="path 2534"/>
            <p:cNvSpPr/>
            <p:nvPr/>
          </p:nvSpPr>
          <p:spPr>
            <a:xfrm>
              <a:off x="0" y="0"/>
              <a:ext cx="1850787" cy="1055424"/>
            </a:xfrm>
            <a:custGeom>
              <a:avLst/>
              <a:gdLst/>
              <a:ahLst/>
              <a:cxnLst/>
              <a:rect l="0" t="0" r="0" b="0"/>
              <a:pathLst>
                <a:path w="2914" h="1662">
                  <a:moveTo>
                    <a:pt x="2798" y="1"/>
                  </a:moveTo>
                  <a:lnTo>
                    <a:pt x="2899" y="1452"/>
                  </a:lnTo>
                  <a:lnTo>
                    <a:pt x="116" y="1647"/>
                  </a:lnTo>
                  <a:lnTo>
                    <a:pt x="14" y="195"/>
                  </a:lnTo>
                </a:path>
              </a:pathLst>
            </a:custGeom>
            <a:noFill/>
            <a:ln w="19049" cap="flat">
              <a:solidFill>
                <a:srgbClr val="4D6BFE"/>
              </a:solidFill>
              <a:prstDash val="solid"/>
              <a:miter lim="4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36" name="textbox 2536"/>
            <p:cNvSpPr/>
            <p:nvPr/>
          </p:nvSpPr>
          <p:spPr>
            <a:xfrm>
              <a:off x="-12700" y="-12700"/>
              <a:ext cx="1876425" cy="10814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56870" algn="l" rtl="0" eaLnBrk="0">
                <a:lnSpc>
                  <a:spcPts val="1151"/>
                </a:lnSpc>
                <a:spcBef>
                  <a:spcPts val="4"/>
                </a:spcBef>
                <a:tabLst/>
              </a:pPr>
              <a:r>
                <a:rPr sz="800" kern="0" spc="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这</a:t>
              </a:r>
              <a:r>
                <a:rPr sz="800" kern="0" spc="-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800" kern="0" spc="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不</a:t>
              </a:r>
              <a:r>
                <a:rPr sz="800" kern="0" spc="-6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800" kern="0" spc="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是</a:t>
              </a:r>
              <a:r>
                <a:rPr sz="800" kern="0" spc="-6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800" kern="0" spc="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营</a:t>
              </a:r>
              <a:r>
                <a:rPr sz="800" kern="0" spc="-8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800" kern="0" spc="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销</a:t>
              </a:r>
              <a:r>
                <a:rPr sz="800" kern="0" spc="-6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800" kern="0" spc="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辞</a:t>
              </a:r>
              <a:r>
                <a:rPr sz="800" kern="0" spc="-8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800" kern="0" spc="3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令</a:t>
              </a:r>
              <a:endParaRPr sz="800" dirty="0">
                <a:latin typeface="PingFang SC"/>
                <a:ea typeface="PingFang SC"/>
                <a:cs typeface="PingFang SC"/>
              </a:endParaRPr>
            </a:p>
            <a:p>
              <a:pPr marL="370205" algn="l" rtl="0" eaLnBrk="0">
                <a:lnSpc>
                  <a:spcPts val="3307"/>
                </a:lnSpc>
                <a:tabLst/>
              </a:pPr>
              <a:r>
                <a:rPr sz="2200" b="1" kern="0" spc="60" dirty="0">
                  <a:solidFill>
                    <a:srgbClr val="4D6BFE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这是诚实</a:t>
              </a:r>
              <a:endParaRPr sz="2200" dirty="0">
                <a:latin typeface="PingFang SC"/>
                <a:ea typeface="PingFang SC"/>
                <a:cs typeface="PingFang SC"/>
              </a:endParaRPr>
            </a:p>
          </p:txBody>
        </p:sp>
      </p:grpSp>
      <p:sp>
        <p:nvSpPr>
          <p:cNvPr id="2538" name="textbox 2538"/>
          <p:cNvSpPr/>
          <p:nvPr/>
        </p:nvSpPr>
        <p:spPr>
          <a:xfrm>
            <a:off x="1481799" y="3691763"/>
            <a:ext cx="758190" cy="497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3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3700" kern="0" spc="3470" dirty="0">
                <a:solidFill>
                  <a:srgbClr val="4D6BFE">
                    <a:alpha val="20000"/>
                  </a:srgbClr>
                </a:solidFill>
                <a:latin typeface="Georgia"/>
                <a:ea typeface="Georgia"/>
                <a:cs typeface="Georgia"/>
              </a:rPr>
              <a:t>“</a:t>
            </a:r>
            <a:endParaRPr sz="3700" dirty="0">
              <a:latin typeface="Georgia"/>
              <a:ea typeface="Georgia"/>
              <a:cs typeface="Georgia"/>
            </a:endParaRPr>
          </a:p>
        </p:txBody>
      </p:sp>
      <p:sp>
        <p:nvSpPr>
          <p:cNvPr id="2540" name="textbox 254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42" name="picture 25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56" name="group 156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544" name="picture 254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546" name="textbox 2546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477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8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5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548" name="textbox 2548"/>
          <p:cNvSpPr/>
          <p:nvPr/>
        </p:nvSpPr>
        <p:spPr>
          <a:xfrm>
            <a:off x="1134510" y="9642069"/>
            <a:ext cx="192024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550" name="picture 25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8705850"/>
            <a:ext cx="13335000" cy="19050"/>
          </a:xfrm>
          <a:prstGeom prst="rect">
            <a:avLst/>
          </a:prstGeom>
        </p:spPr>
      </p:pic>
      <p:sp>
        <p:nvSpPr>
          <p:cNvPr id="2552" name="textbox 2552"/>
          <p:cNvSpPr/>
          <p:nvPr/>
        </p:nvSpPr>
        <p:spPr>
          <a:xfrm>
            <a:off x="15772397" y="517118"/>
            <a:ext cx="136334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68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昇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腾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9 5 0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预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告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54" name="picture 25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6" name="table 2556"/>
          <p:cNvGraphicFramePr>
            <a:graphicFrameLocks noGrp="1"/>
          </p:cNvGraphicFramePr>
          <p:nvPr/>
        </p:nvGraphicFramePr>
        <p:xfrm>
          <a:off x="1143000" y="6543675"/>
          <a:ext cx="7848600" cy="2819400"/>
        </p:xfrm>
        <a:graphic>
          <a:graphicData uri="http://schemas.openxmlformats.org/drawingml/2006/table">
            <a:tbl>
              <a:tblPr/>
              <a:tblGrid>
                <a:gridCol w="7848600"/>
              </a:tblGrid>
              <a:tr h="2809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ts val="3013"/>
                        </a:lnSpc>
                        <a:tabLst/>
                      </a:pPr>
                      <a:r>
                        <a:rPr sz="4000" b="1" kern="0" spc="-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03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56870" algn="l" rtl="0" eaLnBrk="0">
                        <a:lnSpc>
                          <a:spcPct val="99000"/>
                        </a:lnSpc>
                        <a:spcBef>
                          <a:spcPts val="537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 H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</a:t>
                      </a:r>
                      <a:r>
                        <a:rPr sz="900" kern="0" spc="-6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板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87350" algn="l" rtl="0" eaLnBrk="0">
                        <a:lnSpc>
                          <a:spcPts val="2976"/>
                        </a:lnSpc>
                        <a:spcBef>
                          <a:spcPts val="1287"/>
                        </a:spcBef>
                        <a:tabLst/>
                      </a:pPr>
                      <a:r>
                        <a:rPr sz="2400" b="1" kern="0" spc="-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品味类任务</a:t>
                      </a:r>
                      <a:endParaRPr sz="2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62585" algn="l" rtl="0" eaLnBrk="0">
                        <a:lnSpc>
                          <a:spcPts val="2899"/>
                        </a:lnSpc>
                        <a:spcBef>
                          <a:spcPts val="26"/>
                        </a:spcBef>
                        <a:tabLst/>
                      </a:pPr>
                      <a:r>
                        <a:rPr sz="2400" b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还差一些</a:t>
                      </a:r>
                      <a:endParaRPr sz="2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750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创意写作不如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Opus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4.5，更不用说 4.7。论文里 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</a:t>
                      </a:r>
                      <a:r>
                        <a:rPr sz="1200" kern="0" spc="1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自己也写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到了这些困难一这是结构性差距。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58" name="table 2558"/>
          <p:cNvGraphicFramePr>
            <a:graphicFrameLocks noGrp="1"/>
          </p:cNvGraphicFramePr>
          <p:nvPr/>
        </p:nvGraphicFramePr>
        <p:xfrm>
          <a:off x="9296400" y="6543675"/>
          <a:ext cx="7848600" cy="2819400"/>
        </p:xfrm>
        <a:graphic>
          <a:graphicData uri="http://schemas.openxmlformats.org/drawingml/2006/table">
            <a:tbl>
              <a:tblPr>
                <a:solidFill>
                  <a:srgbClr val="4D6BFE"/>
                </a:solidFill>
              </a:tblPr>
              <a:tblGrid>
                <a:gridCol w="7848600"/>
              </a:tblGrid>
              <a:tr h="2809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16115" algn="l" rtl="0" eaLnBrk="0">
                        <a:lnSpc>
                          <a:spcPts val="98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-30" dirty="0">
                          <a:solidFill>
                            <a:srgbClr val="FFFFFF">
                              <a:alpha val="8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★</a:t>
                      </a:r>
                      <a:r>
                        <a:rPr sz="800" kern="0" spc="90" dirty="0">
                          <a:solidFill>
                            <a:srgbClr val="FFFFFF">
                              <a:alpha val="8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800" kern="0" spc="-30" dirty="0">
                          <a:solidFill>
                            <a:srgbClr val="FFFFFF">
                              <a:alpha val="8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  <a:r>
                        <a:rPr sz="800" kern="0" spc="40" dirty="0">
                          <a:solidFill>
                            <a:srgbClr val="FFFFFF">
                              <a:alpha val="8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FFFFFF">
                              <a:alpha val="8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800" kern="0" spc="70" dirty="0">
                          <a:solidFill>
                            <a:srgbClr val="FFFFFF">
                              <a:alpha val="8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FFFFFF">
                              <a:alpha val="8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800" kern="0" spc="60" dirty="0">
                          <a:solidFill>
                            <a:srgbClr val="FFFFFF">
                              <a:alpha val="8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FFFFFF">
                              <a:alpha val="8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ts val="3013"/>
                        </a:lnSpc>
                        <a:spcBef>
                          <a:spcPts val="949"/>
                        </a:spcBef>
                        <a:tabLst/>
                      </a:pPr>
                      <a:r>
                        <a:rPr sz="4000" b="1" kern="0" spc="-100" dirty="0">
                          <a:solidFill>
                            <a:srgbClr val="FFFFFF">
                              <a:alpha val="6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04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56870" algn="l" rtl="0" eaLnBrk="0">
                        <a:lnSpc>
                          <a:spcPct val="99000"/>
                        </a:lnSpc>
                        <a:spcBef>
                          <a:spcPts val="537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 H</a:t>
                      </a:r>
                      <a:r>
                        <a:rPr sz="900" kern="0" spc="3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2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10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  </a:t>
                      </a:r>
                      <a:r>
                        <a:rPr sz="900" kern="0" spc="-4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姿</a:t>
                      </a:r>
                      <a:r>
                        <a:rPr sz="900" kern="0" spc="-6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FFFFFF">
                              <a:alpha val="70196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态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61950" algn="l" rtl="0" eaLnBrk="0">
                        <a:lnSpc>
                          <a:spcPts val="2976"/>
                        </a:lnSpc>
                        <a:spcBef>
                          <a:spcPts val="1287"/>
                        </a:spcBef>
                        <a:tabLst/>
                      </a:pPr>
                      <a:r>
                        <a:rPr sz="24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最诚实、</a:t>
                      </a:r>
                      <a:r>
                        <a:rPr sz="2400" kern="0" spc="-5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4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最本分的</a:t>
                      </a:r>
                      <a:endParaRPr sz="2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63855" algn="l" rtl="0" eaLnBrk="0">
                        <a:lnSpc>
                          <a:spcPct val="85000"/>
                        </a:lnSpc>
                        <a:spcBef>
                          <a:spcPts val="287"/>
                        </a:spcBef>
                        <a:tabLst/>
                      </a:pPr>
                      <a:r>
                        <a:rPr sz="24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开源模型</a:t>
                      </a:r>
                      <a:endParaRPr sz="2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0680" indent="-3175" algn="l" rtl="0" eaLnBrk="0">
                        <a:lnSpc>
                          <a:spcPct val="12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承认局限、给出路线图、点名算力约束、不画大饼。这才是 </a:t>
                      </a:r>
                      <a:r>
                        <a:rPr sz="1200" kern="0" spc="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</a:t>
                      </a:r>
                      <a:r>
                        <a:rPr sz="1200" kern="0" spc="1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真正的护城河一在 </a:t>
                      </a:r>
                      <a:r>
                        <a:rPr sz="1200" kern="0" spc="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  <a:r>
                        <a:rPr sz="1200" kern="0" spc="1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营销噪音</a:t>
                      </a:r>
                      <a:r>
                        <a:rPr sz="1200" kern="0" spc="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        </a:t>
                      </a:r>
                      <a:r>
                        <a:rPr sz="1200" kern="0" spc="-3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里</a:t>
                      </a:r>
                      <a:r>
                        <a:rPr sz="1200" kern="0" spc="-13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FFFFFF">
                              <a:alpha val="85098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，诚实本身就是稀缺品。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6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60" name="table 2560"/>
          <p:cNvGraphicFramePr>
            <a:graphicFrameLocks noGrp="1"/>
          </p:cNvGraphicFramePr>
          <p:nvPr/>
        </p:nvGraphicFramePr>
        <p:xfrm>
          <a:off x="1143000" y="3429000"/>
          <a:ext cx="7848600" cy="2809875"/>
        </p:xfrm>
        <a:graphic>
          <a:graphicData uri="http://schemas.openxmlformats.org/drawingml/2006/table">
            <a:tbl>
              <a:tblPr/>
              <a:tblGrid>
                <a:gridCol w="7848600"/>
              </a:tblGrid>
              <a:tr h="2800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ts val="2703"/>
                        </a:lnSpc>
                        <a:tabLst/>
                      </a:pPr>
                      <a:r>
                        <a:rPr sz="4000" b="1" kern="0" spc="-10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01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56870" algn="l" rtl="0" eaLnBrk="0">
                        <a:lnSpc>
                          <a:spcPct val="99000"/>
                        </a:lnSpc>
                        <a:spcBef>
                          <a:spcPts val="847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 H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3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 </a:t>
                      </a:r>
                      <a:r>
                        <a:rPr sz="900" kern="0" spc="-5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惠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63855" algn="l" rtl="0" eaLnBrk="0">
                        <a:lnSpc>
                          <a:spcPts val="2913"/>
                        </a:lnSpc>
                        <a:spcBef>
                          <a:spcPts val="1287"/>
                        </a:spcBef>
                        <a:tabLst/>
                      </a:pPr>
                      <a:r>
                        <a:rPr sz="24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不是冲破天花板</a:t>
                      </a:r>
                      <a:endParaRPr sz="2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65125" algn="l" rtl="0" eaLnBrk="0">
                        <a:lnSpc>
                          <a:spcPts val="2912"/>
                        </a:lnSpc>
                        <a:tabLst/>
                      </a:pPr>
                      <a:r>
                        <a:rPr sz="24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是让普通人用上</a:t>
                      </a:r>
                      <a:r>
                        <a:rPr sz="2400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4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1M agent</a:t>
                      </a:r>
                      <a:endParaRPr sz="24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576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Flash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的 0.2 元缓存命中价 +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进入开发者工具链生态。普惠的兑现者是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Flash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，不是 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  <a:r>
                        <a:rPr sz="1200" kern="0" spc="-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62" name="table 2562"/>
          <p:cNvGraphicFramePr>
            <a:graphicFrameLocks noGrp="1"/>
          </p:cNvGraphicFramePr>
          <p:nvPr/>
        </p:nvGraphicFramePr>
        <p:xfrm>
          <a:off x="9296400" y="3429000"/>
          <a:ext cx="7848600" cy="2809875"/>
        </p:xfrm>
        <a:graphic>
          <a:graphicData uri="http://schemas.openxmlformats.org/drawingml/2006/table">
            <a:tbl>
              <a:tblPr/>
              <a:tblGrid>
                <a:gridCol w="7848600"/>
              </a:tblGrid>
              <a:tr h="2800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ts val="2703"/>
                        </a:lnSpc>
                        <a:tabLst/>
                      </a:pPr>
                      <a:r>
                        <a:rPr sz="4000" b="1" kern="0" spc="-90" dirty="0">
                          <a:solidFill>
                            <a:srgbClr val="4D6BFE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02</a:t>
                      </a:r>
                      <a:endParaRPr sz="40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marL="356870" algn="l" rtl="0" eaLnBrk="0">
                        <a:lnSpc>
                          <a:spcPct val="99000"/>
                        </a:lnSpc>
                        <a:spcBef>
                          <a:spcPts val="847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 H</a:t>
                      </a:r>
                      <a:r>
                        <a:rPr sz="900" kern="0" spc="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2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9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900" kern="0" spc="10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   </a:t>
                      </a:r>
                      <a:r>
                        <a:rPr sz="900" kern="0" spc="-4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 因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65760" algn="l" rtl="0" eaLnBrk="0">
                        <a:lnSpc>
                          <a:spcPts val="2975"/>
                        </a:lnSpc>
                        <a:spcBef>
                          <a:spcPts val="1287"/>
                        </a:spcBef>
                        <a:tabLst/>
                      </a:pPr>
                      <a:r>
                        <a:rPr sz="2400" b="1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竞赛选手团队的</a:t>
                      </a:r>
                      <a:endParaRPr sz="2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56870" algn="l" rtl="0" eaLnBrk="0">
                        <a:lnSpc>
                          <a:spcPct val="97000"/>
                        </a:lnSpc>
                        <a:spcBef>
                          <a:spcPts val="57"/>
                        </a:spcBef>
                        <a:tabLst/>
                      </a:pPr>
                      <a:r>
                        <a:rPr sz="2400" b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解题型模型</a:t>
                      </a:r>
                      <a:endParaRPr sz="2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8775" indent="6985" algn="l" rtl="0" eaLnBrk="0">
                        <a:lnSpc>
                          <a:spcPct val="12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招的大多是竞赛获奖选手</a:t>
                      </a:r>
                      <a:r>
                        <a:rPr sz="1200" kern="0" spc="-2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，模型也体现出明显的「做题J  特</a:t>
                      </a:r>
                      <a:r>
                        <a:rPr sz="1200" kern="0" spc="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点一数学、编程、有标准答案的任     </a:t>
                      </a:r>
                      <a:r>
                        <a:rPr sz="1200" kern="0" spc="-10" dirty="0">
                          <a:solidFill>
                            <a:srgbClr val="5A5A5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务都打得很好。</a:t>
                      </a:r>
                      <a:endParaRPr sz="12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64" name="textbox 2564"/>
          <p:cNvSpPr/>
          <p:nvPr/>
        </p:nvSpPr>
        <p:spPr>
          <a:xfrm>
            <a:off x="1130300" y="1479143"/>
            <a:ext cx="7427594" cy="1189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 H A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1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 点 四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诚 实 本 分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6696"/>
              </a:lnSpc>
              <a:spcBef>
                <a:spcPts val="1311"/>
              </a:spcBef>
              <a:tabLst/>
            </a:pPr>
            <a:r>
              <a:rPr sz="5400" b="1" kern="0" spc="-2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四个观点</a:t>
            </a:r>
            <a:r>
              <a:rPr sz="5400" kern="0" spc="-2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400" b="1" kern="0" spc="-2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5400" b="1" kern="0" spc="10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5500" b="1" i="1" kern="0" spc="-2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回到最后一个</a:t>
            </a:r>
            <a:endParaRPr sz="55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66" name="picture 25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sp>
        <p:nvSpPr>
          <p:cNvPr id="2568" name="textbox 2568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70" name="picture 25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grpSp>
        <p:nvGrpSpPr>
          <p:cNvPr id="158" name="group 158"/>
          <p:cNvGrpSpPr/>
          <p:nvPr/>
        </p:nvGrpSpPr>
        <p:grpSpPr>
          <a:xfrm rot="21600000">
            <a:off x="16573500" y="9544050"/>
            <a:ext cx="1143000" cy="248917"/>
            <a:chOff x="0" y="0"/>
            <a:chExt cx="1143000" cy="248917"/>
          </a:xfrm>
        </p:grpSpPr>
        <p:pic>
          <p:nvPicPr>
            <p:cNvPr id="2572" name="picture 257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43000" cy="238125"/>
            </a:xfrm>
            <a:prstGeom prst="rect">
              <a:avLst/>
            </a:prstGeom>
          </p:spPr>
        </p:pic>
        <p:sp>
          <p:nvSpPr>
            <p:cNvPr id="2574" name="textbox 2574"/>
            <p:cNvSpPr/>
            <p:nvPr/>
          </p:nvSpPr>
          <p:spPr>
            <a:xfrm>
              <a:off x="-12700" y="-12700"/>
              <a:ext cx="1168400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64770" algn="l" rtl="0" eaLnBrk="0">
                <a:lnSpc>
                  <a:spcPts val="1163"/>
                </a:lnSpc>
                <a:spcBef>
                  <a:spcPts val="6"/>
                </a:spcBef>
                <a:tabLst/>
              </a:pP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</a:t>
              </a:r>
              <a:r>
                <a:rPr sz="900" kern="0" spc="1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900" kern="0" spc="4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r>
                <a:rPr sz="900" kern="0" spc="-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30" dirty="0">
                  <a:solidFill>
                    <a:srgbClr val="99999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576" name="textbox 2576"/>
          <p:cNvSpPr/>
          <p:nvPr/>
        </p:nvSpPr>
        <p:spPr>
          <a:xfrm>
            <a:off x="1134510" y="9642069"/>
            <a:ext cx="192024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578" name="textbox 2578"/>
          <p:cNvSpPr/>
          <p:nvPr/>
        </p:nvSpPr>
        <p:spPr>
          <a:xfrm>
            <a:off x="16037458" y="517118"/>
            <a:ext cx="109791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69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四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观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点 闭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环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80" name="picture 25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textbox 2582"/>
          <p:cNvSpPr/>
          <p:nvPr/>
        </p:nvSpPr>
        <p:spPr>
          <a:xfrm>
            <a:off x="3406465" y="2383561"/>
            <a:ext cx="11252835" cy="3563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03750" algn="l" rtl="0" eaLnBrk="0">
              <a:lnSpc>
                <a:spcPct val="99000"/>
              </a:lnSpc>
              <a:tabLst>
                <a:tab pos="4797425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12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0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情 感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收 </a:t>
            </a:r>
            <a:r>
              <a:rPr sz="900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尾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spcBef>
                <a:spcPts val="2434"/>
              </a:spcBef>
              <a:tabLst/>
            </a:pPr>
            <a:r>
              <a:rPr sz="8100" kern="0" spc="3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不诱于誉 </a:t>
            </a:r>
            <a:r>
              <a:rPr sz="8100" kern="0" spc="3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8100" kern="0" spc="-16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100" kern="0" spc="3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不恐于诽</a:t>
            </a:r>
            <a:r>
              <a:rPr sz="8100" kern="0" spc="-12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100" kern="0" spc="-59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</a:t>
            </a:r>
            <a:endParaRPr sz="81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ts val="11775"/>
              </a:lnSpc>
              <a:tabLst/>
            </a:pPr>
            <a:r>
              <a:rPr sz="8100" kern="0" spc="3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率道而行 ，</a:t>
            </a:r>
            <a:r>
              <a:rPr sz="8100" kern="0" spc="-2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100" kern="0" spc="34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端然正己</a:t>
            </a:r>
            <a:r>
              <a:rPr sz="8100" kern="0" spc="-9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8100" kern="0" spc="-51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endParaRPr sz="81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84" name="picture 25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74709" y="2457450"/>
            <a:ext cx="457200" cy="9525"/>
          </a:xfrm>
          <a:prstGeom prst="rect">
            <a:avLst/>
          </a:prstGeom>
        </p:spPr>
      </p:pic>
      <p:pic>
        <p:nvPicPr>
          <p:cNvPr id="2586" name="picture 25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53325" y="2457450"/>
            <a:ext cx="457200" cy="9525"/>
          </a:xfrm>
          <a:prstGeom prst="rect">
            <a:avLst/>
          </a:prstGeom>
        </p:spPr>
      </p:pic>
      <p:sp>
        <p:nvSpPr>
          <p:cNvPr id="2588" name="textbox 2588"/>
          <p:cNvSpPr/>
          <p:nvPr/>
        </p:nvSpPr>
        <p:spPr>
          <a:xfrm>
            <a:off x="1134186" y="9641611"/>
            <a:ext cx="16007714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8"/>
              </a:lnSpc>
              <a:tabLst/>
            </a:pPr>
            <a:r>
              <a:rPr sz="900" kern="0" spc="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1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2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4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4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4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29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CHAPTER  1</a:t>
            </a:r>
            <a:r>
              <a:rPr sz="900" kern="0" spc="4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7</a:t>
            </a:r>
            <a:r>
              <a:rPr sz="900" kern="0" spc="-8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/  7</a:t>
            </a:r>
            <a:r>
              <a:rPr sz="900" kern="0" spc="-5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590" name="textbox 2590"/>
          <p:cNvSpPr/>
          <p:nvPr/>
        </p:nvSpPr>
        <p:spPr>
          <a:xfrm>
            <a:off x="7293440" y="7323074"/>
            <a:ext cx="3723005" cy="558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28345" algn="l" rtl="0" eaLnBrk="0">
              <a:lnSpc>
                <a:spcPct val="86000"/>
              </a:lnSpc>
              <a:tabLst/>
            </a:pPr>
            <a:r>
              <a:rPr sz="1500" i="1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出</a:t>
            </a:r>
            <a:r>
              <a:rPr sz="1500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i="1" kern="0" spc="-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自</a:t>
            </a:r>
            <a:r>
              <a:rPr sz="1500" kern="0" spc="2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《荀子</a:t>
            </a:r>
            <a:r>
              <a:rPr sz="1500" kern="0" spc="2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-4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1500" kern="0" spc="2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kern="0" spc="-4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非十二子》</a:t>
            </a:r>
            <a:endParaRPr sz="15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65"/>
              </a:lnSpc>
              <a:tabLst/>
            </a:pPr>
            <a:r>
              <a:rPr sz="1500" i="1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被</a:t>
            </a:r>
            <a:r>
              <a:rPr sz="15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</a:t>
            </a:r>
            <a:r>
              <a:rPr sz="1500" kern="0" spc="9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 </a:t>
            </a:r>
            <a:r>
              <a:rPr sz="1500" i="1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写在</a:t>
            </a:r>
            <a:r>
              <a:rPr sz="1500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i="1" kern="0" spc="9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V4  </a:t>
            </a:r>
            <a:r>
              <a:rPr sz="1500" i="1" kern="0" spc="9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官方发布文的结尾</a:t>
            </a:r>
            <a:endParaRPr sz="15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592" name="textbox 2592"/>
          <p:cNvSpPr/>
          <p:nvPr/>
        </p:nvSpPr>
        <p:spPr>
          <a:xfrm>
            <a:off x="2283472" y="507136"/>
            <a:ext cx="203644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73"/>
              </a:lnSpc>
              <a:tabLst/>
            </a:pPr>
            <a:r>
              <a:rPr sz="800" kern="0" spc="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800" kern="0" spc="1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5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5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800" kern="0" spc="1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5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6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5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800" kern="0" spc="-6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-4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   ·</a:t>
            </a:r>
            <a:r>
              <a:rPr sz="800" kern="0" spc="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0" dirty="0">
                <a:solidFill>
                  <a:srgbClr val="BBBBB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8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94" name="picture 25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990600" cy="209550"/>
          </a:xfrm>
          <a:prstGeom prst="rect">
            <a:avLst/>
          </a:prstGeom>
        </p:spPr>
      </p:pic>
      <p:sp>
        <p:nvSpPr>
          <p:cNvPr id="2596" name="textbox 2596"/>
          <p:cNvSpPr/>
          <p:nvPr/>
        </p:nvSpPr>
        <p:spPr>
          <a:xfrm>
            <a:off x="16531349" y="507136"/>
            <a:ext cx="60579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-5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2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900" kern="0" spc="7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5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50" dirty="0">
                <a:solidFill>
                  <a:srgbClr val="CCCCCC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金 句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98" name="picture 25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63000" y="6896100"/>
            <a:ext cx="76200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textbox 2600"/>
          <p:cNvSpPr/>
          <p:nvPr/>
        </p:nvSpPr>
        <p:spPr>
          <a:xfrm>
            <a:off x="1130300" y="2498318"/>
            <a:ext cx="14267180" cy="567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1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· 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收 尾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 句话 定 位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625" algn="l" rtl="0" eaLnBrk="0">
              <a:lnSpc>
                <a:spcPts val="8262"/>
              </a:lnSpc>
              <a:spcBef>
                <a:spcPts val="1802"/>
              </a:spcBef>
              <a:tabLst/>
            </a:pPr>
            <a:r>
              <a:rPr sz="6000" kern="0" spc="-16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DeepSeek-V4 </a:t>
            </a:r>
            <a:r>
              <a:rPr sz="6000" kern="0" spc="-1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是</a:t>
            </a:r>
            <a:endParaRPr sz="60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spcBef>
                <a:spcPts val="307"/>
              </a:spcBef>
              <a:tabLst>
                <a:tab pos="1155700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1A1A1A"/>
                  </a:solidFill>
                </a:u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2225" indent="1270" algn="l" rtl="0" eaLnBrk="0">
              <a:lnSpc>
                <a:spcPct val="126000"/>
              </a:lnSpc>
              <a:spcBef>
                <a:spcPts val="3"/>
              </a:spcBef>
              <a:tabLst/>
            </a:pPr>
            <a:r>
              <a:rPr sz="19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不是世界最佳，不必是。</a:t>
            </a:r>
            <a:r>
              <a:rPr sz="1900" kern="0" spc="-46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kern="0" spc="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它做的事更重要一</a:t>
            </a:r>
            <a:r>
              <a:rPr sz="19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把百万上下文</a:t>
            </a:r>
            <a:r>
              <a:rPr sz="1900" kern="0" spc="-35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9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</a:t>
            </a:r>
            <a:r>
              <a:rPr sz="19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原生支持、</a:t>
            </a:r>
            <a:r>
              <a:rPr sz="1900" kern="0" spc="-5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开发者工具链生态，打包成独立开发者也能用得起的</a:t>
            </a:r>
            <a:r>
              <a:rPr sz="1900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底座</a:t>
            </a:r>
            <a:r>
              <a:rPr sz="19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。地板抬高的速度，</a:t>
            </a:r>
            <a:r>
              <a:rPr sz="1900" kern="0" spc="-5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决定了</a:t>
            </a:r>
            <a:r>
              <a:rPr sz="1900" kern="0" spc="-18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900" kern="0" spc="3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应用</a:t>
            </a:r>
            <a:r>
              <a:rPr sz="19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爆发的规模。</a:t>
            </a:r>
            <a:endParaRPr sz="1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602" name="picture 26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2571750"/>
            <a:ext cx="342900" cy="19050"/>
          </a:xfrm>
          <a:prstGeom prst="rect">
            <a:avLst/>
          </a:prstGeom>
        </p:spPr>
      </p:pic>
      <p:sp>
        <p:nvSpPr>
          <p:cNvPr id="2604" name="textbox 2604"/>
          <p:cNvSpPr/>
          <p:nvPr/>
        </p:nvSpPr>
        <p:spPr>
          <a:xfrm>
            <a:off x="1162989" y="4146448"/>
            <a:ext cx="7779385" cy="2397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5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7800" b="1" kern="0" spc="-3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</a:t>
            </a:r>
            <a:r>
              <a:rPr sz="8000" b="1" i="1" kern="0" spc="-3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诚实</a:t>
            </a:r>
            <a:r>
              <a:rPr sz="7800" b="1" kern="0" spc="-3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7800" kern="0" spc="-21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7800" b="1" kern="0" spc="-3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</a:t>
            </a:r>
            <a:r>
              <a:rPr sz="8000" b="1" i="1" kern="0" spc="-3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本分</a:t>
            </a:r>
            <a:r>
              <a:rPr sz="7800" b="1" kern="0" spc="-3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7800" b="1" kern="0" spc="-20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开源旗舰。</a:t>
            </a:r>
            <a:endParaRPr sz="78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606" name="picture 26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2608" name="textbox 2608"/>
          <p:cNvSpPr/>
          <p:nvPr/>
        </p:nvSpPr>
        <p:spPr>
          <a:xfrm>
            <a:off x="1134510" y="9632544"/>
            <a:ext cx="16006445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38"/>
              </a:lnSpc>
              <a:tabLst/>
            </a:pP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8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610" name="textbox 2610"/>
          <p:cNvSpPr/>
          <p:nvPr/>
        </p:nvSpPr>
        <p:spPr>
          <a:xfrm>
            <a:off x="1140072" y="8723173"/>
            <a:ext cx="767143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73"/>
              </a:lnSpc>
              <a:tabLst/>
            </a:pPr>
            <a:r>
              <a:rPr sz="1300" b="1" kern="0" spc="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1M</a:t>
            </a:r>
            <a:r>
              <a:rPr sz="1300" b="1" kern="0" spc="9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300" i="1" kern="0" spc="1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1300" i="1" kern="0" spc="20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300" i="1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上下文普惠</a:t>
            </a:r>
            <a:r>
              <a:rPr sz="13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</a:t>
            </a:r>
            <a:r>
              <a:rPr sz="1300" b="1" kern="0" spc="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$0.14</a:t>
            </a:r>
            <a:r>
              <a:rPr sz="1300" b="1" kern="0" spc="1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300" i="1" kern="0" spc="1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13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Flash</a:t>
            </a:r>
            <a:r>
              <a:rPr sz="1300" i="1" kern="0" spc="15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300" i="1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输入未缓存</a:t>
            </a:r>
            <a:r>
              <a:rPr sz="13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</a:t>
            </a:r>
            <a:r>
              <a:rPr sz="1300" b="1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昇腾</a:t>
            </a:r>
            <a:r>
              <a:rPr sz="1300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b="1" kern="0" spc="1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950</a:t>
            </a:r>
            <a:r>
              <a:rPr sz="1300" b="1" kern="0" spc="10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300" i="1" kern="0" spc="1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 </a:t>
            </a:r>
            <a:r>
              <a:rPr sz="1300" i="1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下半年降价</a:t>
            </a:r>
            <a:r>
              <a:rPr sz="1300" kern="0" spc="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</a:t>
            </a:r>
            <a:r>
              <a:rPr sz="1300" b="1" kern="0" spc="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</a:t>
            </a:r>
            <a:r>
              <a:rPr sz="1300" b="1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诱于誉</a:t>
            </a:r>
            <a:r>
              <a:rPr sz="1300" kern="0" spc="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00" i="1" kern="0" spc="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</a:t>
            </a:r>
            <a:r>
              <a:rPr sz="1300" i="1" kern="0" spc="190" dirty="0">
                <a:solidFill>
                  <a:srgbClr val="5A5A5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300" i="1" kern="0" spc="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官方姿态</a:t>
            </a:r>
            <a:endParaRPr sz="13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612" name="textbox 2612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614" name="picture 26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2616" name="picture 26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pic>
        <p:nvPicPr>
          <p:cNvPr id="2618" name="picture 26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8458200"/>
            <a:ext cx="16002000" cy="9525"/>
          </a:xfrm>
          <a:prstGeom prst="rect">
            <a:avLst/>
          </a:prstGeom>
        </p:spPr>
      </p:pic>
      <p:sp>
        <p:nvSpPr>
          <p:cNvPr id="2620" name="textbox 2620"/>
          <p:cNvSpPr/>
          <p:nvPr/>
        </p:nvSpPr>
        <p:spPr>
          <a:xfrm>
            <a:off x="16211367" y="517118"/>
            <a:ext cx="92392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71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整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体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定</a:t>
            </a:r>
            <a:r>
              <a:rPr sz="900" kern="0" spc="-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位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2" name="textbox 2622"/>
          <p:cNvSpPr/>
          <p:nvPr/>
        </p:nvSpPr>
        <p:spPr>
          <a:xfrm>
            <a:off x="1130300" y="1479143"/>
            <a:ext cx="8993505" cy="1642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ts val="1163"/>
              </a:lnSpc>
              <a:tabLst>
                <a:tab pos="476250" algn="l"/>
              </a:tabLst>
            </a:pP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H A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P T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  1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鸣 谢</a:t>
            </a:r>
            <a:r>
              <a:rPr sz="900" kern="0" spc="1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信 息 来 源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ct val="86000"/>
              </a:lnSpc>
              <a:spcBef>
                <a:spcPts val="2108"/>
              </a:spcBef>
              <a:tabLst/>
            </a:pPr>
            <a:r>
              <a:rPr sz="5700" b="1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感谢你读到这里</a:t>
            </a:r>
            <a:r>
              <a:rPr sz="5700" kern="0" spc="-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5700" b="1" i="1" kern="0" spc="-6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—— 72/</a:t>
            </a:r>
            <a:r>
              <a:rPr sz="5700" b="1" i="1" kern="0" spc="-33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5700" b="1" i="1" kern="0" spc="-70" dirty="0">
                <a:solidFill>
                  <a:srgbClr val="4D6BFE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72</a:t>
            </a:r>
            <a:endParaRPr sz="57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5" algn="l" rtl="0" eaLnBrk="0">
              <a:lnSpc>
                <a:spcPts val="1968"/>
              </a:lnSpc>
              <a:tabLst/>
            </a:pP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本次深度解读主要基于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DeepSeek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-V4 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</a:t>
            </a:r>
            <a:r>
              <a:rPr sz="1600" kern="0" spc="-24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600" kern="0" spc="-3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官方发布文与花生在开源</a:t>
            </a:r>
            <a:r>
              <a:rPr sz="1600" kern="0" spc="-10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生态里的实战经验。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624" name="picture 26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000" y="1552575"/>
            <a:ext cx="342900" cy="19050"/>
          </a:xfrm>
          <a:prstGeom prst="rect">
            <a:avLst/>
          </a:prstGeom>
        </p:spPr>
      </p:pic>
      <p:graphicFrame>
        <p:nvGraphicFramePr>
          <p:cNvPr id="2626" name="table 2626"/>
          <p:cNvGraphicFramePr>
            <a:graphicFrameLocks noGrp="1"/>
          </p:cNvGraphicFramePr>
          <p:nvPr/>
        </p:nvGraphicFramePr>
        <p:xfrm>
          <a:off x="1143000" y="4371975"/>
          <a:ext cx="4953000" cy="1762125"/>
        </p:xfrm>
        <a:graphic>
          <a:graphicData uri="http://schemas.openxmlformats.org/drawingml/2006/table">
            <a:tbl>
              <a:tblPr/>
              <a:tblGrid>
                <a:gridCol w="4953000"/>
              </a:tblGrid>
              <a:tr h="9855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DeepSeek</a:t>
                      </a:r>
                      <a:r>
                        <a:rPr sz="1400" b="1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-V4 </a:t>
                      </a: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Technical</a:t>
                      </a:r>
                      <a:r>
                        <a:rPr sz="1400" b="1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Report</a:t>
                      </a:r>
                      <a:endParaRPr sz="14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" algn="l" rtl="0" eaLnBrk="0">
                        <a:lnSpc>
                          <a:spcPts val="1163"/>
                        </a:lnSpc>
                        <a:tabLst/>
                      </a:pP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  <a:r>
                        <a:rPr sz="900" kern="0" spc="1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页论文</a:t>
                      </a:r>
                      <a:r>
                        <a:rPr sz="900" kern="0" spc="-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，</a:t>
                      </a:r>
                      <a:r>
                        <a:rPr sz="900" kern="0" spc="-1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Section</a:t>
                      </a:r>
                      <a:r>
                        <a:rPr sz="900" kern="0" spc="1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1–6</a:t>
                      </a:r>
                      <a:r>
                        <a:rPr sz="900" kern="0" spc="1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900" kern="0" spc="1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900" kern="0" spc="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ppendix</a:t>
                      </a:r>
                      <a:r>
                        <a:rPr sz="900" kern="0" spc="21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2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2026-04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6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ts val="1767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官方发布文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ts val="1163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DeepSeek</a:t>
                      </a:r>
                      <a:r>
                        <a:rPr sz="900" kern="0" spc="25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官方公众号 </a:t>
                      </a:r>
                      <a:r>
                        <a:rPr sz="900" kern="0" spc="1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900" kern="0" spc="2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2026-04-24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628" name="table 2628"/>
          <p:cNvGraphicFramePr>
            <a:graphicFrameLocks noGrp="1"/>
          </p:cNvGraphicFramePr>
          <p:nvPr/>
        </p:nvGraphicFramePr>
        <p:xfrm>
          <a:off x="6667500" y="4371975"/>
          <a:ext cx="4953000" cy="1762125"/>
        </p:xfrm>
        <a:graphic>
          <a:graphicData uri="http://schemas.openxmlformats.org/drawingml/2006/table">
            <a:tbl>
              <a:tblPr/>
              <a:tblGrid>
                <a:gridCol w="4953000"/>
              </a:tblGrid>
              <a:tr h="9855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" algn="l" rtl="0" eaLnBrk="0">
                        <a:lnSpc>
                          <a:spcPts val="1767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DeepSeek</a:t>
                      </a:r>
                      <a:r>
                        <a:rPr sz="14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-V3.2 </a:t>
                      </a:r>
                      <a:r>
                        <a:rPr sz="14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实测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ts val="116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混合</a:t>
                      </a:r>
                      <a:r>
                        <a:rPr sz="900" kern="0" spc="1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attention</a:t>
                      </a:r>
                      <a:r>
                        <a:rPr sz="900" kern="0" spc="1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初探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6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" algn="l" rtl="0" eaLnBrk="0">
                        <a:lnSpc>
                          <a:spcPts val="1767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Claude</a:t>
                      </a:r>
                      <a:r>
                        <a:rPr sz="14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Code</a:t>
                      </a:r>
                      <a:r>
                        <a:rPr sz="14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4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橙皮书</a:t>
                      </a:r>
                      <a:endParaRPr sz="14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" algn="l" rtl="0" eaLnBrk="0">
                        <a:lnSpc>
                          <a:spcPts val="1163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  <a:r>
                        <a:rPr sz="900" kern="0" spc="1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9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工具链生态实战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630" name="table 2630"/>
          <p:cNvGraphicFramePr>
            <a:graphicFrameLocks noGrp="1"/>
          </p:cNvGraphicFramePr>
          <p:nvPr/>
        </p:nvGraphicFramePr>
        <p:xfrm>
          <a:off x="12192000" y="4371975"/>
          <a:ext cx="4953000" cy="1762125"/>
        </p:xfrm>
        <a:graphic>
          <a:graphicData uri="http://schemas.openxmlformats.org/drawingml/2006/table">
            <a:tbl>
              <a:tblPr/>
              <a:tblGrid>
                <a:gridCol w="4953000"/>
              </a:tblGrid>
              <a:tr h="9855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huashu</a:t>
                      </a:r>
                      <a:r>
                        <a:rPr sz="1400" b="1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-</a:t>
                      </a: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design</a:t>
                      </a:r>
                      <a:r>
                        <a:rPr sz="1400" b="1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skill</a:t>
                      </a:r>
                      <a:endParaRPr sz="14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HTML</a:t>
                      </a:r>
                      <a:r>
                        <a:rPr sz="900" kern="0" spc="23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高保真</a:t>
                      </a:r>
                      <a:r>
                        <a:rPr sz="900" kern="0" spc="17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PPT</a:t>
                      </a:r>
                      <a:r>
                        <a:rPr sz="900" kern="0" spc="18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6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设计工作流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6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Claude</a:t>
                      </a:r>
                      <a:r>
                        <a:rPr sz="14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Opus</a:t>
                      </a:r>
                      <a:r>
                        <a:rPr sz="1400" b="1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 4.7</a:t>
                      </a:r>
                      <a:endParaRPr sz="1400" dirty="0">
                        <a:latin typeface="Georgia"/>
                        <a:ea typeface="Georgia"/>
                        <a:cs typeface="Georgia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100" dirty="0">
                          <a:solidFill>
                            <a:srgbClr val="999999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内容解读与撰稿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32" name="textbox 2632"/>
          <p:cNvSpPr/>
          <p:nvPr/>
        </p:nvSpPr>
        <p:spPr>
          <a:xfrm>
            <a:off x="1141444" y="8440547"/>
            <a:ext cx="16000730" cy="488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200" b="1" kern="0" spc="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花叔</a:t>
            </a:r>
            <a:r>
              <a:rPr sz="2200" kern="0" spc="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200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· </a:t>
            </a:r>
            <a:r>
              <a:rPr sz="22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AI</a:t>
            </a:r>
            <a:r>
              <a:rPr sz="2200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2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Native</a:t>
            </a:r>
            <a:r>
              <a:rPr sz="2200" kern="0" spc="7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2200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Coder                                                                                                                                                              </a:t>
            </a:r>
            <a:r>
              <a:rPr sz="1000" kern="0" spc="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公众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号</a:t>
            </a:r>
            <a:r>
              <a:rPr sz="1000" kern="0" spc="32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B</a:t>
            </a:r>
            <a:r>
              <a:rPr sz="1000" kern="0" spc="-12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站</a:t>
            </a:r>
            <a:r>
              <a:rPr sz="1000" kern="0" spc="27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000" kern="0" spc="2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X  ·</a:t>
            </a:r>
            <a:r>
              <a:rPr sz="1000" kern="0" spc="27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YouTube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·</a:t>
            </a:r>
            <a:r>
              <a:rPr sz="1000" kern="0" spc="250" dirty="0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小红书</a:t>
            </a:r>
            <a:endParaRPr sz="10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481328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0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全平台搜</a:t>
            </a:r>
            <a:r>
              <a:rPr sz="1000" kern="0" spc="-17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00" kern="0" spc="11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「花叔J</a:t>
            </a:r>
            <a:endParaRPr sz="10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634" name="textbox 2634"/>
          <p:cNvSpPr/>
          <p:nvPr/>
        </p:nvSpPr>
        <p:spPr>
          <a:xfrm>
            <a:off x="6661134" y="6287392"/>
            <a:ext cx="1726565" cy="489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OpenClaw</a:t>
            </a:r>
            <a:r>
              <a:rPr sz="1400" b="1" kern="0" spc="3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400" b="1" kern="0" spc="3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系列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1163"/>
              </a:lnSpc>
              <a:spcBef>
                <a:spcPts val="4"/>
              </a:spcBef>
              <a:tabLst/>
            </a:pP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开源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coding</a:t>
            </a:r>
            <a:r>
              <a:rPr sz="900" kern="0" spc="17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gent</a:t>
            </a:r>
            <a:r>
              <a:rPr sz="900" kern="0" spc="2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实战笔记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636" name="textbox 2636"/>
          <p:cNvSpPr/>
          <p:nvPr/>
        </p:nvSpPr>
        <p:spPr>
          <a:xfrm>
            <a:off x="1134262" y="6256807"/>
            <a:ext cx="1527175" cy="520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767"/>
              </a:lnSpc>
              <a:tabLst/>
            </a:pPr>
            <a:r>
              <a:rPr sz="1400" b="1" kern="0" spc="-10" dirty="0">
                <a:solidFill>
                  <a:srgbClr val="1A1A1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官方价格表</a:t>
            </a:r>
            <a:endParaRPr sz="14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spcBef>
                <a:spcPts val="4"/>
              </a:spcBef>
              <a:tabLst/>
            </a:pP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含昇腾</a:t>
            </a:r>
            <a:r>
              <a:rPr sz="900" kern="0" spc="14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950</a:t>
            </a:r>
            <a:r>
              <a:rPr sz="900" kern="0" spc="2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降价预告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原文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638" name="textbox 2638"/>
          <p:cNvSpPr/>
          <p:nvPr/>
        </p:nvSpPr>
        <p:spPr>
          <a:xfrm>
            <a:off x="12184500" y="6287392"/>
            <a:ext cx="1640204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4000"/>
              </a:lnSpc>
              <a:tabLst/>
            </a:pPr>
            <a:r>
              <a:rPr sz="14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DeepSeek</a:t>
            </a:r>
            <a:r>
              <a:rPr sz="1400" b="1" kern="0" spc="-8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4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V</a:t>
            </a:r>
            <a:r>
              <a:rPr sz="1400" b="1" kern="0" spc="10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4-</a:t>
            </a:r>
            <a:r>
              <a:rPr sz="1400" b="1" kern="0" spc="0" dirty="0">
                <a:solidFill>
                  <a:srgbClr val="1A1A1A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Pro</a:t>
            </a:r>
            <a:endParaRPr sz="14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900" kern="0" spc="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论文交叉验证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640" name="textbox 2640"/>
          <p:cNvSpPr/>
          <p:nvPr/>
        </p:nvSpPr>
        <p:spPr>
          <a:xfrm>
            <a:off x="2464402" y="517118"/>
            <a:ext cx="219329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D E 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900" kern="0" spc="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4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900" kern="0" spc="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900" kern="0" spc="-8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900" kern="0" spc="-5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V 4</a:t>
            </a:r>
            <a:r>
              <a:rPr sz="900" kern="0" spc="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900" kern="0" spc="-20" dirty="0">
                <a:solidFill>
                  <a:srgbClr val="5A5A5A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 术 深 度 解 读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642" name="picture 26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000" y="8105775"/>
            <a:ext cx="16002000" cy="19050"/>
          </a:xfrm>
          <a:prstGeom prst="rect">
            <a:avLst/>
          </a:prstGeom>
        </p:spPr>
      </p:pic>
      <p:pic>
        <p:nvPicPr>
          <p:cNvPr id="2644" name="picture 26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476250"/>
            <a:ext cx="1171575" cy="247650"/>
          </a:xfrm>
          <a:prstGeom prst="rect">
            <a:avLst/>
          </a:prstGeom>
        </p:spPr>
      </p:pic>
      <p:pic>
        <p:nvPicPr>
          <p:cNvPr id="2646" name="picture 26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573500" y="9544050"/>
            <a:ext cx="1143000" cy="238125"/>
          </a:xfrm>
          <a:prstGeom prst="rect">
            <a:avLst/>
          </a:prstGeom>
        </p:spPr>
      </p:pic>
      <p:sp>
        <p:nvSpPr>
          <p:cNvPr id="2648" name="textbox 2648"/>
          <p:cNvSpPr/>
          <p:nvPr/>
        </p:nvSpPr>
        <p:spPr>
          <a:xfrm>
            <a:off x="1135329" y="4098061"/>
            <a:ext cx="147129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 手 资 料</a:t>
            </a:r>
            <a:r>
              <a:rPr sz="900" kern="0" spc="7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P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900" kern="0" spc="5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M A</a:t>
            </a:r>
            <a:r>
              <a:rPr sz="900" kern="0" spc="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R Y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650" name="textbox 2650"/>
          <p:cNvSpPr/>
          <p:nvPr/>
        </p:nvSpPr>
        <p:spPr>
          <a:xfrm>
            <a:off x="16028457" y="517118"/>
            <a:ext cx="110744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7 2</a:t>
            </a:r>
            <a:r>
              <a:rPr sz="900" kern="0" spc="9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 n d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10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鸣</a:t>
            </a:r>
            <a:r>
              <a:rPr sz="900" kern="0" spc="-8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谢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2652" name="textbox 2652"/>
          <p:cNvSpPr/>
          <p:nvPr/>
        </p:nvSpPr>
        <p:spPr>
          <a:xfrm>
            <a:off x="6659486" y="4111663"/>
            <a:ext cx="1501140" cy="142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花 生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旧</a:t>
            </a:r>
            <a:r>
              <a:rPr sz="900" kern="0" spc="-5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文</a:t>
            </a:r>
            <a:r>
              <a:rPr sz="900" kern="0" spc="8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B A C K</a:t>
            </a:r>
            <a:r>
              <a:rPr sz="900" kern="0" spc="6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L O</a:t>
            </a:r>
            <a:r>
              <a:rPr sz="900" kern="0" spc="1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D6BFE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654" name="picture 26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3000" y="914400"/>
            <a:ext cx="16002000" cy="9525"/>
          </a:xfrm>
          <a:prstGeom prst="rect">
            <a:avLst/>
          </a:prstGeom>
        </p:spPr>
      </p:pic>
      <p:sp>
        <p:nvSpPr>
          <p:cNvPr id="2656" name="textbox 2656"/>
          <p:cNvSpPr/>
          <p:nvPr/>
        </p:nvSpPr>
        <p:spPr>
          <a:xfrm>
            <a:off x="1134510" y="9657175"/>
            <a:ext cx="131318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技</a:t>
            </a:r>
            <a:r>
              <a:rPr sz="900" kern="0" spc="-9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术</a:t>
            </a:r>
            <a:r>
              <a:rPr sz="900" kern="0" spc="-1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深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度</a:t>
            </a:r>
            <a:r>
              <a:rPr sz="900" kern="0" spc="-12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解</a:t>
            </a:r>
            <a:r>
              <a:rPr sz="900" kern="0" spc="-13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读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6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658" name="textbox 2658"/>
          <p:cNvSpPr/>
          <p:nvPr/>
        </p:nvSpPr>
        <p:spPr>
          <a:xfrm>
            <a:off x="16623919" y="9632544"/>
            <a:ext cx="517525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3"/>
              </a:lnSpc>
              <a:tabLst/>
            </a:pP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/</a:t>
            </a:r>
            <a:r>
              <a:rPr sz="900" kern="0" spc="4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9999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660" name="textbox 2660"/>
          <p:cNvSpPr/>
          <p:nvPr/>
        </p:nvSpPr>
        <p:spPr>
          <a:xfrm>
            <a:off x="12185244" y="4111777"/>
            <a:ext cx="701040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-10" dirty="0">
                <a:solidFill>
                  <a:srgbClr val="4D6BFE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工 具 与制 作</a:t>
            </a:r>
            <a:endParaRPr sz="9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pdf-lib (https://github.com/Hopding/pdf-lib)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2026-05-12T09:11:25Z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2026-05-13T09:41:39</vt:filetime>
  </property>
</Properties>
</file>